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SALON &amp; SPA APPOINTMENT</a:t>
            </a:r>
            <a:br/>
            <a:r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9D6D6"/>
                </a:solidFill>
                <a:latin typeface="Aptos"/>
              </a:defRPr>
            </a:pPr>
            <a:r>
              <a:t>REVIEW 2  |  NORMALIZATION • DATABASE IMPLEMENTATION •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5943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Devyani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Roll No.: 25WU0102069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B.Tech CSE – AIML  •  Rhinos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Woxsen University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4617720"/>
            <a:ext cx="2514600" cy="658368"/>
          </a:xfrm>
          <a:prstGeom prst="round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DATABASE PROJECT • REVIEW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Review 2 — What Has Been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55448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7E1E6"/>
                </a:solidFill>
                <a:latin typeface="Aptos"/>
              </a:defRPr>
            </a:pPr>
            <a:r>
              <a:t>Milestone: Week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0584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005840"/>
            <a:ext cx="73152" cy="205740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143000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1  •  Normalized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581912"/>
            <a:ext cx="310896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All core entities decomposed to 3NF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Primary/foreign keys identified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Functional dependencies documented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Data dictionary prepared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0584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005840"/>
            <a:ext cx="73152" cy="205740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143000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2  •  Integrity &amp; DDL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581912"/>
            <a:ext cx="310896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PK, FK, UNIQUE, NOT NULL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CHECK + DEFAULT constraints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Appointment conflict validation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Skill, package and payment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00584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005840"/>
            <a:ext cx="73152" cy="205740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143000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3  •  SQL &amp;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581912"/>
            <a:ext cx="310896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Sample records populated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Joins, subqueries &amp; aggregates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Views for business reports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Prototype-ready database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10972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73152" cy="224028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566160"/>
            <a:ext cx="10652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Business Rules Enforced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005072"/>
            <a:ext cx="1060704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• A staff member cannot have overlapping appointments.</a:t>
            </a:r>
          </a:p>
          <a:p>
            <a:pPr>
              <a:spcAft>
                <a:spcPts val="5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• Assigned staff must possess the required service skill.</a:t>
            </a:r>
          </a:p>
          <a:p>
            <a:pPr>
              <a:spcAft>
                <a:spcPts val="5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• Appointment must fall inside working/scheduled hours.</a:t>
            </a:r>
          </a:p>
          <a:p>
            <a:pPr>
              <a:spcAft>
                <a:spcPts val="5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• Package sessions cannot be consumed beyond remaining balance.</a:t>
            </a:r>
          </a:p>
          <a:p>
            <a:pPr>
              <a:spcAft>
                <a:spcPts val="5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• Payment cannot exceed the bill amount; bill total must remain non-negative.</a:t>
            </a:r>
          </a:p>
          <a:p>
            <a:pPr>
              <a:spcAft>
                <a:spcPts val="5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• Customer, staff, service and appointment records use referential integrity.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Final Relational Schema — 3NF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55448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7E1E6"/>
                </a:solidFill>
                <a:latin typeface="Aptos"/>
              </a:defRPr>
            </a:pPr>
            <a:r>
              <a:t>Core entities &amp; relationships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960120"/>
          <a:ext cx="112014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7360920"/>
              </a:tblGrid>
              <a:tr h="35966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Primary Key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Important Foreign Keys / Purpose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customer_id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—  Customer registration &amp; contact details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category_id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—  Service grouping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Service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service_id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category_id → Category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—  Employee / therapist / stylist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Skill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skill_id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—  Skill master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StaffSkill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staff_id + skill_id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staff_id, skill_id → bridge for M:N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StaffSchedule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schedule_id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staff_id → working day/time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Appointment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appointment_id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customer_id, service_id, staff_id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Package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package_id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—  Package definition &amp; session limit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Membership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membership_id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customer_id, package_id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Product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product_id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—  Product inventory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ProductUsage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usage_id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appointment_id, product_id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Bill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bill_id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appointment_id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Payment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payment_id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bill_id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5683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Review 2  •  Devyani  •  25WU0102069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Normalization to Third Normal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55448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7E1E6"/>
                </a:solidFill>
                <a:latin typeface="Aptos"/>
              </a:defRPr>
            </a:pPr>
            <a:r>
              <a:t>From repeating data → clean relational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960120"/>
            <a:ext cx="73152" cy="452628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097280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1NF — Atomic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310896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  <a:r>
              <a:t>Each field stores one value.</a:t>
            </a: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  <a:r>
              <a:t>✓ Customer phone is a single attribute</a:t>
            </a: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  <a:r>
              <a:t>✓ Appointment has one service</a:t>
            </a: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  <a:r>
              <a:t>✓ Product usage is one product per usage row</a:t>
            </a: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  <a:r>
              <a:t>Repeating groups are separated into their own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96012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960120"/>
            <a:ext cx="73152" cy="452628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097280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2NF — No Partial Dependency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536192"/>
            <a:ext cx="310896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  <a:r>
              <a:t>Composite-key tables contain attributes dependent on the complete key.</a:t>
            </a: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  <a:r>
              <a:t>Example:</a:t>
            </a: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  <a:r>
              <a:t>StaffSkill(staff_id, skill_id)</a:t>
            </a: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  <a:r>
              <a:t>No descriptive attribute depends only on staff_id or only on skill_id.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96012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960120"/>
            <a:ext cx="73152" cy="452628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097280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3NF — No Transitive 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536192"/>
            <a:ext cx="310896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  <a:r>
              <a:t>Non-key attributes depend only on the key.</a:t>
            </a: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  <a:r>
              <a:t>Example:</a:t>
            </a: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  <a:r>
              <a:t>Service stores category_id, not category_name.</a:t>
            </a: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50">
                <a:solidFill>
                  <a:srgbClr val="2A3038"/>
                </a:solidFill>
                <a:latin typeface="Aptos"/>
              </a:defRPr>
            </a:pPr>
            <a:r>
              <a:t>Customer stores customer details, while Membership stores package subscription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669280"/>
            <a:ext cx="10972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5669280"/>
            <a:ext cx="73152" cy="64008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5806440"/>
            <a:ext cx="10652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6245352"/>
            <a:ext cx="1060704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Reduced redundancy • easier updates • stronger integrity • clearer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Functional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55448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7E1E6"/>
                </a:solidFill>
                <a:latin typeface="Aptos"/>
              </a:defRPr>
            </a:pPr>
            <a:r>
              <a:t>Basis for 3NF decomposition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960120"/>
          <a:ext cx="1120140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098280"/>
              </a:tblGrid>
              <a:tr h="418513">
                <a:tc>
                  <a:txBody>
                    <a:bodyPr/>
                    <a:lstStyle/>
                    <a:p>
                      <a:pPr>
                        <a:defRPr sz="10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Relation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Main Functional Dependencies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customer_id → name, phone, email, gender, created_at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category_id → category_name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Service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service_id → category_id, service_name, duration_min, price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staff_id → staff_name, phone, role, status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Skill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skill_id → skill_name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StaffSkill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(staff_id, skill_id) → proficiency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StaffSchedule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schedule_id → staff_id, day_of_week, start_time, end_time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Appointment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appointment_id → customer_id, service_id, staff_id, date, start_time, status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Package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package_id → package_name, total_sessions, price, validity_days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Membership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membership_id → customer_id, package_id, start_date, expiry_date, sessions_used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Bill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bill_id → appointment_id, subtotal, discount, tax, total, status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18524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Payment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payment_id → bill_id, amount, method, paid_at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5683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Review 2  •  Devyani  •  25WU0102069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 Dictionary — Key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55448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7E1E6"/>
                </a:solidFill>
                <a:latin typeface="Aptos"/>
              </a:defRPr>
            </a:pPr>
            <a:r>
              <a:t>Concise implementation reference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960120"/>
          <a:ext cx="1120140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011680"/>
                <a:gridCol w="1828800"/>
                <a:gridCol w="5394960"/>
              </a:tblGrid>
              <a:tr h="362712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Attribute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Constraint / Meaning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customer_id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PK, AUTO_INCREMENT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phone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VARCHAR(15)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UNIQUE, NOT NULL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Service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duration_min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CHECK &gt; 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Service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price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DECIMAL(10,2)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CHECK &gt;= 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PK, AUTO_INCREMENT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StaffSkill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staff_id, skill_id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Composite PK + FKs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StaffSchedule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start_time / end_time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TIME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CHECK start &lt; end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Appointment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start_time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DATETIME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Required booking start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Appointment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ENUM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Booked / Completed / Cancelled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Membership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sessions_used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CHECK &gt;= 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Product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stock_qty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CHECK &gt;= 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ProductUsage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quantity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CHECK &gt; 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Bill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total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DECIMAL(10,2)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CHECK &gt;= 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Payment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amount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DECIMAL(10,2)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CHECK &gt; 0; ≤ bill total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5683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Review 2  •  Devyani  •  25WU0102069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DDL — Core Tables &amp; Integrity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55448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7E1E6"/>
                </a:solidFill>
                <a:latin typeface="Aptos"/>
              </a:defRPr>
            </a:pPr>
            <a:r>
              <a:t>MySQL implementation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349240" cy="3886200"/>
          </a:xfrm>
          <a:prstGeom prst="round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480060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E2EDEE"/>
                </a:solidFill>
                <a:latin typeface="Courier New"/>
              </a:defRPr>
            </a:pPr>
            <a:r>
              <a:t>CREATE TABLE Service (</a:t>
            </a:r>
            <a:br/>
            <a:r>
              <a:t>  service_id INT PRIMARY KEY AUTO_INCREMENT,</a:t>
            </a:r>
            <a:br/>
            <a:r>
              <a:t>  category_id INT NOT NULL,</a:t>
            </a:r>
            <a:br/>
            <a:r>
              <a:t>  service_name VARCHAR(100) NOT NULL UNIQUE,</a:t>
            </a:r>
            <a:br/>
            <a:r>
              <a:t>  duration_min INT NOT NULL CHECK (duration_min &gt; 0),</a:t>
            </a:r>
            <a:br/>
            <a:r>
              <a:t>  price DECIMAL(10,2) NOT NULL CHECK (price &gt;= 0),</a:t>
            </a:r>
            <a:br/>
            <a:r>
              <a:t>  FOREIGN KEY (category_id) REFERENCES Category(category_id)</a:t>
            </a:r>
            <a:br/>
            <a:r>
              <a:t>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49240" cy="3886200"/>
          </a:xfrm>
          <a:prstGeom prst="round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344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Appointment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80060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E2EDEE"/>
                </a:solidFill>
                <a:latin typeface="Courier New"/>
              </a:defRPr>
            </a:pPr>
            <a:r>
              <a:t>CREATE TABLE Appointment (</a:t>
            </a:r>
            <a:br/>
            <a:r>
              <a:t>  appointment_id INT PRIMARY KEY AUTO_INCREMENT,</a:t>
            </a:r>
            <a:br/>
            <a:r>
              <a:t>  customer_id INT NOT NULL,</a:t>
            </a:r>
            <a:br/>
            <a:r>
              <a:t>  service_id INT NOT NULL,</a:t>
            </a:r>
            <a:br/>
            <a:r>
              <a:t>  staff_id INT NOT NULL,</a:t>
            </a:r>
            <a:br/>
            <a:r>
              <a:t>  start_time DATETIME NOT NULL,</a:t>
            </a:r>
            <a:br/>
            <a:r>
              <a:t>  status VARCHAR(20) DEFAULT 'Booked',</a:t>
            </a:r>
            <a:br/>
            <a:r>
              <a:t>  FOREIGN KEY (customer_id) REFERENCES Customer(customer_id),</a:t>
            </a:r>
            <a:br/>
            <a:r>
              <a:t>  FOREIGN KEY (service_id) REFERENCES Service(service_id),</a:t>
            </a:r>
            <a:br/>
            <a:r>
              <a:t>  FOREIGN KEY (staff_id) REFERENCES Staff(staff_id)</a:t>
            </a:r>
            <a:br/>
            <a:r>
              <a:t>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21208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5212080"/>
            <a:ext cx="73152" cy="91440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5349240"/>
            <a:ext cx="10652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Constraint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5788152"/>
            <a:ext cx="106070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Use database constraints for static rules; use transaction-aware validation / triggers or stored procedures for cross-row rules such as overlapping appointments and package balance.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5683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Review 2  •  Devyani  •  25WU0102069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Business-Rule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55448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7E1E6"/>
                </a:solidFill>
                <a:latin typeface="Aptos"/>
              </a:defRPr>
            </a:pPr>
            <a:r>
              <a:t>Rules that protect real salon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914400"/>
            <a:ext cx="10835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14400"/>
            <a:ext cx="73152" cy="841248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05156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1. No overlapping appointments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490472"/>
            <a:ext cx="10469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Before INSERT/UPDATE, reject a booking if the same staff member already has an active appointment whose time interval overlaps.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01952"/>
            <a:ext cx="10835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01952"/>
            <a:ext cx="73152" cy="841248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3911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2. Skill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78024"/>
            <a:ext cx="10469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Assigned staff must appear in StaffSkill for the skill required by the selected service.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9504"/>
            <a:ext cx="10835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889504"/>
            <a:ext cx="73152" cy="841248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02666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3. Valid appointment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65576"/>
            <a:ext cx="10469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Start time must be within staff schedule; appointment end = start + service duration.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77056"/>
            <a:ext cx="10835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77056"/>
            <a:ext cx="73152" cy="841248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014216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4. Package session 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453128"/>
            <a:ext cx="10469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When package is used, remaining = total_sessions − sessions_used. Reject if remaining ≤ 0 or membership expired.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64608"/>
            <a:ext cx="10835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64608"/>
            <a:ext cx="73152" cy="84124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00176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5. Payment 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440680"/>
            <a:ext cx="10469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Reject payment when amount &gt; outstanding bill balance. Prevent negative bill totals.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5683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Review 2  •  Devyani  •  25WU0102069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Sample Data — Realistic Test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55448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7E1E6"/>
                </a:solidFill>
                <a:latin typeface="Aptos"/>
              </a:defRPr>
            </a:pPr>
            <a:r>
              <a:t>Enough variety for meaningful queries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51560"/>
          <a:ext cx="10698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194560"/>
                <a:gridCol w="2011680"/>
                <a:gridCol w="2194560"/>
              </a:tblGrid>
              <a:tr h="42454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Service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Staff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Date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Aarav Sharma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Haircut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Riya Mehta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08-Oct-2026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Ananya Rao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Facial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Neha Kapoor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08-Oct-2026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Booked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Ishaan Verma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Massage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Arjun Singh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09-Oct-2026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Booked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Meera Joshi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Hair Spa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Riya Mehta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09-Oct-2026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Kabir Shah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Manicure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Neha Kapoor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10-Oct-2026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Booked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Sara Khan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Body Scrub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Arjun Singh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10-Oct-2026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3434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343400"/>
            <a:ext cx="73152" cy="123444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480560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 Display"/>
              </a:defRPr>
            </a:pPr>
            <a:r>
              <a:t>Test Data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919472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Customers • services • staff • skills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Appointments • packages • memberships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3434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4343400"/>
            <a:ext cx="73152" cy="123444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4480560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 Display"/>
              </a:defRPr>
            </a:pPr>
            <a:r>
              <a:t>Validation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4919472"/>
            <a:ext cx="48920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Valid booking • overlap conflict • wrong skill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Expired package • excess payment • invalid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65683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Review 2  •  Devyani  •  25WU0102069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SQL Reports — Appointments &amp; Staff Utilization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55448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7E1E6"/>
                </a:solidFill>
                <a:latin typeface="Aptos"/>
              </a:defRPr>
            </a:pPr>
            <a:r>
              <a:t>Joins + aggregation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05840"/>
            <a:ext cx="53492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1704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Appointment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645920"/>
            <a:ext cx="48463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0">
                <a:solidFill>
                  <a:srgbClr val="2A3038"/>
                </a:solidFill>
                <a:latin typeface="Courier New"/>
              </a:defRPr>
            </a:pPr>
            <a:r>
              <a:t>SELECT a.appointment_id, c.name AS customer,</a:t>
            </a:r>
            <a:br/>
            <a:r>
              <a:t>       s.service_name, st.staff_name,</a:t>
            </a:r>
            <a:br/>
            <a:r>
              <a:t>       a.start_time, a.status</a:t>
            </a:r>
            <a:br/>
            <a:r>
              <a:t>FROM Appointment a</a:t>
            </a:r>
            <a:br/>
            <a:r>
              <a:t>JOIN Customer c ON c.customer_id = a.customer_id</a:t>
            </a:r>
            <a:br/>
            <a:r>
              <a:t>JOIN Service s ON s.service_id = a.service_id</a:t>
            </a:r>
            <a:br/>
            <a:r>
              <a:t>JOIN Staff st ON st.staff_id = a.staff_id</a:t>
            </a:r>
            <a:br/>
            <a:r>
              <a:t>ORDER BY a.start_time;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3492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1704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Staff Utilization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45920"/>
            <a:ext cx="48463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0">
                <a:solidFill>
                  <a:srgbClr val="2A3038"/>
                </a:solidFill>
                <a:latin typeface="Courier New"/>
              </a:defRPr>
            </a:pPr>
            <a:r>
              <a:t>SELECT st.staff_name,</a:t>
            </a:r>
            <a:br/>
            <a:r>
              <a:t>       COUNT(a.appointment_id) AS appointments,</a:t>
            </a:r>
            <a:br/>
            <a:r>
              <a:t>       SUM(CASE WHEN a.status='Completed' THEN 1 ELSE 0 END) AS completed</a:t>
            </a:r>
            <a:br/>
            <a:r>
              <a:t>FROM Staff st</a:t>
            </a:r>
            <a:br/>
            <a:r>
              <a:t>LEFT JOIN Appointment a ON a.staff_id = st.staff_id</a:t>
            </a:r>
            <a:br/>
            <a:r>
              <a:t>GROUP BY st.staff_id, st.staff_name</a:t>
            </a:r>
            <a:br/>
            <a:r>
              <a:t>ORDER BY appointments DESC;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5683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Review 2  •  Devyani  •  25WU0102069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SQL Reports — Popularity, Packages &amp;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55448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7E1E6"/>
                </a:solidFill>
                <a:latin typeface="Aptos"/>
              </a:defRPr>
            </a:pPr>
            <a:r>
              <a:t>Subqueries + aggregation +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1440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73152" cy="196596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51560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 Display"/>
              </a:defRPr>
            </a:pPr>
            <a:r>
              <a:t>Service Popularity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90472"/>
            <a:ext cx="320040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SELECT s.service_name, COUNT(*) AS bookings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FROM Appointment a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JOIN Service s USING(service_id)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GROUP BY s.service_id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ORDER BY bookings DESC;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91440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914400"/>
            <a:ext cx="73152" cy="196596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051560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 Display"/>
              </a:defRPr>
            </a:pPr>
            <a:r>
              <a:t>Package 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490472"/>
            <a:ext cx="320040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SELECT m.membership_id,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       (p.total_sessions-m.sessions_used) AS remaining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FROM Membership m JOIN Package p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ON p.package_id=m.package_id;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91440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914400"/>
            <a:ext cx="73152" cy="196596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051560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 Display"/>
              </a:defRPr>
            </a:pPr>
            <a:r>
              <a:t>Product Usage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1490472"/>
            <a:ext cx="320040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SELECT pr.product_name,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       SUM(pu.quantity) AS qty_used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FROM ProductUsage pu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JOIN Product pr USING(product_id)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GROUP BY pr.product_id;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46120"/>
            <a:ext cx="11109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46120"/>
            <a:ext cx="73152" cy="192024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83279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Revenue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822191"/>
            <a:ext cx="107442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CREATE VIEW RevenueSummary AS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SELECT DATE(b.created_at) AS bill_date,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       SUM(b.total) AS revenue,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       COUNT(*) AS bills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FROM Bill b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WHERE b.status='Paid'</a:t>
            </a:r>
          </a:p>
          <a:p>
            <a:pPr>
              <a:spcAft>
                <a:spcPts val="500"/>
              </a:spcAft>
              <a:defRPr sz="1250">
                <a:solidFill>
                  <a:srgbClr val="2A3038"/>
                </a:solidFill>
                <a:latin typeface="Aptos"/>
              </a:defRPr>
            </a:pPr>
            <a:r>
              <a:t>GROUP BY DATE(b.created_at);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65683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Review 2  •  Devyani  •  25WU0102069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Nested Queries &amp; Meaningful Business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55448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7E1E6"/>
                </a:solidFill>
                <a:latin typeface="Aptos"/>
              </a:defRPr>
            </a:pPr>
            <a:r>
              <a:t>Beyond simple SELECT statements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051560"/>
          <a:ext cx="109728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2743200"/>
                <a:gridCol w="4343400"/>
              </a:tblGrid>
              <a:tr h="5562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Business question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SQL technique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Output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Which services are priced above the average?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Subquery + AVG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Premium services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Which staff have more bookings than the staff average?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Subquery + GROUP BY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High-utilization staff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Which customers have an active package?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EXISTS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Eligible package users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Which products were never issued?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NOT EXISTS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Slow / unused inventory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Which days generated the most revenue?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GROUP BY + SUM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Revenue trend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470916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4709160"/>
            <a:ext cx="73152" cy="96012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846320"/>
            <a:ext cx="10652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285232"/>
            <a:ext cx="10607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The database is not only storing records—it supports operational decisions about staffing, services, inventory, packages and revenue.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5683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Review 2  •  Devyani  •  25WU0102069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Views, Indexing &amp; Transaction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55448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7E1E6"/>
                </a:solidFill>
                <a:latin typeface="Aptos"/>
              </a:defRPr>
            </a:pPr>
            <a:r>
              <a:t>Performance + consistency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144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73152" cy="182880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051560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490472"/>
            <a:ext cx="3108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AppointmentReport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StaffUtilization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PackageBalance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RevenueSummary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Simplifies repeated reporting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9144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914400"/>
            <a:ext cx="73152" cy="182880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051560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Indexes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490472"/>
            <a:ext cx="3108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Appointment(staff_id, start_time)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Appointment(customer_id, start_time)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Service(category_id)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Payment(bill_id)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Targets frequent searches / joins.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9144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914400"/>
            <a:ext cx="73152" cy="182880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051560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490472"/>
            <a:ext cx="3108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Booking workflow: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1. validate availability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2. create appointment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3. update package if used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4. commit only if all succeed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5. rollback on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154680"/>
            <a:ext cx="10972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154680"/>
            <a:ext cx="73152" cy="196596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291840"/>
            <a:ext cx="10652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 Display"/>
              </a:defRPr>
            </a:pPr>
            <a:r>
              <a:t>Booking Transaction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730752"/>
            <a:ext cx="1060704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START TRANSACTION;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-- validate staff skill + schedule + overlap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-- INSERT appointment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-- UPDATE membership sessions_used (if package used)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COMMIT;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If any validation fails → ROLLBACK; no partial booking is stored.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65683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Review 2  •  Devyani  •  25WU0102069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Database Prototype — Current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55448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7E1E6"/>
                </a:solidFill>
                <a:latin typeface="Aptos"/>
              </a:defRPr>
            </a:pPr>
            <a:r>
              <a:t>From SQL layer to working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144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73152" cy="114300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051560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1. Customer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Create and validate customer 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73152" cy="114300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60320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2. Appointment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999232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Select service → date/time → eligible skilled staff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73152" cy="114300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069080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3. Package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507992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Show active membership and remaining sessions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9144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914400"/>
            <a:ext cx="73152" cy="114300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051560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4. Product issue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490472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Record product usage against appointment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231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423160"/>
            <a:ext cx="73152" cy="114300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560320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5. Billing &amp; 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999232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Generate bill, accept valid payment, update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319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31920"/>
            <a:ext cx="73152" cy="114300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4069080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6.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4507992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Appointments, utilization, popularity, package balance, products, revenue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65683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Review 2  •  Devyani  •  25WU0102069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Testing Plan &amp; Expected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55448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7E1E6"/>
                </a:solidFill>
                <a:latin typeface="Aptos"/>
              </a:defRPr>
            </a:pPr>
            <a:r>
              <a:t>Systematic validation before final demo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112928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800600"/>
                <a:gridCol w="5486400"/>
              </a:tblGrid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 / Scenario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 marL="54864" marR="36576" marT="27432" marB="27432">
                    <a:solidFill>
                      <a:srgbClr val="1823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T01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Valid appointment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Booking created successfully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T02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Same staff + overlapping time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Reject booking with conflict message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T03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 lacks service skill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Reject assignment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T04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Outside staff schedule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Reject appointment time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Package sessions exhausted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Reject package use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T06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Payment &gt; outstanding bill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Reject payment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T07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Duplicate customer phone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UNIQUE constraint error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T08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Delete referenced service/staff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FK prevents invalid deletion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5683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Review 2  •  Devyani  •  25WU0102069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REVIEW 2 — READY FOR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74519"/>
            <a:ext cx="3383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74519"/>
            <a:ext cx="73152" cy="242316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011679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Database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50591"/>
            <a:ext cx="301752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✓ 3NF relational design</a:t>
            </a:r>
          </a:p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✓ Functional dependencies</a:t>
            </a:r>
          </a:p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✓ Integrity constraints</a:t>
            </a:r>
          </a:p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✓ Sample data</a:t>
            </a:r>
          </a:p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✓ Reports &amp; 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874519"/>
            <a:ext cx="3383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07408" y="1874519"/>
            <a:ext cx="73152" cy="242316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011679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Next 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450591"/>
            <a:ext cx="301752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✓ Connect Java/Python frontend</a:t>
            </a:r>
          </a:p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✓ CRUD operations</a:t>
            </a:r>
          </a:p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✓ Booking validation</a:t>
            </a:r>
          </a:p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✓ Billing &amp; payment</a:t>
            </a:r>
          </a:p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✓ Final reports +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874519"/>
            <a:ext cx="3383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874519"/>
            <a:ext cx="73152" cy="242316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2011679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Final Submission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450591"/>
            <a:ext cx="301752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GitHub repository</a:t>
            </a:r>
          </a:p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5-minute video presentation</a:t>
            </a:r>
          </a:p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Google Drive public link document</a:t>
            </a:r>
          </a:p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Final report hardcopy</a:t>
            </a:r>
          </a:p>
          <a:p>
            <a:pPr>
              <a:spcAft>
                <a:spcPts val="5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Viva demonstration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2920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Thank You  •  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ED7D7"/>
                </a:solidFill>
                <a:latin typeface="Aptos"/>
              </a:defRPr>
            </a:pPr>
            <a:r>
              <a:t>Devyani  |  25WU0102069  |  AIML Rhinos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