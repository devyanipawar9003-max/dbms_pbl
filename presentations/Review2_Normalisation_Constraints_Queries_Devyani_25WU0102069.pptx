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83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1832"/>
                </a:solidFill>
                <a:latin typeface="+mn-lt"/>
              </a:rPr>
              <a:t>Rows per table (largest 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9C3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D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service</c:v>
                  </c:pt>
                  <c:pt idx="1">
                    <c:v>staff_skill</c:v>
                  </c:pt>
                  <c:pt idx="2">
                    <c:v>customer</c:v>
                  </c:pt>
                  <c:pt idx="3">
                    <c:v>staff_schedule</c:v>
                  </c:pt>
                  <c:pt idx="4">
                    <c:v>payment</c:v>
                  </c:pt>
                  <c:pt idx="5">
                    <c:v>bill</c:v>
                  </c:pt>
                  <c:pt idx="6">
                    <c:v>appointment</c:v>
                  </c:pt>
                  <c:pt idx="7">
                    <c:v>product_usage</c:v>
                  </c:pt>
                  <c:pt idx="8">
                    <c:v>appointment_service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</c:v>
                </c:pt>
                <c:pt idx="1">
                  <c:v>23</c:v>
                </c:pt>
                <c:pt idx="2">
                  <c:v>40</c:v>
                </c:pt>
                <c:pt idx="3">
                  <c:v>60</c:v>
                </c:pt>
                <c:pt idx="4">
                  <c:v>419</c:v>
                </c:pt>
                <c:pt idx="5">
                  <c:v>427</c:v>
                </c:pt>
                <c:pt idx="6">
                  <c:v>603</c:v>
                </c:pt>
                <c:pt idx="7">
                  <c:v>674</c:v>
                </c:pt>
                <c:pt idx="8">
                  <c:v>892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D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BD7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83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1832"/>
                </a:solidFill>
                <a:latin typeface="+mn-lt"/>
              </a:rPr>
              <a:t>Staff utilisation % (completed work ÷ shift time)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%</c:v>
                </c:pt>
              </c:strCache>
            </c:strRef>
          </c:tx>
          <c:spPr>
            <a:solidFill>
              <a:srgbClr val="9C3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D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Arjun R.</c:v>
                  </c:pt>
                  <c:pt idx="1">
                    <c:v>Irfan M.</c:v>
                  </c:pt>
                  <c:pt idx="2">
                    <c:v>Sneha K.</c:v>
                  </c:pt>
                  <c:pt idx="3">
                    <c:v>Kavya S.</c:v>
                  </c:pt>
                  <c:pt idx="4">
                    <c:v>Fatima B.</c:v>
                  </c:pt>
                  <c:pt idx="5">
                    <c:v>Priya N.</c:v>
                  </c:pt>
                  <c:pt idx="6">
                    <c:v>Ananya R.</c:v>
                  </c:pt>
                  <c:pt idx="7">
                    <c:v>Lakshmi P.</c:v>
                  </c:pt>
                  <c:pt idx="8">
                    <c:v>Rohan V.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7.2</c:v>
                </c:pt>
                <c:pt idx="2">
                  <c:v>9.1</c:v>
                </c:pt>
                <c:pt idx="3">
                  <c:v>9.2</c:v>
                </c:pt>
                <c:pt idx="4">
                  <c:v>10.2</c:v>
                </c:pt>
                <c:pt idx="5">
                  <c:v>10.2</c:v>
                </c:pt>
                <c:pt idx="6">
                  <c:v>12.7</c:v>
                </c:pt>
                <c:pt idx="7">
                  <c:v>16.1</c:v>
                </c:pt>
                <c:pt idx="8">
                  <c:v>21.2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D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EBD7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83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1832"/>
                </a:solidFill>
                <a:latin typeface="+mn-lt"/>
              </a:rPr>
              <a:t>Monthly revenue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Billed ₹</c:v>
                </c:pt>
              </c:strCache>
            </c:strRef>
          </c:tx>
          <c:spPr>
            <a:solidFill>
              <a:srgbClr val="9C3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D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Aug</c:v>
                  </c:pt>
                  <c:pt idx="1">
                    <c:v>Sep</c:v>
                  </c:pt>
                  <c:pt idx="2">
                    <c:v>Oct (to 7th)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306293</c:v>
                </c:pt>
                <c:pt idx="1">
                  <c:v>401262</c:v>
                </c:pt>
                <c:pt idx="2">
                  <c:v>96968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 ₹</c:v>
                </c:pt>
              </c:strCache>
            </c:strRef>
          </c:tx>
          <c:spPr>
            <a:solidFill>
              <a:srgbClr val="D98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D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Aug</c:v>
                  </c:pt>
                  <c:pt idx="1">
                    <c:v>Sep</c:v>
                  </c:pt>
                  <c:pt idx="2">
                    <c:v>Oct (to 7th)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306293</c:v>
                </c:pt>
                <c:pt idx="1">
                  <c:v>396335</c:v>
                </c:pt>
                <c:pt idx="2">
                  <c:v>93394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D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BD7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A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shows the normalised design, data dictionary, DDL with business-rule enforcement, sample data, queries/views and the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of the implemented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determinant is a candidate key of its table, which is why every table is in BCNF.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unnormalised slip and how each normal form removed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relations reach 3NF; the stored snapshots are justified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dictionary for all tables is in the report (Table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Declarative constraints first; triggers only where a rule needs other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Triggers raise SQLSTATE 45000 with a readable message; the app shows it as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check runs on INSERT and UPDATE via one stored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by a seeded Python script, loaded through the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queries in 05_queries.sql cover every SQL concept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six reports, plotted from the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06 runs in one transaction and rolls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dashboard; the app is the Review 3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PBL · Project 66 · Devyani Pawar (25WU0102069)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REVIEW 2  ·  WEEK 11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&amp; Spa Appointment Management System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Normalised design (3NF), integrity constraints, SQL queries and prototype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Devyani Pawar  ·  25WU0102069  ·  AIML Rhinos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Database Management Systems (DBMS) · Project-Based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School of Technology, Woxsen University</a:t>
            </a:r>
            <a:endParaRPr lang="en-US" sz="1300" dirty="0"/>
          </a:p>
        </p:txBody>
      </p:sp>
      <p:sp>
        <p:nvSpPr>
          <p:cNvPr id="6" name="slot0"/>
          <p:cNvSpPr/>
          <p:nvPr/>
        </p:nvSpPr>
        <p:spPr>
          <a:xfrm>
            <a:off x="67208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7" name="slot1"/>
          <p:cNvSpPr/>
          <p:nvPr/>
        </p:nvSpPr>
        <p:spPr>
          <a:xfrm>
            <a:off x="74066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D98BB0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8" name="slot2"/>
          <p:cNvSpPr/>
          <p:nvPr/>
        </p:nvSpPr>
        <p:spPr>
          <a:xfrm>
            <a:off x="80924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design stands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tables in 3NF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constraints (PK, FK, UNIQUE, CHECK)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triggers for business rules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views for reports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603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appointments, Aug–Oct 2026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892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booked service lines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674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product issues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427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A52"/>
                </a:solidFill>
              </a:rPr>
              <a:t>bills · 419 payments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4A52"/>
                </a:solidFill>
              </a:rPr>
              <a:t>DBMS: MySQL 8.0 (scripts also run unchanged on MariaDB 10.11). All sample data loads through the triggers, so every row obeys the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dependencies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2B1D24"/>
          </a:solidFill>
          <a:ln w="12700">
            <a:solidFill>
              <a:srgbClr val="2B1D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         -&gt; first_name, last_name, phone, email, gender, date_of_birth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               -&gt; customer_id                    (candidate 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service_id           -&gt; category_id, required_skill_id, service_name, duration_min, 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staff_id             -&gt; full_name, phone, email, designation, hire_date,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{staff_id, skill_id} -&gt; proficiency_level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{staff_id, day_of_week} -&gt; shift_start, shift_end      (candidate 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{package_id, service_id} -&gt; sessions_included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appointment_id       -&gt; customer_id, appointment_date, status, booked_at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appt_service_id      -&gt; appointment_id, service_id, staff_id, start_time,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end_time, price_charged, customer_package_id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customer_package_id  -&gt; customer_id, package_id, purchase_date, expiry_date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bill_id              -&gt; appointment_id, bill_date, subtotal, discount, tax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appointment_id       -&gt; bill_id                        (1:1, UNIQUE)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           -&gt; bill_id, amount, method, paid_at, reference_no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Normalisation: from the paper booking slip to 3NF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24128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179576"/>
            <a:ext cx="475488" cy="47548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79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UNF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0241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Booking slip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customer, phone, date, {service, staff, staff skills, time, price}, package, bill, payments — repeating groups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075688"/>
            <a:ext cx="475488" cy="47548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1NF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20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Atomic values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One row per service per visit; staff skills moved to staff_skill; payments to their own rows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81635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971800"/>
            <a:ext cx="475488" cy="47548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2NF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81635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No partial deps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service_name/price depend only on service_id; customer data only on customer_id → separate tables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71246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BD7E1"/>
          </a:solidFill>
          <a:ln w="12700">
            <a:solidFill>
              <a:srgbClr val="EBD7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867912"/>
            <a:ext cx="475488" cy="4754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3NF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7124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No transitive deps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category_name via category_id, skill_name via skill_id, plan discount via plan_id → split 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 status of all 18 relations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"/>
                <a:gridCol w="457200"/>
                <a:gridCol w="457200"/>
                <a:gridCol w="54864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staff, skill, service_category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single-attribute PK; phone/email are alternate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service, package, membership_plan,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category/skill names moved out (3NF)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staff_skill, package_item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PK; non-key depends on the whole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staff_schedule, customer_membership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UNIQUE(staff_id, day_of_week) is a candidate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appointment, appointment_service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&amp; end_time frozen at booking (history)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frozen at purchase (validity may change)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kept in product, updated by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bill,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is a generated column; paid/balance computed in a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extract: appointment_service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26517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/ 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appt_service_id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AUTO_INCREMENT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booked service inside a visit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appointment, NOT NULL, CASCADE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visit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service,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performed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staff,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member 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 / end_time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end &gt; start; 09:00–21:00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slot; length = service duration (trigger)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price_charged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at booking; 0 when from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customer_package_id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customer_package, NULL, SET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redeemed, if 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 in the DDL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PRIMARY KEY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FOREIGN KEY (RESTRICT / CASCADE / SET NULL)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UNIQUE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CHECK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DEFAULT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NOT NULL columns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1051560"/>
            <a:ext cx="3749040" cy="3566160"/>
          </a:xfrm>
          <a:prstGeom prst="rect">
            <a:avLst/>
          </a:prstGeom>
          <a:solidFill>
            <a:srgbClr val="2B1D24"/>
          </a:solidFill>
          <a:ln w="12700">
            <a:solidFill>
              <a:srgbClr val="2B1D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11430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chk_customer_phone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(phone REGEXP '^[6-9][0-9]{9}$'),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chk_as_hours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(start_time &gt;= '09:00:00'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end_time &lt;= '21:00:00'),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chk_bill_discount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(discount_amount &lt;= subtotal),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 DECIMAL(10,2) 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(subtotal - discount_amount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tax_amount) STORED,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uq_sched_staff_day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(staff_id, day_of_week)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enforced inside MySQL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raised on violation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staff appointments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trigger: startA &lt; endB AND startB &lt; endA on same staff/date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conflict: … overlapping 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trigger: staff_skill must contain service.required_skill_id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mismatch: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appointment times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09:00–21:00 + trigger: slot = duration, inside 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time slot / not on 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Package-session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trigger: owner, ACTIVE, not expired, used &lt; sessions_included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session limit reached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trigger: SUM(paid) + new ≤ bill.total_amount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exceeds balance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never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on product_usage + CHECK stock_qty ≥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stock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only completed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on 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can be generated only for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overlap rule, in SQL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2B1D24"/>
          </a:solidFill>
          <a:ln w="12700">
            <a:solidFill>
              <a:srgbClr val="2B1D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inside sp_validate_appt_service (called by BEFORE INSERT / UPDATE triggers)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INTO v_cnt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appointment_service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appointment a ON a.appointment_id = s.appointment_id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s.staff_id = p_staff_id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a.appointment_date = v_date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a.status NOT IN ('CANCELLED','NO_SHOW')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s.appt_service_id &lt;&gt; p_self_id        -- ignore the row being updated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s.start_time &lt; p_end AND p_start &lt; s.end_time;   -- interval overlap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v_cnt &gt; 0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SIGNAL SQLSTATE '45000' SET MESSAGE_TEXT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'Staff conflict: staff member already has an overlapping appointment';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4A52"/>
                </a:solidFill>
              </a:rPr>
              <a:t>Back-to-back slots (10:00–11:00 then 11:00–12:00) are allowed; cancelled visits free their slots automatically.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data: a realistic salon, Aug–Oct 2026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577840" y="1097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40 customers, 10 staff (1 on leave), 22 services in 6 categories, 10 skills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6 packages, 3 membership plans, 15 products with stock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603 visits: 427 completed, 125 upcoming, 41 cancelled, 10 no-show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10 bills deliberately left part-paid to test balances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 and views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concepts demonstrated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v_appointment_details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5-table JOIN, LEFT JOIN … IS NULL, correlated subquery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utilisation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v_staff_utilization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tables, CROSS JOIN, SUM/COUNT, HAVING, EXISTS / NOT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popularity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v_service_popularity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JOIN, IN subquery, GROUP BY, revenue share via scalar subquery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balances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v_package_balance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subquery for sessions used, date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v_product_usage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aggregation, CASE for re-order flag, cost per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v_monthly_revenue, v_bill_summary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month, billed vs collected, above-average spenders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reports show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4023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60120"/>
          <a:ext cx="4023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rules: 18 cases, all behave as expected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2011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 / 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booking; back-to-back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staff, overlapping 13:30–14:30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Staff conflict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Bridal makeup given to the barber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Skill mismatch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 / 06 / 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 for a 30 min service; before shift; 08:00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invalid time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else's package; 5th of 4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TC-11 /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a booked visit; pay more than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TC-14 –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Over-issue stock, bad phone, duplicate phone, delete referenced customer, discount &gt; subtotal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Prototype: database connected to the Python app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38912" y="987552"/>
            <a:ext cx="4453630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D9C3CF"/>
            </a:solidFill>
            <a:prstDash val="solid"/>
          </a:ln>
        </p:spPr>
      </p:sp>
      <p:pic>
        <p:nvPicPr>
          <p:cNvPr id="5" name="Image 0" descr="/home/claude/salon-spa-dbms/screenshots/cropped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417054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92240" y="1051560"/>
            <a:ext cx="2194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Already working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Dashboard, booking with skilled-staff filter, billing and reports on the live database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Next (Review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Full CRUD, validation messages, test log, report and video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18 tables in 3NF/BCNF with 85 declarative constraints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5 triggers enforce overlap, skill, time, package and payment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7 views and 20 queries cover the six required reports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Next: complete the application, testing and documentation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w and Grace">
  <a:themeElements>
    <a:clrScheme name="Glow and Grace">
      <a:dk1>
        <a:srgbClr val="2B1D24"/>
      </a:dk1>
      <a:lt1>
        <a:srgbClr val="FFFFFF"/>
      </a:lt1>
      <a:dk2>
        <a:srgbClr val="4A1832"/>
      </a:dk2>
      <a:lt2>
        <a:srgbClr val="F7EEF3"/>
      </a:lt2>
      <a:accent1>
        <a:srgbClr val="9C3D6B"/>
      </a:accent1>
      <a:accent2>
        <a:srgbClr val="D98BB0"/>
      </a:accent2>
      <a:accent3>
        <a:srgbClr val="B7791F"/>
      </a:accent3>
      <a:accent4>
        <a:srgbClr val="5B4A52"/>
      </a:accent4>
      <a:accent5>
        <a:srgbClr val="EBD7E1"/>
      </a:accent5>
      <a:accent6>
        <a:srgbClr val="2E7D5B"/>
      </a:accent6>
      <a:hlink>
        <a:srgbClr val="9C3D6B"/>
      </a:hlink>
      <a:folHlink>
        <a:srgbClr val="6D2E46"/>
      </a:folHlink>
    </a:clrScheme>
    <a:fontScheme name="Glow and Gr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Woxsen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 – Normalised Design, Constraints, Queries</dc:title>
  <dc:subject>PptxGenJS Presentation</dc:subject>
  <dc:creator>Devyani Pawar</dc:creator>
  <cp:lastModifiedBy>Devyani Pawar</cp:lastModifiedBy>
  <cp:revision>1</cp:revision>
  <dcterms:created xsi:type="dcterms:W3CDTF">2026-10-08T10:44:47Z</dcterms:created>
  <dcterms:modified xsi:type="dcterms:W3CDTF">2026-10-08T10:44:47Z</dcterms:modified>
</cp:coreProperties>
</file>