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531fe68d-e348-7921-de04-22d0406eebf1}">
          <p14:sldIdLst/>
        </p14:section>
        <p14:section name="Default-1" id="{920da9e7-3481-ed6f-ed9a-e89dcd44c952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 and the project. Review 1 covers the problem, scope, users, functional requirements, the ER diagram and the first relational schema.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real problem: the paper book cannot see conflicts, skills, package balances or dues. Every one of these becomes a business rule in the database.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measurable objectives; each maps to a review deliverable.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scope vs out of scope, and the four user roles.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12 FRs; priorities show the core path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rules drive the trigger design in Review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14 entities and 16 relationships. Weak entities have a double border; double lines are total participation.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main cardinalities.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M:N relationships become their own tables: staff_skill, package_item, customer_membership, product_usage.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Timeline of remaining deliverables.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4A18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85800"/>
            <a:ext cx="804672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b="1" spc="200" kern="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097280"/>
            <a:ext cx="804672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651760"/>
            <a:ext cx="804672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accent5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3566160"/>
            <a:ext cx="80467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3" name="Text 0"/>
          <p:cNvSpPr txBox="1"/>
          <p:nvPr/>
        </p:nvSpPr>
        <p:spPr>
          <a:xfrm>
            <a:off x="457200" y="480060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 PBL · Project 66 · Devyani Pawar (25WU0102069)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4A5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_DARK">
    <p:bg>
      <p:bgPr>
        <a:solidFill>
          <a:srgbClr val="4A18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48640"/>
            <a:ext cx="80467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4A5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85800"/>
            <a:ext cx="8046720" cy="3657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2"/>
                </a:solidFill>
              </a:rPr>
              <a:t>REVIEW 1  ·  WEEK 7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097280"/>
            <a:ext cx="8046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Salon &amp; Spa Appointment Management System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651760"/>
            <a:ext cx="8046720" cy="5486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Problem identification, requirements and conceptual (ER) design</a:t>
            </a:r>
            <a:endParaRPr lang="en-US" sz="18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356616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Devyani Pawar  ·  25WU0102069  ·  AIML Rhinos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Database Management Systems (DBMS) · Project-Based Learning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School of Technology, Woxsen University</a:t>
            </a:r>
            <a:endParaRPr lang="en-US" sz="1300" dirty="0"/>
          </a:p>
        </p:txBody>
      </p:sp>
      <p:sp>
        <p:nvSpPr>
          <p:cNvPr id="6" name="slot0"/>
          <p:cNvSpPr/>
          <p:nvPr/>
        </p:nvSpPr>
        <p:spPr>
          <a:xfrm>
            <a:off x="6720840" y="274320"/>
            <a:ext cx="548640" cy="292608"/>
          </a:xfrm>
          <a:prstGeom prst="roundRect">
            <a:avLst>
              <a:gd name="adj" fmla="val 25000"/>
            </a:avLst>
          </a:prstGeom>
          <a:solidFill>
            <a:srgbClr val="9C3D6B"/>
          </a:solidFill>
          <a:ln w="12700">
            <a:solidFill>
              <a:srgbClr val="4A1832"/>
            </a:solidFill>
            <a:prstDash val="solid"/>
          </a:ln>
        </p:spPr>
      </p:sp>
      <p:sp>
        <p:nvSpPr>
          <p:cNvPr id="7" name="slot1"/>
          <p:cNvSpPr/>
          <p:nvPr/>
        </p:nvSpPr>
        <p:spPr>
          <a:xfrm>
            <a:off x="7406640" y="274320"/>
            <a:ext cx="548640" cy="292608"/>
          </a:xfrm>
          <a:prstGeom prst="roundRect">
            <a:avLst>
              <a:gd name="adj" fmla="val 25000"/>
            </a:avLst>
          </a:prstGeom>
          <a:solidFill>
            <a:srgbClr val="D98BB0"/>
          </a:solidFill>
          <a:ln w="12700">
            <a:solidFill>
              <a:srgbClr val="4A1832"/>
            </a:solidFill>
            <a:prstDash val="solid"/>
          </a:ln>
        </p:spPr>
      </p:sp>
      <p:sp>
        <p:nvSpPr>
          <p:cNvPr id="8" name="slot2"/>
          <p:cNvSpPr/>
          <p:nvPr/>
        </p:nvSpPr>
        <p:spPr>
          <a:xfrm>
            <a:off x="8092440" y="274320"/>
            <a:ext cx="548640" cy="292608"/>
          </a:xfrm>
          <a:prstGeom prst="roundRect">
            <a:avLst>
              <a:gd name="adj" fmla="val 25000"/>
            </a:avLst>
          </a:prstGeom>
          <a:solidFill>
            <a:srgbClr val="9C3D6B"/>
          </a:solidFill>
          <a:ln w="12700">
            <a:solidFill>
              <a:srgbClr val="4A1832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manual appointment books fail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457200" y="1051560"/>
            <a:ext cx="4000500" cy="1257300"/>
          </a:xfrm>
          <a:prstGeom prst="roundRect">
            <a:avLst>
              <a:gd name="adj" fmla="val 7273"/>
            </a:avLst>
          </a:prstGeom>
          <a:solidFill>
            <a:srgbClr val="F7EEF3"/>
          </a:solidFill>
          <a:ln w="12700">
            <a:solidFill>
              <a:srgbClr val="F7EEF3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21792" y="1216152"/>
            <a:ext cx="384048" cy="384048"/>
          </a:xfrm>
          <a:prstGeom prst="ellipse">
            <a:avLst/>
          </a:prstGeom>
          <a:solidFill>
            <a:srgbClr val="9C3D6B"/>
          </a:solidFill>
          <a:ln w="12700">
            <a:solidFill>
              <a:srgbClr val="9C3D6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21792" y="1216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1115568" y="1179576"/>
            <a:ext cx="32232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1832"/>
                </a:solidFill>
              </a:rPr>
              <a:t>Double-booked staff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1709928"/>
            <a:ext cx="36347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1D24"/>
                </a:solidFill>
              </a:rPr>
              <a:t>Two clients written into the same stylist's slot; one waits or walks out.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686300" y="1051560"/>
            <a:ext cx="4000500" cy="1257300"/>
          </a:xfrm>
          <a:prstGeom prst="roundRect">
            <a:avLst>
              <a:gd name="adj" fmla="val 7273"/>
            </a:avLst>
          </a:prstGeom>
          <a:solidFill>
            <a:srgbClr val="F7EEF3"/>
          </a:solidFill>
          <a:ln w="12700">
            <a:solidFill>
              <a:srgbClr val="F7EEF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50892" y="1216152"/>
            <a:ext cx="384048" cy="384048"/>
          </a:xfrm>
          <a:prstGeom prst="ellipse">
            <a:avLst/>
          </a:prstGeom>
          <a:solidFill>
            <a:srgbClr val="9C3D6B"/>
          </a:solidFill>
          <a:ln w="12700">
            <a:solidFill>
              <a:srgbClr val="9C3D6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850892" y="1216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5344668" y="1179576"/>
            <a:ext cx="32232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1832"/>
                </a:solidFill>
              </a:rPr>
              <a:t>Wrong person for the job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4869180" y="1709928"/>
            <a:ext cx="36347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1D24"/>
                </a:solidFill>
              </a:rPr>
              <a:t>A barber booked for a facial because the book does not know staff skills.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57200" y="2537460"/>
            <a:ext cx="4000500" cy="1257300"/>
          </a:xfrm>
          <a:prstGeom prst="roundRect">
            <a:avLst>
              <a:gd name="adj" fmla="val 7273"/>
            </a:avLst>
          </a:prstGeom>
          <a:solidFill>
            <a:srgbClr val="F7EEF3"/>
          </a:solidFill>
          <a:ln w="12700">
            <a:solidFill>
              <a:srgbClr val="F7EEF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21792" y="2702052"/>
            <a:ext cx="384048" cy="384048"/>
          </a:xfrm>
          <a:prstGeom prst="ellipse">
            <a:avLst/>
          </a:prstGeom>
          <a:solidFill>
            <a:srgbClr val="9C3D6B"/>
          </a:solidFill>
          <a:ln w="12700">
            <a:solidFill>
              <a:srgbClr val="9C3D6B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21792" y="27020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1115568" y="2665476"/>
            <a:ext cx="32232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1832"/>
                </a:solidFill>
              </a:rPr>
              <a:t>Lost package sessions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3195828"/>
            <a:ext cx="36347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1D24"/>
                </a:solidFill>
              </a:rPr>
              <a:t>Prepaid packages tracked on cards; sessions over-used or disputed.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686300" y="2537460"/>
            <a:ext cx="4000500" cy="1257300"/>
          </a:xfrm>
          <a:prstGeom prst="roundRect">
            <a:avLst>
              <a:gd name="adj" fmla="val 7273"/>
            </a:avLst>
          </a:prstGeom>
          <a:solidFill>
            <a:srgbClr val="F7EEF3"/>
          </a:solidFill>
          <a:ln w="12700">
            <a:solidFill>
              <a:srgbClr val="F7EEF3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850892" y="2702052"/>
            <a:ext cx="384048" cy="384048"/>
          </a:xfrm>
          <a:prstGeom prst="ellipse">
            <a:avLst/>
          </a:prstGeom>
          <a:solidFill>
            <a:srgbClr val="9C3D6B"/>
          </a:solidFill>
          <a:ln w="12700">
            <a:solidFill>
              <a:srgbClr val="9C3D6B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850892" y="27020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5344668" y="2665476"/>
            <a:ext cx="32232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1832"/>
                </a:solidFill>
              </a:rPr>
              <a:t>Stock and money leakage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4869180" y="3195828"/>
            <a:ext cx="36347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1D24"/>
                </a:solidFill>
              </a:rPr>
              <a:t>Products used without record; part-payments forgotten at the counter.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457200" y="4023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C3D6B"/>
                </a:solidFill>
              </a:rPr>
              <a:t>Goal: one database that knows customers, services, staff skills, schedules, packages, stock and money — and refuses invalid entries.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4A5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457200" y="1124712"/>
            <a:ext cx="384048" cy="384048"/>
          </a:xfrm>
          <a:prstGeom prst="ellipse">
            <a:avLst/>
          </a:prstGeom>
          <a:solidFill>
            <a:srgbClr val="9C3D6B"/>
          </a:solidFill>
          <a:ln w="12700">
            <a:solidFill>
              <a:srgbClr val="9C3D6B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1124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1005840" y="10515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C3D6B"/>
                </a:solidFill>
              </a:rPr>
              <a:t>Design </a:t>
            </a:r>
            <a:pPr indent="0" marL="0">
              <a:buNone/>
            </a:pPr>
            <a:r>
              <a:rPr lang="en-US" sz="1500" dirty="0">
                <a:solidFill>
                  <a:srgbClr val="2B1D24"/>
                </a:solidFill>
              </a:rPr>
              <a:t>a normalised (3NF) relational database covering all 12 required entity areas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57200" y="1837944"/>
            <a:ext cx="384048" cy="384048"/>
          </a:xfrm>
          <a:prstGeom prst="ellipse">
            <a:avLst/>
          </a:prstGeom>
          <a:solidFill>
            <a:srgbClr val="9C3D6B"/>
          </a:solidFill>
          <a:ln w="12700">
            <a:solidFill>
              <a:srgbClr val="9C3D6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7200" y="18379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1005840" y="1764792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C3D6B"/>
                </a:solidFill>
              </a:rPr>
              <a:t>Enforce </a:t>
            </a:r>
            <a:pPr indent="0" marL="0">
              <a:buNone/>
            </a:pPr>
            <a:r>
              <a:rPr lang="en-US" sz="1500" dirty="0">
                <a:solidFill>
                  <a:srgbClr val="2B1D24"/>
                </a:solidFill>
              </a:rPr>
              <a:t>5 core business rules inside MySQL: no staff overlap, skill match, package limits, valid times, payment limits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57200" y="2551176"/>
            <a:ext cx="384048" cy="384048"/>
          </a:xfrm>
          <a:prstGeom prst="ellipse">
            <a:avLst/>
          </a:prstGeom>
          <a:solidFill>
            <a:srgbClr val="9C3D6B"/>
          </a:solidFill>
          <a:ln w="12700">
            <a:solidFill>
              <a:srgbClr val="9C3D6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" y="2551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1005840" y="2478024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C3D6B"/>
                </a:solidFill>
              </a:rPr>
              <a:t>Populate </a:t>
            </a:r>
            <a:pPr indent="0" marL="0">
              <a:buNone/>
            </a:pPr>
            <a:r>
              <a:rPr lang="en-US" sz="1500" dirty="0">
                <a:solidFill>
                  <a:srgbClr val="2B1D24"/>
                </a:solidFill>
              </a:rPr>
              <a:t>realistic sample data (600+ appointments, 40 customers, 10 staff) and 20+ report queries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457200" y="3264408"/>
            <a:ext cx="384048" cy="384048"/>
          </a:xfrm>
          <a:prstGeom prst="ellipse">
            <a:avLst/>
          </a:prstGeom>
          <a:solidFill>
            <a:srgbClr val="9C3D6B"/>
          </a:solidFill>
          <a:ln w="12700">
            <a:solidFill>
              <a:srgbClr val="9C3D6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57200" y="3264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1005840" y="3191256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C3D6B"/>
                </a:solidFill>
              </a:rPr>
              <a:t>Develop </a:t>
            </a:r>
            <a:pPr indent="0" marL="0">
              <a:buNone/>
            </a:pPr>
            <a:r>
              <a:rPr lang="en-US" sz="1500" dirty="0">
                <a:solidFill>
                  <a:srgbClr val="2B1D24"/>
                </a:solidFill>
              </a:rPr>
              <a:t>a Python (Streamlit) application for booking, packages, products, billing, payments and reports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457200" y="3977640"/>
            <a:ext cx="384048" cy="384048"/>
          </a:xfrm>
          <a:prstGeom prst="ellipse">
            <a:avLst/>
          </a:prstGeom>
          <a:solidFill>
            <a:srgbClr val="9C3D6B"/>
          </a:solidFill>
          <a:ln w="12700">
            <a:solidFill>
              <a:srgbClr val="9C3D6B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57200" y="3977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1005840" y="3904488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C3D6B"/>
                </a:solidFill>
              </a:rPr>
              <a:t>Validate </a:t>
            </a:r>
            <a:pPr indent="0" marL="0">
              <a:buNone/>
            </a:pPr>
            <a:r>
              <a:rPr lang="en-US" sz="1500" dirty="0">
                <a:solidFill>
                  <a:srgbClr val="2B1D24"/>
                </a:solidFill>
              </a:rPr>
              <a:t>the system with positive and negative test cases and a recorded demonstration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4A5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Scope, assumptions and users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457200" y="1051560"/>
            <a:ext cx="3977640" cy="3566160"/>
          </a:xfrm>
          <a:prstGeom prst="roundRect">
            <a:avLst>
              <a:gd name="adj" fmla="val 2564"/>
            </a:avLst>
          </a:prstGeom>
          <a:solidFill>
            <a:srgbClr val="F7EEF3"/>
          </a:solidFill>
          <a:ln w="12700">
            <a:solidFill>
              <a:srgbClr val="F7EEF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1143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1832"/>
                </a:solidFill>
              </a:rPr>
              <a:t>Scope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554480"/>
            <a:ext cx="3657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1D24"/>
                </a:solidFill>
              </a:rPr>
              <a:t>In: customers, services &amp; categories, staff, skills, weekly schedules, appointments, packages, memberships, product usage, bills, payments, reports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1D24"/>
                </a:solidFill>
              </a:rPr>
              <a:t>Out: online booking portal, payroll, supplier purchase orders, SMS reminders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1D24"/>
                </a:solidFill>
              </a:rPr>
              <a:t>Assumptions: single branch; open 09:00–21:00; 18% GST; prices in INR; one bill per visit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663440" y="1051560"/>
            <a:ext cx="4023360" cy="777240"/>
          </a:xfrm>
          <a:prstGeom prst="roundRect">
            <a:avLst>
              <a:gd name="adj" fmla="val 11765"/>
            </a:avLst>
          </a:prstGeom>
          <a:solidFill>
            <a:srgbClr val="EBD7E1"/>
          </a:solidFill>
          <a:ln w="12700">
            <a:solidFill>
              <a:srgbClr val="EBD7E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846320" y="105156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1832"/>
                </a:solidFill>
              </a:rPr>
              <a:t>Receptionist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2B1D24"/>
                </a:solidFill>
              </a:rPr>
              <a:t>registers customers, books, bills, takes payments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663440" y="1956816"/>
            <a:ext cx="4023360" cy="777240"/>
          </a:xfrm>
          <a:prstGeom prst="roundRect">
            <a:avLst>
              <a:gd name="adj" fmla="val 11765"/>
            </a:avLst>
          </a:prstGeom>
          <a:solidFill>
            <a:srgbClr val="F7EEF3"/>
          </a:solidFill>
          <a:ln w="12700">
            <a:solidFill>
              <a:srgbClr val="F7EEF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846320" y="1956816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1832"/>
                </a:solidFill>
              </a:rPr>
              <a:t>Salon manager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2B1D24"/>
                </a:solidFill>
              </a:rPr>
              <a:t>staff, skills, schedules, packages, stock, reports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663440" y="2862072"/>
            <a:ext cx="4023360" cy="777240"/>
          </a:xfrm>
          <a:prstGeom prst="roundRect">
            <a:avLst>
              <a:gd name="adj" fmla="val 11765"/>
            </a:avLst>
          </a:prstGeom>
          <a:solidFill>
            <a:srgbClr val="EBD7E1"/>
          </a:solidFill>
          <a:ln w="12700">
            <a:solidFill>
              <a:srgbClr val="EBD7E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846320" y="2862072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1832"/>
                </a:solidFill>
              </a:rPr>
              <a:t>Stylist / therapist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2B1D24"/>
                </a:solidFill>
              </a:rPr>
              <a:t>performs services, issues products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663440" y="3767328"/>
            <a:ext cx="4023360" cy="777240"/>
          </a:xfrm>
          <a:prstGeom prst="roundRect">
            <a:avLst>
              <a:gd name="adj" fmla="val 11765"/>
            </a:avLst>
          </a:prstGeom>
          <a:solidFill>
            <a:srgbClr val="F7EEF3"/>
          </a:solidFill>
          <a:ln w="12700">
            <a:solidFill>
              <a:srgbClr val="F7EEF3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846320" y="3767328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1832"/>
                </a:solidFill>
              </a:rPr>
              <a:t>Customer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2B1D24"/>
                </a:solidFill>
              </a:rPr>
              <a:t>indirect user — receives services, buys packages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4A5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 requirements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6400800"/>
                <a:gridCol w="1097280"/>
              </a:tblGrid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3D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3D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3D6B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FR-01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Register, search, update and delete customers with validation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F3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FR-02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Maintain service categories, services, durations and prices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FR-03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Maintain staff, skills (with proficiency) and weekly schedules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F3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FR-04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 an appointment with one or more services and time slots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FR-05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Assign only skilled, on-shift, free staff to each service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F3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FR-06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Reschedule, cancel, complete or mark no-show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FR-07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Sell packages; redeem sessions within limits and validity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F3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FR-08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 memberships; apply plan discount on bills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FR-09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Issue products against services; reduce stock; reorder alert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F3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FR-10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Generate bill (subtotal, discount, GST) for completed visits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FR-11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 full / partial payments without exceeding the bill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F3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FR-12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Reports: appointments, utilisation, popularity, packages, products, revenue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4A5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business rules the database must enforce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457200" y="1051560"/>
            <a:ext cx="2590800" cy="1668780"/>
          </a:xfrm>
          <a:prstGeom prst="roundRect">
            <a:avLst>
              <a:gd name="adj" fmla="val 5479"/>
            </a:avLst>
          </a:prstGeom>
          <a:solidFill>
            <a:srgbClr val="F7EEF3"/>
          </a:solidFill>
          <a:ln w="12700">
            <a:solidFill>
              <a:srgbClr val="F7EEF3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21792" y="1216152"/>
            <a:ext cx="384048" cy="384048"/>
          </a:xfrm>
          <a:prstGeom prst="ellipse">
            <a:avLst/>
          </a:prstGeom>
          <a:solidFill>
            <a:srgbClr val="9C3D6B"/>
          </a:solidFill>
          <a:ln w="12700">
            <a:solidFill>
              <a:srgbClr val="9C3D6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21792" y="1216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1115568" y="1179576"/>
            <a:ext cx="1813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1832"/>
                </a:solidFill>
              </a:rPr>
              <a:t>No overlapping staff appointments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1709928"/>
            <a:ext cx="22250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1D24"/>
                </a:solidFill>
              </a:rPr>
              <a:t>A staff member cannot have two services whose time ranges overlap on the same day.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276600" y="1051560"/>
            <a:ext cx="2590800" cy="1668780"/>
          </a:xfrm>
          <a:prstGeom prst="roundRect">
            <a:avLst>
              <a:gd name="adj" fmla="val 5479"/>
            </a:avLst>
          </a:prstGeom>
          <a:solidFill>
            <a:srgbClr val="F7EEF3"/>
          </a:solidFill>
          <a:ln w="12700">
            <a:solidFill>
              <a:srgbClr val="F7EEF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441192" y="1216152"/>
            <a:ext cx="384048" cy="384048"/>
          </a:xfrm>
          <a:prstGeom prst="ellipse">
            <a:avLst/>
          </a:prstGeom>
          <a:solidFill>
            <a:srgbClr val="9C3D6B"/>
          </a:solidFill>
          <a:ln w="12700">
            <a:solidFill>
              <a:srgbClr val="9C3D6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441192" y="1216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3934968" y="1179576"/>
            <a:ext cx="1813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1832"/>
                </a:solidFill>
              </a:rPr>
              <a:t>Skill match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3459480" y="1709928"/>
            <a:ext cx="22250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1D24"/>
                </a:solidFill>
              </a:rPr>
              <a:t>The assigned staff member must hold the skill the service requires.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096000" y="1051560"/>
            <a:ext cx="2590800" cy="1668780"/>
          </a:xfrm>
          <a:prstGeom prst="roundRect">
            <a:avLst>
              <a:gd name="adj" fmla="val 5479"/>
            </a:avLst>
          </a:prstGeom>
          <a:solidFill>
            <a:srgbClr val="F7EEF3"/>
          </a:solidFill>
          <a:ln w="12700">
            <a:solidFill>
              <a:srgbClr val="F7EEF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260592" y="1216152"/>
            <a:ext cx="384048" cy="384048"/>
          </a:xfrm>
          <a:prstGeom prst="ellipse">
            <a:avLst/>
          </a:prstGeom>
          <a:solidFill>
            <a:srgbClr val="9C3D6B"/>
          </a:solidFill>
          <a:ln w="12700">
            <a:solidFill>
              <a:srgbClr val="9C3D6B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260592" y="1216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6754368" y="1179576"/>
            <a:ext cx="1813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1832"/>
                </a:solidFill>
              </a:rPr>
              <a:t>Package-session limit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6278880" y="1709928"/>
            <a:ext cx="22250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1D24"/>
                </a:solidFill>
              </a:rPr>
              <a:t>Redemptions ≤ sessions included, before expiry, by the package owner.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57200" y="2948940"/>
            <a:ext cx="2590800" cy="1668780"/>
          </a:xfrm>
          <a:prstGeom prst="roundRect">
            <a:avLst>
              <a:gd name="adj" fmla="val 5479"/>
            </a:avLst>
          </a:prstGeom>
          <a:solidFill>
            <a:srgbClr val="F7EEF3"/>
          </a:solidFill>
          <a:ln w="12700">
            <a:solidFill>
              <a:srgbClr val="F7EEF3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21792" y="3113532"/>
            <a:ext cx="384048" cy="384048"/>
          </a:xfrm>
          <a:prstGeom prst="ellipse">
            <a:avLst/>
          </a:prstGeom>
          <a:solidFill>
            <a:srgbClr val="9C3D6B"/>
          </a:solidFill>
          <a:ln w="12700">
            <a:solidFill>
              <a:srgbClr val="9C3D6B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21792" y="31135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1115568" y="3076956"/>
            <a:ext cx="1813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1832"/>
                </a:solidFill>
              </a:rPr>
              <a:t>Valid appointment times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640080" y="3607308"/>
            <a:ext cx="22250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1D24"/>
                </a:solidFill>
              </a:rPr>
              <a:t>Inside 09:00–21:00 and the staff shift; slot length = service duration.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3276600" y="2948940"/>
            <a:ext cx="2590800" cy="1668780"/>
          </a:xfrm>
          <a:prstGeom prst="roundRect">
            <a:avLst>
              <a:gd name="adj" fmla="val 5479"/>
            </a:avLst>
          </a:prstGeom>
          <a:solidFill>
            <a:srgbClr val="F7EEF3"/>
          </a:solidFill>
          <a:ln w="12700">
            <a:solidFill>
              <a:srgbClr val="F7EEF3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3441192" y="3113532"/>
            <a:ext cx="384048" cy="384048"/>
          </a:xfrm>
          <a:prstGeom prst="ellipse">
            <a:avLst/>
          </a:prstGeom>
          <a:solidFill>
            <a:srgbClr val="9C3D6B"/>
          </a:solidFill>
          <a:ln w="12700">
            <a:solidFill>
              <a:srgbClr val="9C3D6B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3441192" y="31135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3934968" y="3076956"/>
            <a:ext cx="1813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1832"/>
                </a:solidFill>
              </a:rPr>
              <a:t>Payment limit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3459480" y="3607308"/>
            <a:ext cx="22250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1D24"/>
                </a:solidFill>
              </a:rPr>
              <a:t>Total paid on a bill can never exceed the bill total.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6096000" y="2948940"/>
            <a:ext cx="2590800" cy="1668780"/>
          </a:xfrm>
          <a:prstGeom prst="roundRect">
            <a:avLst>
              <a:gd name="adj" fmla="val 5479"/>
            </a:avLst>
          </a:prstGeom>
          <a:solidFill>
            <a:srgbClr val="F7EEF3"/>
          </a:solidFill>
          <a:ln w="12700">
            <a:solidFill>
              <a:srgbClr val="F7EEF3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260592" y="3113532"/>
            <a:ext cx="384048" cy="384048"/>
          </a:xfrm>
          <a:prstGeom prst="ellipse">
            <a:avLst/>
          </a:prstGeom>
          <a:solidFill>
            <a:srgbClr val="9C3D6B"/>
          </a:solidFill>
          <a:ln w="12700">
            <a:solidFill>
              <a:srgbClr val="9C3D6B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260592" y="31135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32" name="Text 29"/>
          <p:cNvSpPr txBox="1"/>
          <p:nvPr/>
        </p:nvSpPr>
        <p:spPr>
          <a:xfrm>
            <a:off x="6754368" y="3076956"/>
            <a:ext cx="1813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1832"/>
                </a:solidFill>
              </a:rPr>
              <a:t>Supporting rules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6278880" y="3607308"/>
            <a:ext cx="22250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1D24"/>
                </a:solidFill>
              </a:rPr>
              <a:t>Bill only completed visits; stock never negative; unique phone and email.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4A5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Conceptual design: ER diagram</a:t>
            </a:r>
            <a:endParaRPr lang="en-US" sz="2600" dirty="0"/>
          </a:p>
        </p:txBody>
      </p:sp>
      <p:pic>
        <p:nvPicPr>
          <p:cNvPr id="4" name="Image 0" descr="/home/claude/salon-spa-dbms/docs/er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60120"/>
            <a:ext cx="8229600" cy="35898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4A5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Entities and key relationships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017520"/>
                <a:gridCol w="1188720"/>
                <a:gridCol w="2194560"/>
              </a:tblGrid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Relationship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3D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Entities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3D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Cardinality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3D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3D6B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– Appointment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: 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visit belongs to one customer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F3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INCLUDES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Appointment – Appointment_Service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: 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visit, many services (weak)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PERFORMED_BY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Appointment_Service – Staff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: 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staff per service slot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F3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HAS_SKILL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Staff – Skill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 : 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attribute proficiency_level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 – Skill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: 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basis of skill-match rule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F3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WORKS_ON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Staff – Staff_Schedule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: 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weekly shifts (weak)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CONTAINS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Package – Service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 : 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attribute sessions_included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F3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BUYS / REDEEMS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– Customer_Package – Appt_Service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: N / 1 : 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package balance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SUBSCRIBES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– Membership_Plan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 : 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 / end dates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F3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USES_PRODUCT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Appointment_Service – Product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 : 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quantity_used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BILLED_AS / SETTLED_BY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Appointment – Bill – Payment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: 1 / 1 : 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1D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 payments allowed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F3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4A5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Initial relational schema: 18 tables</a:t>
            </a:r>
            <a:endParaRPr lang="en-US" sz="2600" dirty="0"/>
          </a:p>
        </p:txBody>
      </p:sp>
      <p:pic>
        <p:nvPicPr>
          <p:cNvPr id="4" name="Image 0" descr="/home/claude/salon-spa-dbms/docs/schema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4920" y="868680"/>
            <a:ext cx="3455627" cy="388620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457200" y="1051560"/>
            <a:ext cx="43891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9C3D6B"/>
                </a:solidFill>
              </a:rPr>
              <a:t>Masters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B1D24"/>
                </a:solidFill>
              </a:rPr>
              <a:t>customer, staff, skill, service_category, service, package, membership_plan, product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2B1D24"/>
                </a:solidFill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9C3D6B"/>
                </a:solidFill>
              </a:rPr>
              <a:t>M:N / associative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B1D24"/>
                </a:solidFill>
              </a:rPr>
              <a:t>staff_skill, package_item, customer_membership, customer_package, product_usage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2B1D24"/>
                </a:solidFill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9C3D6B"/>
                </a:solidFill>
              </a:rPr>
              <a:t>Transactions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B1D24"/>
                </a:solidFill>
              </a:rPr>
              <a:t>staff_schedule, appointment, appointment_service, bill, payment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2B1D24"/>
                </a:solidFill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2B1D24"/>
                </a:solidFill>
              </a:rPr>
              <a:t>Every table has a surrogate INT primary key (composite for the two pure link tables); 20 foreign keys connect them.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4A5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to Review 2 and Review 3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457200" y="1371600"/>
            <a:ext cx="1499616" cy="1828800"/>
          </a:xfrm>
          <a:prstGeom prst="roundRect">
            <a:avLst>
              <a:gd name="adj" fmla="val 6098"/>
            </a:avLst>
          </a:prstGeom>
          <a:solidFill>
            <a:srgbClr val="9C3D6B"/>
          </a:solidFill>
          <a:ln w="9525">
            <a:solidFill>
              <a:srgbClr val="9C3D6B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66928" y="1481328"/>
            <a:ext cx="1280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BD7E1"/>
                </a:solidFill>
              </a:rPr>
              <a:t>Week 7</a:t>
            </a:r>
            <a:endParaRPr lang="en-US" sz="11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Review 1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Problem, FRs, ER diagram, initial schema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2139696" y="1371600"/>
            <a:ext cx="1499616" cy="1828800"/>
          </a:xfrm>
          <a:prstGeom prst="roundRect">
            <a:avLst>
              <a:gd name="adj" fmla="val 6098"/>
            </a:avLst>
          </a:prstGeom>
          <a:solidFill>
            <a:srgbClr val="F7EEF3"/>
          </a:solidFill>
          <a:ln w="9525">
            <a:solidFill>
              <a:srgbClr val="9C3D6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2249424" y="1481328"/>
            <a:ext cx="1280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4A52"/>
                </a:solidFill>
              </a:rPr>
              <a:t>Weeks 8–10</a:t>
            </a:r>
            <a:endParaRPr lang="en-US" sz="1100" dirty="0"/>
          </a:p>
          <a:p>
            <a:pPr indent="0" marL="0">
              <a:buNone/>
            </a:pPr>
            <a:r>
              <a:rPr lang="en-US" sz="1600" b="1" dirty="0">
                <a:solidFill>
                  <a:srgbClr val="2B1D24"/>
                </a:solidFill>
              </a:rPr>
              <a:t>Build DB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2B1D24"/>
                </a:solidFill>
              </a:rPr>
              <a:t>3NF, DDL + constraints, triggers, sample data, views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822192" y="1371600"/>
            <a:ext cx="1499616" cy="1828800"/>
          </a:xfrm>
          <a:prstGeom prst="roundRect">
            <a:avLst>
              <a:gd name="adj" fmla="val 6098"/>
            </a:avLst>
          </a:prstGeom>
          <a:solidFill>
            <a:srgbClr val="F7EEF3"/>
          </a:solidFill>
          <a:ln w="9525">
            <a:solidFill>
              <a:srgbClr val="9C3D6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931920" y="1481328"/>
            <a:ext cx="1280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4A52"/>
                </a:solidFill>
              </a:rPr>
              <a:t>Week 11</a:t>
            </a:r>
            <a:endParaRPr lang="en-US" sz="1100" dirty="0"/>
          </a:p>
          <a:p>
            <a:pPr indent="0" marL="0">
              <a:buNone/>
            </a:pPr>
            <a:r>
              <a:rPr lang="en-US" sz="1600" b="1" dirty="0">
                <a:solidFill>
                  <a:srgbClr val="2B1D24"/>
                </a:solidFill>
              </a:rPr>
              <a:t>Review 2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2B1D24"/>
                </a:solidFill>
              </a:rPr>
              <a:t>Normalisation, data dictionary, queries &amp; prototype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504688" y="1371600"/>
            <a:ext cx="1499616" cy="1828800"/>
          </a:xfrm>
          <a:prstGeom prst="roundRect">
            <a:avLst>
              <a:gd name="adj" fmla="val 6098"/>
            </a:avLst>
          </a:prstGeom>
          <a:solidFill>
            <a:srgbClr val="F7EEF3"/>
          </a:solidFill>
          <a:ln w="9525">
            <a:solidFill>
              <a:srgbClr val="9C3D6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614416" y="1481328"/>
            <a:ext cx="1280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4A52"/>
                </a:solidFill>
              </a:rPr>
              <a:t>Weeks 12–15</a:t>
            </a:r>
            <a:endParaRPr lang="en-US" sz="1100" dirty="0"/>
          </a:p>
          <a:p>
            <a:pPr indent="0" marL="0">
              <a:buNone/>
            </a:pPr>
            <a:r>
              <a:rPr lang="en-US" sz="1600" b="1" dirty="0">
                <a:solidFill>
                  <a:srgbClr val="2B1D24"/>
                </a:solidFill>
              </a:rPr>
              <a:t>Build app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2B1D24"/>
                </a:solidFill>
              </a:rPr>
              <a:t>Python front-end, validation, testing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187184" y="1371600"/>
            <a:ext cx="1499616" cy="1828800"/>
          </a:xfrm>
          <a:prstGeom prst="roundRect">
            <a:avLst>
              <a:gd name="adj" fmla="val 6098"/>
            </a:avLst>
          </a:prstGeom>
          <a:solidFill>
            <a:srgbClr val="F7EEF3"/>
          </a:solidFill>
          <a:ln w="9525">
            <a:solidFill>
              <a:srgbClr val="9C3D6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296912" y="1481328"/>
            <a:ext cx="1280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4A52"/>
                </a:solidFill>
              </a:rPr>
              <a:t>Week 16</a:t>
            </a:r>
            <a:endParaRPr lang="en-US" sz="1100" dirty="0"/>
          </a:p>
          <a:p>
            <a:pPr indent="0" marL="0">
              <a:buNone/>
            </a:pPr>
            <a:r>
              <a:rPr lang="en-US" sz="1600" b="1" dirty="0">
                <a:solidFill>
                  <a:srgbClr val="2B1D24"/>
                </a:solidFill>
              </a:rPr>
              <a:t>Review 3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2B1D24"/>
                </a:solidFill>
              </a:rPr>
              <a:t>Final demo, report, video, GitHub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4A5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48640"/>
            <a:ext cx="804672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— questions?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78638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Problem: manual books cause staff clashes, skill errors, lost sessions and dues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Design: 14 entities, 16 relationships → 18 tables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Next: 3NF, constraints and triggers for the five business rules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low and Grace">
  <a:themeElements>
    <a:clrScheme name="Glow and Grace">
      <a:dk1>
        <a:srgbClr val="2B1D24"/>
      </a:dk1>
      <a:lt1>
        <a:srgbClr val="FFFFFF"/>
      </a:lt1>
      <a:dk2>
        <a:srgbClr val="4A1832"/>
      </a:dk2>
      <a:lt2>
        <a:srgbClr val="F7EEF3"/>
      </a:lt2>
      <a:accent1>
        <a:srgbClr val="9C3D6B"/>
      </a:accent1>
      <a:accent2>
        <a:srgbClr val="D98BB0"/>
      </a:accent2>
      <a:accent3>
        <a:srgbClr val="B7791F"/>
      </a:accent3>
      <a:accent4>
        <a:srgbClr val="5B4A52"/>
      </a:accent4>
      <a:accent5>
        <a:srgbClr val="EBD7E1"/>
      </a:accent5>
      <a:accent6>
        <a:srgbClr val="2E7D5B"/>
      </a:accent6>
      <a:hlink>
        <a:srgbClr val="9C3D6B"/>
      </a:hlink>
      <a:folHlink>
        <a:srgbClr val="6D2E46"/>
      </a:folHlink>
    </a:clrScheme>
    <a:fontScheme name="Glow and Gra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Woxsen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Review 1 – Problem, Requirements and ER Design</dc:title>
  <dc:subject>PptxGenJS Presentation</dc:subject>
  <dc:creator>Devyani Pawar</dc:creator>
  <cp:lastModifiedBy>Devyani Pawar</cp:lastModifiedBy>
  <cp:revision>1</cp:revision>
  <dcterms:created xsi:type="dcterms:W3CDTF">2026-10-08T10:44:46Z</dcterms:created>
  <dcterms:modified xsi:type="dcterms:W3CDTF">2026-10-08T10:44:46Z</dcterms:modified>
</cp:coreProperties>
</file>