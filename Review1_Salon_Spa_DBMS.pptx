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1.xml"/>
  <Override ContentType="application/vnd.openxmlformats-officedocument.theme+xml" PartName="/ppt/theme/theme1.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Lst>
  <p:sldSz cy="6858000" cx="12192000"/>
  <p:notesSz cx="6858000" cy="12192000"/>
  <p:defaultTextStyle>
    <a:defPPr lvl="0"/>
    <a:lvl1pPr defTabSz="914400" eaLnBrk="1" hangingPunct="1" latinLnBrk="0" lvl="0" marL="0" rtl="0" algn="l">
      <a:defRPr kern="1200" sz="1800">
        <a:solidFill>
          <a:schemeClr val="tx1"/>
        </a:solidFill>
        <a:latin typeface="+mn-lt"/>
        <a:ea typeface="+mn-ea"/>
        <a:cs typeface="+mn-cs"/>
      </a:defRPr>
    </a:lvl1pPr>
    <a:lvl2pPr defTabSz="914400" eaLnBrk="1" hangingPunct="1" latinLnBrk="0" lvl="1" marL="457200" rtl="0" algn="l">
      <a:defRPr kern="1200" sz="1800">
        <a:solidFill>
          <a:schemeClr val="tx1"/>
        </a:solidFill>
        <a:latin typeface="+mn-lt"/>
        <a:ea typeface="+mn-ea"/>
        <a:cs typeface="+mn-cs"/>
      </a:defRPr>
    </a:lvl2pPr>
    <a:lvl3pPr defTabSz="914400" eaLnBrk="1" hangingPunct="1" latinLnBrk="0" lvl="2" marL="914400" rtl="0" algn="l">
      <a:defRPr kern="1200" sz="1800">
        <a:solidFill>
          <a:schemeClr val="tx1"/>
        </a:solidFill>
        <a:latin typeface="+mn-lt"/>
        <a:ea typeface="+mn-ea"/>
        <a:cs typeface="+mn-cs"/>
      </a:defRPr>
    </a:lvl3pPr>
    <a:lvl4pPr defTabSz="914400" eaLnBrk="1" hangingPunct="1" latinLnBrk="0" lvl="3" marL="1371600" rtl="0" algn="l">
      <a:defRPr kern="1200" sz="1800">
        <a:solidFill>
          <a:schemeClr val="tx1"/>
        </a:solidFill>
        <a:latin typeface="+mn-lt"/>
        <a:ea typeface="+mn-ea"/>
        <a:cs typeface="+mn-cs"/>
      </a:defRPr>
    </a:lvl4pPr>
    <a:lvl5pPr defTabSz="914400" eaLnBrk="1" hangingPunct="1" latinLnBrk="0" lvl="4" marL="1828800" rtl="0" algn="l">
      <a:defRPr kern="1200" sz="1800">
        <a:solidFill>
          <a:schemeClr val="tx1"/>
        </a:solidFill>
        <a:latin typeface="+mn-lt"/>
        <a:ea typeface="+mn-ea"/>
        <a:cs typeface="+mn-cs"/>
      </a:defRPr>
    </a:lvl5pPr>
    <a:lvl6pPr defTabSz="914400" eaLnBrk="1" hangingPunct="1" latinLnBrk="0" lvl="5" marL="2286000" rtl="0" algn="l">
      <a:defRPr kern="1200" sz="1800">
        <a:solidFill>
          <a:schemeClr val="tx1"/>
        </a:solidFill>
        <a:latin typeface="+mn-lt"/>
        <a:ea typeface="+mn-ea"/>
        <a:cs typeface="+mn-cs"/>
      </a:defRPr>
    </a:lvl6pPr>
    <a:lvl7pPr defTabSz="914400" eaLnBrk="1" hangingPunct="1" latinLnBrk="0" lvl="6" marL="2743200" rtl="0" algn="l">
      <a:defRPr kern="1200" sz="1800">
        <a:solidFill>
          <a:schemeClr val="tx1"/>
        </a:solidFill>
        <a:latin typeface="+mn-lt"/>
        <a:ea typeface="+mn-ea"/>
        <a:cs typeface="+mn-cs"/>
      </a:defRPr>
    </a:lvl7pPr>
    <a:lvl8pPr defTabSz="914400" eaLnBrk="1" hangingPunct="1" latinLnBrk="0" lvl="7" marL="3200400" rtl="0" algn="l">
      <a:defRPr kern="1200" sz="1800">
        <a:solidFill>
          <a:schemeClr val="tx1"/>
        </a:solidFill>
        <a:latin typeface="+mn-lt"/>
        <a:ea typeface="+mn-ea"/>
        <a:cs typeface="+mn-cs"/>
      </a:defRPr>
    </a:lvl8pPr>
    <a:lvl9pPr defTabSz="914400" eaLnBrk="1" hangingPunct="1" latinLnBrk="0" lvl="8" marL="3657600" rtl="0" algn="l">
      <a:defRPr kern="1200" sz="1800">
        <a:solidFill>
          <a:schemeClr val="tx1"/>
        </a:solidFill>
        <a:latin typeface="+mn-lt"/>
        <a:ea typeface="+mn-ea"/>
        <a:cs typeface="+mn-cs"/>
      </a:defRPr>
    </a:lvl9pPr>
  </p:defaultTextStyle>
</p:presentation>
</file>

<file path=ppt/presProps1.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1.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My name is Devyani Pawar, roll number 25WU0102069, and this is my Review 1 presentation for the project titled "Design and Implementation of a Database Management System for Salon and Spa Appointment Management." Over the next few minutes, I'll walk you through the problem we're solving, the scope and objectives of the system, the users it serves, and the conceptual design we've arrived at — including the ER diagram and an initial relational schema.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quick roadmap of what I'll cover today. I'll start with the problem we identified and why a database-backed system is needed. Then I'll define the scope and objectives of the project. After that, I'll talk about the users of the system and the functional requirements we've gathered. Finally, I'll present the conceptual design — the key entities and the ER diagram — followed by the initial relational schema showing our proposed tables and relationships.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Salons and spas today manage a lot of moving parts — multiple staff members with different skill sets, a wide service menu, customer packages, product inventory, and billing — but most still rely on manual registers or generic calendar apps to handle appointments. This creates real, recurring problems. First, staff can get double-booked because there's no automatic check for overlapping appointment times. Second, customers can end up assigned to staff who aren't actually trained for the requested service, since there's no skill-matching. Third, package session balances and the products used during a service often go untracked. And fourth, billing — including discounts and partial payments — is done manually, which is slow and error-prone. These gaps in coordination and data integrity are exactly what motivate building a dedicated, database-backed appointment management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keep the project focused, we clearly defined what's in scope and what isn't for this system. In scope: customer registration, a service catalogue organized by category, staff profiles with skills and weekly schedules, appointment booking with skill-matched staff, packages and memberships with session tracking, product usage recorded per appointment, and full billing with discounts, taxes, and payments — along with operational reports like utilization, service popularity, and revenue. Out of scope for Review 1: multi-branch or franchise management, online payment gateway integration, a mobile app front-end (web/desktop only), marketing automation, HR and payroll, and integration with third-party POS or accounting systems. This keeps our first version tight and achievable.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six core objectives. One, model the domain accurately — capturing customers, services, staff, skills, schedules, appointments, packages, memberships, products, and billing as a normalized relational schema. Two, eliminate scheduling conflicts by enforcing no overlapping staff appointments, valid appointment times, and skill-based staff assignment through database constraints. Three, guarantee data integrity using keys, UNIQUE, NOT NULL, CHECK, and DEFAULT constraints, and normalizing up to Third Normal Form. Four, track packages, stock, and revenue accurately. Five, enable actionable reporting through joins, aggregates, nested queries, and views. Six, deliver a usable front-end application in Java or Python for booking, billing, and reporting, with input validation and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serves five main types of users. Customers register, browse services and packages, book appointments, and view their bills and payment history. Salon staff or stylists view their assigned schedule and appointments, and record service completion and product usage. Receptionists handle walk-ins, book and reassign appointments, and manage billing and payment collection. The salon manager or admin manages staff, skills, schedules, the service catalogue, and packages, and reviews operational reports. And the owner reviews revenue, staff utilization, and service popularity reports to make business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functional requirements fall into four groups. Customer and catalogue: register/update customer profiles, maintain service categories and the service menu with pricing, and maintain staff profiles and skill sets. Scheduling and appointments: maintain weekly staff schedules, book appointments only with skill-matched, available staff, and reject overlapping bookings or invalid appointment times. Packages and products: sell packages/memberships while tracking remaining sessions, and record product usage per appointment against stock. Billing and reporting: generate bills with discounts, taxes, and payment limits, record full or partial payments, and produce reports covering appointments, staff utilization, service popularity, package balances, product use, and revenue.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identified thirteen core entities. Customer represents the people booking services. Category groups services — hair, skin, spa. Service is the individual offering with price and duration. Staff are the employees, and Skill represents the competencies required for a service. Schedule captures staff availability. Appointment is the central transaction entity. Package is a bundle of sessions sold at a fixed price, and Membership represents a customer's purchase of a package. Product covers consumables, and Product Usage tracks what was consumed in an appointment. Bill captures charges for an appointment, and Payment records amounts paid against that bill.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conceptual ER diagram, bringing all thirteen entities together along with the Staff_Skill bridge table that resolves the many-to-many relationship between staff and skills. Category feeds into Service; Staff connects to Schedule and, through Staff_Skill, to Skill. Customer, Staff, and Service all connect into Appointment, which sits at the center of the model since it's referenced by both Product Usage and Bill. Bill connects to Payment. This lets us trace every booking and every payment back to a customer, staff member, and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summary table of every relationship's cardinality. Most are one-to-many — one category has many services, one customer has many appointments, one bill can have many payments to support partial payments. The exception is Staff to Skill, which is many-to-many, resolved by the Staff_Skill junction table. Appointment to Bill is one-to-one, since each completed appointment generates exactly one bill. Getting these cardinalities right lets us correctly enforce rules like skill-matching and no-overlap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first six tables. Customer holds core customer details, with phone marked UNIQUE. Category and Service represent our service catalogue, with Service carrying a foreign key to Category and a CHECK constraint ensuring price is greater than zero. Staff holds employee details with a UNIQUE phone number. Skill, along with the Staff_Skill bridge table, implements the many-to-many relationship between staff and skills — Staff_Skill uses a composite primary key of staff_id and skill_id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tables center around scheduling and transactions. Appointment is our central table, pulling in foreign keys from Customer, Staff, and Service, with CHECK constraints on start/end times and a DEFAULT status. Schedule records staff availability. Package defines bundled sessions with CHECK constraints on total sessions and price. Membership links a customer to a purchased package, tracking sessions used against the total, starting at DEFAULT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tables handle billing and inventory. Bill captures charges for an appointment, referencing the appointment and customer, with a CHECK constraint on total amount. Payment references the bill and records each amount paid, supporting multiple partial payments per bill. Product holds inventory items with checks on price and stock quantity, and Product Usage logs which products, and how much, were consumed during a specific appointment. Together these fourteen tables form the complete initial schema.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table structure, five critical business rules need enforcing. No staff member should be booked for two appointments with overlapping time ranges. Staff assigned to an appointment must possess the skill the service requires. Sessions used on a membership can never exceed the package's total sessions. Appointments must fall within staff schedule hours, with end time after start time. And the total of all payments against a bill can never exceed that bill's total amount. These rules guide our constraint design in the next phase.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in this review we've delivered problem identification, scope and objectives, identified users and functional requirements, completed the conceptual design with a full ER diagram, and produced an initial relational schema covering fourteen proposed tables with primary and foreign keys. Looking ahead to Review 2 in Week 11: normalize to 3NF with functional dependencies and a data dictionary, write DDL scripts enforcing all five business rules, populate sample data and demonstrate joins/subqueries/aggregation/views, and show a working database prototype.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time. That concludes my Review 1 presentation. I'd be happy to take any questions or feedback you may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ANK">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438"/>
        </a:solidFill>
      </p:bgPr>
    </p:bg>
    <p:spTree>
      <p:nvGrpSpPr>
        <p:cNvPr id="1" name=""/>
        <p:cNvGrpSpPr/>
        <p:nvPr/>
      </p:nvGrpSpPr>
      <p:grpSpPr>
        <a:xfrm>
          <a:off x="0" y="0"/>
          <a:ext cx="0" cy="0"/>
          <a:chOff x="0" y="0"/>
          <a:chExt cx="0" cy="0"/>
        </a:xfrm>
      </p:grpSpPr>
      <p:sp>
        <p:nvSpPr>
          <p:cNvPr id="2" name="Shape 0"/>
          <p:cNvSpPr/>
          <p:nvPr/>
        </p:nvSpPr>
        <p:spPr>
          <a:xfrm>
            <a:off x="-2103120" y="3931920"/>
            <a:ext cx="5943600" cy="5943600"/>
          </a:xfrm>
          <a:prstGeom prst="ellipse">
            <a:avLst/>
          </a:prstGeom>
          <a:solidFill>
            <a:srgbClr val="17282B"/>
          </a:solidFill>
          <a:ln/>
        </p:spPr>
      </p:sp>
      <p:sp>
        <p:nvSpPr>
          <p:cNvPr id="3" name="Shape 1"/>
          <p:cNvSpPr/>
          <p:nvPr/>
        </p:nvSpPr>
        <p:spPr>
          <a:xfrm>
            <a:off x="8778240" y="-2377440"/>
            <a:ext cx="5943600" cy="5943600"/>
          </a:xfrm>
          <a:prstGeom prst="ellipse">
            <a:avLst/>
          </a:prstGeom>
          <a:solidFill>
            <a:srgbClr val="17282B"/>
          </a:solidFill>
          <a:ln/>
        </p:spPr>
      </p:sp>
      <p:sp>
        <p:nvSpPr>
          <p:cNvPr id="4" name="Shape 2"/>
          <p:cNvSpPr/>
          <p:nvPr/>
        </p:nvSpPr>
        <p:spPr>
          <a:xfrm>
            <a:off x="822960" y="685800"/>
            <a:ext cx="960120" cy="960120"/>
          </a:xfrm>
          <a:prstGeom prst="ellipse">
            <a:avLst/>
          </a:prstGeom>
          <a:solidFill>
            <a:srgbClr val="6D2E46"/>
          </a:solidFill>
          <a:ln/>
        </p:spPr>
      </p:sp>
      <p:pic>
        <p:nvPicPr>
          <p:cNvPr id="5" name="Image 0" descr="/tmp/claude-0/-home-claude/12ac4f2c-a806-5c6e-9789-8d976e37a451/scratchpad/salon_ppt/icons/spa.png">    </p:cNvPr>
          <p:cNvPicPr>
            <a:picLocks noChangeAspect="1"/>
          </p:cNvPicPr>
          <p:nvPr/>
        </p:nvPicPr>
        <p:blipFill>
          <a:blip r:embed="rId1"/>
          <a:stretch>
            <a:fillRect/>
          </a:stretch>
        </p:blipFill>
        <p:spPr>
          <a:xfrm>
            <a:off x="1033272" y="896112"/>
            <a:ext cx="548640" cy="548640"/>
          </a:xfrm>
          <a:prstGeom prst="rect">
            <a:avLst/>
          </a:prstGeom>
        </p:spPr>
      </p:pic>
      <p:sp>
        <p:nvSpPr>
          <p:cNvPr id="6" name="Text 3"/>
          <p:cNvSpPr/>
          <p:nvPr/>
        </p:nvSpPr>
        <p:spPr>
          <a:xfrm>
            <a:off x="822960" y="1874520"/>
            <a:ext cx="10515600" cy="320040"/>
          </a:xfrm>
          <a:prstGeom prst="rect">
            <a:avLst/>
          </a:prstGeom>
          <a:noFill/>
          <a:ln/>
        </p:spPr>
        <p:txBody>
          <a:bodyPr wrap="square" rtlCol="0" anchor="ctr"/>
          <a:lstStyle/>
          <a:p>
            <a:pPr indent="0" marL="0">
              <a:buNone/>
            </a:pPr>
            <a:r>
              <a:rPr lang="en-US" sz="1300" b="1" spc="200" kern="0" dirty="0">
                <a:solidFill>
                  <a:srgbClr val="84B59F"/>
                </a:solidFill>
                <a:latin typeface="Calibri" pitchFamily="34" charset="0"/>
                <a:ea typeface="Calibri" pitchFamily="34" charset="-122"/>
                <a:cs typeface="Calibri" pitchFamily="34" charset="-120"/>
              </a:rPr>
              <a:t>WOXSEN UNIVERSITY  ·  SCHOOL OF TECHNOLOGY  ·  AIML RHINOS</a:t>
            </a:r>
            <a:endParaRPr lang="en-US" sz="1300" dirty="0"/>
          </a:p>
        </p:txBody>
      </p:sp>
      <p:sp>
        <p:nvSpPr>
          <p:cNvPr id="7" name="Text 4"/>
          <p:cNvSpPr/>
          <p:nvPr/>
        </p:nvSpPr>
        <p:spPr>
          <a:xfrm>
            <a:off x="822960" y="2286000"/>
            <a:ext cx="10241280" cy="2148840"/>
          </a:xfrm>
          <a:prstGeom prst="rect">
            <a:avLst/>
          </a:prstGeom>
          <a:noFill/>
          <a:ln/>
        </p:spPr>
        <p:txBody>
          <a:bodyPr wrap="square" rtlCol="0" anchor="ctr"/>
          <a:lstStyle/>
          <a:p>
            <a:pPr indent="0" marL="0">
              <a:lnSpc>
                <a:spcPct val="112000"/>
              </a:lnSpc>
              <a:buNone/>
            </a:pPr>
            <a:r>
              <a:rPr lang="en-US" sz="3400" b="1" dirty="0">
                <a:solidFill>
                  <a:srgbClr val="FFFFFF"/>
                </a:solidFill>
                <a:latin typeface="Cambria" pitchFamily="34" charset="0"/>
                <a:ea typeface="Cambria" pitchFamily="34" charset="-122"/>
                <a:cs typeface="Cambria" pitchFamily="34" charset="-120"/>
              </a:rPr>
              <a:t>Design and Implementation of a Database</a:t>
            </a:r>
            <a:endParaRPr lang="en-US" sz="3400" dirty="0"/>
          </a:p>
          <a:p>
            <a:pPr indent="0" marL="0">
              <a:lnSpc>
                <a:spcPct val="112000"/>
              </a:lnSpc>
              <a:buNone/>
            </a:pPr>
            <a:r>
              <a:rPr lang="en-US" sz="3400" b="1" dirty="0">
                <a:solidFill>
                  <a:srgbClr val="FFFFFF"/>
                </a:solidFill>
                <a:latin typeface="Cambria" pitchFamily="34" charset="0"/>
                <a:ea typeface="Cambria" pitchFamily="34" charset="-122"/>
                <a:cs typeface="Cambria" pitchFamily="34" charset="-120"/>
              </a:rPr>
              <a:t>Management System for Salon &amp; Spa</a:t>
            </a:r>
            <a:endParaRPr lang="en-US" sz="3400" dirty="0"/>
          </a:p>
          <a:p>
            <a:pPr indent="0" marL="0">
              <a:lnSpc>
                <a:spcPct val="112000"/>
              </a:lnSpc>
              <a:buNone/>
            </a:pPr>
            <a:r>
              <a:rPr lang="en-US" sz="3400" b="1" dirty="0">
                <a:solidFill>
                  <a:srgbClr val="FFFFFF"/>
                </a:solidFill>
                <a:latin typeface="Cambria" pitchFamily="34" charset="0"/>
                <a:ea typeface="Cambria" pitchFamily="34" charset="-122"/>
                <a:cs typeface="Cambria" pitchFamily="34" charset="-120"/>
              </a:rPr>
              <a:t>Appointment Management</a:t>
            </a:r>
            <a:endParaRPr lang="en-US" sz="3400" dirty="0"/>
          </a:p>
        </p:txBody>
      </p:sp>
      <p:sp>
        <p:nvSpPr>
          <p:cNvPr id="8" name="Shape 5"/>
          <p:cNvSpPr/>
          <p:nvPr/>
        </p:nvSpPr>
        <p:spPr>
          <a:xfrm>
            <a:off x="841248" y="4572000"/>
            <a:ext cx="2194560" cy="0"/>
          </a:xfrm>
          <a:prstGeom prst="line">
            <a:avLst/>
          </a:prstGeom>
          <a:noFill/>
          <a:ln w="38100">
            <a:solidFill>
              <a:srgbClr val="6D2E46"/>
            </a:solidFill>
            <a:prstDash val="solid"/>
          </a:ln>
        </p:spPr>
      </p:sp>
      <p:sp>
        <p:nvSpPr>
          <p:cNvPr id="9" name="Text 6"/>
          <p:cNvSpPr txBox="1"/>
          <p:nvPr/>
        </p:nvSpPr>
        <p:spPr>
          <a:xfrm>
            <a:off x="822960" y="4754880"/>
            <a:ext cx="10058400" cy="41148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Review 1</a:t>
            </a:r>
            <a:pPr indent="0" marL="0">
              <a:buNone/>
            </a:pPr>
            <a:r>
              <a:rPr lang="en-US" sz="1600" dirty="0">
                <a:solidFill>
                  <a:srgbClr val="AFC6C2"/>
                </a:solidFill>
                <a:latin typeface="Calibri" pitchFamily="34" charset="0"/>
                <a:ea typeface="Calibri" pitchFamily="34" charset="-122"/>
                <a:cs typeface="Calibri" pitchFamily="34" charset="-120"/>
              </a:rPr>
              <a:t>  —  Requirements, Scope &amp; Conceptual Design</a:t>
            </a:r>
            <a:endParaRPr lang="en-US" sz="1600" dirty="0"/>
          </a:p>
        </p:txBody>
      </p:sp>
      <p:sp>
        <p:nvSpPr>
          <p:cNvPr id="10" name="Text 7"/>
          <p:cNvSpPr txBox="1"/>
          <p:nvPr/>
        </p:nvSpPr>
        <p:spPr>
          <a:xfrm>
            <a:off x="822960" y="5623560"/>
            <a:ext cx="7315200" cy="36576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Devyani Pawar</a:t>
            </a:r>
            <a:pPr indent="0" marL="0">
              <a:buNone/>
            </a:pPr>
            <a:r>
              <a:rPr lang="en-US" sz="1400" dirty="0">
                <a:solidFill>
                  <a:srgbClr val="AFC6C2"/>
                </a:solidFill>
                <a:latin typeface="Calibri" pitchFamily="34" charset="0"/>
                <a:ea typeface="Calibri" pitchFamily="34" charset="-122"/>
                <a:cs typeface="Calibri" pitchFamily="34" charset="-120"/>
              </a:rPr>
              <a:t>   |   Roll No. 25WU0102069</a:t>
            </a:r>
            <a:endParaRPr lang="en-US" sz="1400" dirty="0"/>
          </a:p>
        </p:txBody>
      </p:sp>
      <p:sp>
        <p:nvSpPr>
          <p:cNvPr id="11" name="Text 8"/>
          <p:cNvSpPr/>
          <p:nvPr/>
        </p:nvSpPr>
        <p:spPr>
          <a:xfrm>
            <a:off x="822960" y="5989320"/>
            <a:ext cx="7315200" cy="320040"/>
          </a:xfrm>
          <a:prstGeom prst="rect">
            <a:avLst/>
          </a:prstGeom>
          <a:noFill/>
          <a:ln/>
        </p:spPr>
        <p:txBody>
          <a:bodyPr wrap="square" rtlCol="0" anchor="ctr"/>
          <a:lstStyle/>
          <a:p>
            <a:pPr indent="0" marL="0">
              <a:buNone/>
            </a:pPr>
            <a:r>
              <a:rPr lang="en-US" sz="1200" dirty="0">
                <a:solidFill>
                  <a:srgbClr val="AFC6C2"/>
                </a:solidFill>
                <a:latin typeface="Calibri" pitchFamily="34" charset="0"/>
                <a:ea typeface="Calibri" pitchFamily="34" charset="-122"/>
                <a:cs typeface="Calibri" pitchFamily="34" charset="-120"/>
              </a:rPr>
              <a:t>Week 7  ·  September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384048"/>
            <a:ext cx="8229600" cy="292608"/>
          </a:xfrm>
          <a:prstGeom prst="rect">
            <a:avLst/>
          </a:prstGeom>
          <a:noFill/>
          <a:ln/>
        </p:spPr>
        <p:txBody>
          <a:bodyPr wrap="square" rtlCol="0" anchor="ctr"/>
          <a:lstStyle/>
          <a:p>
            <a:pPr indent="0" marL="0">
              <a:buNone/>
            </a:pPr>
            <a:r>
              <a:rPr lang="en-US" sz="1200" b="1" spc="200" kern="0" dirty="0">
                <a:solidFill>
                  <a:srgbClr val="6D2E46"/>
                </a:solidFill>
                <a:latin typeface="Calibri" pitchFamily="34" charset="0"/>
                <a:ea typeface="Calibri" pitchFamily="34" charset="-122"/>
                <a:cs typeface="Calibri" pitchFamily="34" charset="-120"/>
              </a:rPr>
              <a:t>REVIEW 1 OVERVIEW</a:t>
            </a:r>
            <a:endParaRPr lang="en-US" sz="1200" dirty="0"/>
          </a:p>
        </p:txBody>
      </p:sp>
      <p:sp>
        <p:nvSpPr>
          <p:cNvPr id="3" name="Text 1"/>
          <p:cNvSpPr txBox="1"/>
          <p:nvPr/>
        </p:nvSpPr>
        <p:spPr>
          <a:xfrm>
            <a:off x="502920" y="658368"/>
            <a:ext cx="9692640" cy="685800"/>
          </a:xfrm>
          <a:prstGeom prst="rect">
            <a:avLst/>
          </a:prstGeom>
          <a:noFill/>
          <a:ln/>
        </p:spPr>
        <p:txBody>
          <a:bodyPr wrap="square" rtlCol="0" anchor="ctr"/>
          <a:lstStyle/>
          <a:p>
            <a:pPr indent="0" marL="0">
              <a:buNone/>
            </a:pPr>
            <a:r>
              <a:rPr lang="en-US" sz="3000" b="1" dirty="0">
                <a:solidFill>
                  <a:srgbClr val="27343A"/>
                </a:solidFill>
                <a:latin typeface="Cambria" pitchFamily="34" charset="0"/>
                <a:ea typeface="Cambria" pitchFamily="34" charset="-122"/>
                <a:cs typeface="Cambria" pitchFamily="34" charset="-120"/>
              </a:rPr>
              <a:t>What We'll Cover</a:t>
            </a:r>
            <a:endParaRPr lang="en-US" sz="3000" dirty="0"/>
          </a:p>
        </p:txBody>
      </p:sp>
      <p:sp>
        <p:nvSpPr>
          <p:cNvPr id="4" name="Shape 2"/>
          <p:cNvSpPr/>
          <p:nvPr/>
        </p:nvSpPr>
        <p:spPr>
          <a:xfrm>
            <a:off x="11119104" y="457200"/>
            <a:ext cx="566928" cy="566928"/>
          </a:xfrm>
          <a:prstGeom prst="ellipse">
            <a:avLst/>
          </a:prstGeom>
          <a:solidFill>
            <a:srgbClr val="6D2E46"/>
          </a:solidFill>
          <a:ln/>
        </p:spPr>
      </p:sp>
      <p:pic>
        <p:nvPicPr>
          <p:cNvPr id="5" name="Image 0" descr="/tmp/claude-0/-home-claude/12ac4f2c-a806-5c6e-9789-8d976e37a451/scratchpad/salon_ppt/icons/agenda.png">    </p:cNvPr>
          <p:cNvPicPr>
            <a:picLocks noChangeAspect="1"/>
          </p:cNvPicPr>
          <p:nvPr/>
        </p:nvPicPr>
        <p:blipFill>
          <a:blip r:embed="rId1"/>
          <a:stretch>
            <a:fillRect/>
          </a:stretch>
        </p:blipFill>
        <p:spPr>
          <a:xfrm>
            <a:off x="11187135" y="525231"/>
            <a:ext cx="430865" cy="430865"/>
          </a:xfrm>
          <a:prstGeom prst="rect">
            <a:avLst/>
          </a:prstGeom>
        </p:spPr>
      </p:pic>
      <p:sp>
        <p:nvSpPr>
          <p:cNvPr id="6" name="Shape 3"/>
          <p:cNvSpPr/>
          <p:nvPr/>
        </p:nvSpPr>
        <p:spPr>
          <a:xfrm>
            <a:off x="502920" y="1600200"/>
            <a:ext cx="11155680" cy="749808"/>
          </a:xfrm>
          <a:prstGeom prst="roundRect">
            <a:avLst>
              <a:gd name="adj" fmla="val 8537"/>
            </a:avLst>
          </a:prstGeom>
          <a:solidFill>
            <a:srgbClr val="F3EFE7"/>
          </a:solidFill>
          <a:ln/>
        </p:spPr>
      </p:sp>
      <p:sp>
        <p:nvSpPr>
          <p:cNvPr id="7" name="Text 4"/>
          <p:cNvSpPr/>
          <p:nvPr/>
        </p:nvSpPr>
        <p:spPr>
          <a:xfrm>
            <a:off x="777240" y="1600200"/>
            <a:ext cx="822960" cy="749808"/>
          </a:xfrm>
          <a:prstGeom prst="rect">
            <a:avLst/>
          </a:prstGeom>
          <a:noFill/>
          <a:ln/>
        </p:spPr>
        <p:txBody>
          <a:bodyPr wrap="square" rtlCol="0" anchor="ctr"/>
          <a:lstStyle/>
          <a:p>
            <a:pPr indent="0" marL="0">
              <a:buNone/>
            </a:pPr>
            <a:r>
              <a:rPr lang="en-US" sz="2600" b="1" dirty="0">
                <a:solidFill>
                  <a:srgbClr val="84B59F"/>
                </a:solidFill>
                <a:latin typeface="Cambria" pitchFamily="34" charset="0"/>
                <a:ea typeface="Cambria" pitchFamily="34" charset="-122"/>
                <a:cs typeface="Cambria" pitchFamily="34" charset="-120"/>
              </a:rPr>
              <a:t>01</a:t>
            </a:r>
            <a:endParaRPr lang="en-US" sz="2600" dirty="0"/>
          </a:p>
        </p:txBody>
      </p:sp>
      <p:sp>
        <p:nvSpPr>
          <p:cNvPr id="8" name="Text 5"/>
          <p:cNvSpPr/>
          <p:nvPr/>
        </p:nvSpPr>
        <p:spPr>
          <a:xfrm>
            <a:off x="1691640" y="1600200"/>
            <a:ext cx="4023360" cy="749808"/>
          </a:xfrm>
          <a:prstGeom prst="rect">
            <a:avLst/>
          </a:prstGeom>
          <a:noFill/>
          <a:ln/>
        </p:spPr>
        <p:txBody>
          <a:bodyPr wrap="square" rtlCol="0" anchor="ctr"/>
          <a:lstStyle/>
          <a:p>
            <a:pPr indent="0" marL="0">
              <a:buNone/>
            </a:pPr>
            <a:r>
              <a:rPr lang="en-US" sz="1600" b="1" dirty="0">
                <a:solidFill>
                  <a:srgbClr val="27343A"/>
                </a:solidFill>
                <a:latin typeface="Calibri" pitchFamily="34" charset="0"/>
                <a:ea typeface="Calibri" pitchFamily="34" charset="-122"/>
                <a:cs typeface="Calibri" pitchFamily="34" charset="-120"/>
              </a:rPr>
              <a:t>Problem Identification</a:t>
            </a:r>
            <a:endParaRPr lang="en-US" sz="1600" dirty="0"/>
          </a:p>
        </p:txBody>
      </p:sp>
      <p:sp>
        <p:nvSpPr>
          <p:cNvPr id="9" name="Text 6"/>
          <p:cNvSpPr/>
          <p:nvPr/>
        </p:nvSpPr>
        <p:spPr>
          <a:xfrm>
            <a:off x="5806440" y="1600200"/>
            <a:ext cx="5669280" cy="749808"/>
          </a:xfrm>
          <a:prstGeom prst="rect">
            <a:avLst/>
          </a:prstGeom>
          <a:noFill/>
          <a:ln/>
        </p:spPr>
        <p:txBody>
          <a:bodyPr wrap="square" rtlCol="0" anchor="ctr"/>
          <a:lstStyle/>
          <a:p>
            <a:pPr indent="0" marL="0">
              <a:buNone/>
            </a:pPr>
            <a:r>
              <a:rPr lang="en-US" sz="1300" dirty="0">
                <a:solidFill>
                  <a:srgbClr val="5B6B6E"/>
                </a:solidFill>
                <a:latin typeface="Calibri" pitchFamily="34" charset="0"/>
                <a:ea typeface="Calibri" pitchFamily="34" charset="-122"/>
                <a:cs typeface="Calibri" pitchFamily="34" charset="-120"/>
              </a:rPr>
              <a:t>Why manual salon scheduling breaks down</a:t>
            </a:r>
            <a:endParaRPr lang="en-US" sz="1300" dirty="0"/>
          </a:p>
        </p:txBody>
      </p:sp>
      <p:sp>
        <p:nvSpPr>
          <p:cNvPr id="10" name="Shape 7"/>
          <p:cNvSpPr/>
          <p:nvPr/>
        </p:nvSpPr>
        <p:spPr>
          <a:xfrm>
            <a:off x="502920" y="2496312"/>
            <a:ext cx="11155680" cy="749808"/>
          </a:xfrm>
          <a:prstGeom prst="roundRect">
            <a:avLst>
              <a:gd name="adj" fmla="val 8537"/>
            </a:avLst>
          </a:prstGeom>
          <a:solidFill>
            <a:srgbClr val="FFFFFF"/>
          </a:solidFill>
          <a:ln/>
        </p:spPr>
      </p:sp>
      <p:sp>
        <p:nvSpPr>
          <p:cNvPr id="11" name="Text 8"/>
          <p:cNvSpPr/>
          <p:nvPr/>
        </p:nvSpPr>
        <p:spPr>
          <a:xfrm>
            <a:off x="777240" y="2496312"/>
            <a:ext cx="822960" cy="749808"/>
          </a:xfrm>
          <a:prstGeom prst="rect">
            <a:avLst/>
          </a:prstGeom>
          <a:noFill/>
          <a:ln/>
        </p:spPr>
        <p:txBody>
          <a:bodyPr wrap="square" rtlCol="0" anchor="ctr"/>
          <a:lstStyle/>
          <a:p>
            <a:pPr indent="0" marL="0">
              <a:buNone/>
            </a:pPr>
            <a:r>
              <a:rPr lang="en-US" sz="2600" b="1" dirty="0">
                <a:solidFill>
                  <a:srgbClr val="84B59F"/>
                </a:solidFill>
                <a:latin typeface="Cambria" pitchFamily="34" charset="0"/>
                <a:ea typeface="Cambria" pitchFamily="34" charset="-122"/>
                <a:cs typeface="Cambria" pitchFamily="34" charset="-120"/>
              </a:rPr>
              <a:t>02</a:t>
            </a:r>
            <a:endParaRPr lang="en-US" sz="2600" dirty="0"/>
          </a:p>
        </p:txBody>
      </p:sp>
      <p:sp>
        <p:nvSpPr>
          <p:cNvPr id="12" name="Text 9"/>
          <p:cNvSpPr/>
          <p:nvPr/>
        </p:nvSpPr>
        <p:spPr>
          <a:xfrm>
            <a:off x="1691640" y="2496312"/>
            <a:ext cx="4023360" cy="749808"/>
          </a:xfrm>
          <a:prstGeom prst="rect">
            <a:avLst/>
          </a:prstGeom>
          <a:noFill/>
          <a:ln/>
        </p:spPr>
        <p:txBody>
          <a:bodyPr wrap="square" rtlCol="0" anchor="ctr"/>
          <a:lstStyle/>
          <a:p>
            <a:pPr indent="0" marL="0">
              <a:buNone/>
            </a:pPr>
            <a:r>
              <a:rPr lang="en-US" sz="1600" b="1" dirty="0">
                <a:solidFill>
                  <a:srgbClr val="27343A"/>
                </a:solidFill>
                <a:latin typeface="Calibri" pitchFamily="34" charset="0"/>
                <a:ea typeface="Calibri" pitchFamily="34" charset="-122"/>
                <a:cs typeface="Calibri" pitchFamily="34" charset="-120"/>
              </a:rPr>
              <a:t>Scope &amp; Objectives</a:t>
            </a:r>
            <a:endParaRPr lang="en-US" sz="1600" dirty="0"/>
          </a:p>
        </p:txBody>
      </p:sp>
      <p:sp>
        <p:nvSpPr>
          <p:cNvPr id="13" name="Text 10"/>
          <p:cNvSpPr/>
          <p:nvPr/>
        </p:nvSpPr>
        <p:spPr>
          <a:xfrm>
            <a:off x="5806440" y="2496312"/>
            <a:ext cx="5669280" cy="749808"/>
          </a:xfrm>
          <a:prstGeom prst="rect">
            <a:avLst/>
          </a:prstGeom>
          <a:noFill/>
          <a:ln/>
        </p:spPr>
        <p:txBody>
          <a:bodyPr wrap="square" rtlCol="0" anchor="ctr"/>
          <a:lstStyle/>
          <a:p>
            <a:pPr indent="0" marL="0">
              <a:buNone/>
            </a:pPr>
            <a:r>
              <a:rPr lang="en-US" sz="1300" dirty="0">
                <a:solidFill>
                  <a:srgbClr val="5B6B6E"/>
                </a:solidFill>
                <a:latin typeface="Calibri" pitchFamily="34" charset="0"/>
                <a:ea typeface="Calibri" pitchFamily="34" charset="-122"/>
                <a:cs typeface="Calibri" pitchFamily="34" charset="-120"/>
              </a:rPr>
              <a:t>Boundaries and goals of the system</a:t>
            </a:r>
            <a:endParaRPr lang="en-US" sz="1300" dirty="0"/>
          </a:p>
        </p:txBody>
      </p:sp>
      <p:sp>
        <p:nvSpPr>
          <p:cNvPr id="14" name="Shape 11"/>
          <p:cNvSpPr/>
          <p:nvPr/>
        </p:nvSpPr>
        <p:spPr>
          <a:xfrm>
            <a:off x="502920" y="3392424"/>
            <a:ext cx="11155680" cy="749808"/>
          </a:xfrm>
          <a:prstGeom prst="roundRect">
            <a:avLst>
              <a:gd name="adj" fmla="val 8537"/>
            </a:avLst>
          </a:prstGeom>
          <a:solidFill>
            <a:srgbClr val="F3EFE7"/>
          </a:solidFill>
          <a:ln/>
        </p:spPr>
      </p:sp>
      <p:sp>
        <p:nvSpPr>
          <p:cNvPr id="15" name="Text 12"/>
          <p:cNvSpPr/>
          <p:nvPr/>
        </p:nvSpPr>
        <p:spPr>
          <a:xfrm>
            <a:off x="777240" y="3392424"/>
            <a:ext cx="822960" cy="749808"/>
          </a:xfrm>
          <a:prstGeom prst="rect">
            <a:avLst/>
          </a:prstGeom>
          <a:noFill/>
          <a:ln/>
        </p:spPr>
        <p:txBody>
          <a:bodyPr wrap="square" rtlCol="0" anchor="ctr"/>
          <a:lstStyle/>
          <a:p>
            <a:pPr indent="0" marL="0">
              <a:buNone/>
            </a:pPr>
            <a:r>
              <a:rPr lang="en-US" sz="2600" b="1" dirty="0">
                <a:solidFill>
                  <a:srgbClr val="84B59F"/>
                </a:solidFill>
                <a:latin typeface="Cambria" pitchFamily="34" charset="0"/>
                <a:ea typeface="Cambria" pitchFamily="34" charset="-122"/>
                <a:cs typeface="Cambria" pitchFamily="34" charset="-120"/>
              </a:rPr>
              <a:t>03</a:t>
            </a:r>
            <a:endParaRPr lang="en-US" sz="2600" dirty="0"/>
          </a:p>
        </p:txBody>
      </p:sp>
      <p:sp>
        <p:nvSpPr>
          <p:cNvPr id="16" name="Text 13"/>
          <p:cNvSpPr/>
          <p:nvPr/>
        </p:nvSpPr>
        <p:spPr>
          <a:xfrm>
            <a:off x="1691640" y="3392424"/>
            <a:ext cx="4023360" cy="749808"/>
          </a:xfrm>
          <a:prstGeom prst="rect">
            <a:avLst/>
          </a:prstGeom>
          <a:noFill/>
          <a:ln/>
        </p:spPr>
        <p:txBody>
          <a:bodyPr wrap="square" rtlCol="0" anchor="ctr"/>
          <a:lstStyle/>
          <a:p>
            <a:pPr indent="0" marL="0">
              <a:buNone/>
            </a:pPr>
            <a:r>
              <a:rPr lang="en-US" sz="1600" b="1" dirty="0">
                <a:solidFill>
                  <a:srgbClr val="27343A"/>
                </a:solidFill>
                <a:latin typeface="Calibri" pitchFamily="34" charset="0"/>
                <a:ea typeface="Calibri" pitchFamily="34" charset="-122"/>
                <a:cs typeface="Calibri" pitchFamily="34" charset="-120"/>
              </a:rPr>
              <a:t>Users &amp; Functional Requirements</a:t>
            </a:r>
            <a:endParaRPr lang="en-US" sz="1600" dirty="0"/>
          </a:p>
        </p:txBody>
      </p:sp>
      <p:sp>
        <p:nvSpPr>
          <p:cNvPr id="17" name="Text 14"/>
          <p:cNvSpPr/>
          <p:nvPr/>
        </p:nvSpPr>
        <p:spPr>
          <a:xfrm>
            <a:off x="5806440" y="3392424"/>
            <a:ext cx="5669280" cy="749808"/>
          </a:xfrm>
          <a:prstGeom prst="rect">
            <a:avLst/>
          </a:prstGeom>
          <a:noFill/>
          <a:ln/>
        </p:spPr>
        <p:txBody>
          <a:bodyPr wrap="square" rtlCol="0" anchor="ctr"/>
          <a:lstStyle/>
          <a:p>
            <a:pPr indent="0" marL="0">
              <a:buNone/>
            </a:pPr>
            <a:r>
              <a:rPr lang="en-US" sz="1300" dirty="0">
                <a:solidFill>
                  <a:srgbClr val="5B6B6E"/>
                </a:solidFill>
                <a:latin typeface="Calibri" pitchFamily="34" charset="0"/>
                <a:ea typeface="Calibri" pitchFamily="34" charset="-122"/>
                <a:cs typeface="Calibri" pitchFamily="34" charset="-120"/>
              </a:rPr>
              <a:t>Who uses the system and what it must do</a:t>
            </a:r>
            <a:endParaRPr lang="en-US" sz="1300" dirty="0"/>
          </a:p>
        </p:txBody>
      </p:sp>
      <p:sp>
        <p:nvSpPr>
          <p:cNvPr id="18" name="Shape 15"/>
          <p:cNvSpPr/>
          <p:nvPr/>
        </p:nvSpPr>
        <p:spPr>
          <a:xfrm>
            <a:off x="502920" y="4288536"/>
            <a:ext cx="11155680" cy="749808"/>
          </a:xfrm>
          <a:prstGeom prst="roundRect">
            <a:avLst>
              <a:gd name="adj" fmla="val 8537"/>
            </a:avLst>
          </a:prstGeom>
          <a:solidFill>
            <a:srgbClr val="FFFFFF"/>
          </a:solidFill>
          <a:ln/>
        </p:spPr>
      </p:sp>
      <p:sp>
        <p:nvSpPr>
          <p:cNvPr id="19" name="Text 16"/>
          <p:cNvSpPr/>
          <p:nvPr/>
        </p:nvSpPr>
        <p:spPr>
          <a:xfrm>
            <a:off x="777240" y="4288536"/>
            <a:ext cx="822960" cy="749808"/>
          </a:xfrm>
          <a:prstGeom prst="rect">
            <a:avLst/>
          </a:prstGeom>
          <a:noFill/>
          <a:ln/>
        </p:spPr>
        <p:txBody>
          <a:bodyPr wrap="square" rtlCol="0" anchor="ctr"/>
          <a:lstStyle/>
          <a:p>
            <a:pPr indent="0" marL="0">
              <a:buNone/>
            </a:pPr>
            <a:r>
              <a:rPr lang="en-US" sz="2600" b="1" dirty="0">
                <a:solidFill>
                  <a:srgbClr val="84B59F"/>
                </a:solidFill>
                <a:latin typeface="Cambria" pitchFamily="34" charset="0"/>
                <a:ea typeface="Cambria" pitchFamily="34" charset="-122"/>
                <a:cs typeface="Cambria" pitchFamily="34" charset="-120"/>
              </a:rPr>
              <a:t>04</a:t>
            </a:r>
            <a:endParaRPr lang="en-US" sz="2600" dirty="0"/>
          </a:p>
        </p:txBody>
      </p:sp>
      <p:sp>
        <p:nvSpPr>
          <p:cNvPr id="20" name="Text 17"/>
          <p:cNvSpPr/>
          <p:nvPr/>
        </p:nvSpPr>
        <p:spPr>
          <a:xfrm>
            <a:off x="1691640" y="4288536"/>
            <a:ext cx="4023360" cy="749808"/>
          </a:xfrm>
          <a:prstGeom prst="rect">
            <a:avLst/>
          </a:prstGeom>
          <a:noFill/>
          <a:ln/>
        </p:spPr>
        <p:txBody>
          <a:bodyPr wrap="square" rtlCol="0" anchor="ctr"/>
          <a:lstStyle/>
          <a:p>
            <a:pPr indent="0" marL="0">
              <a:buNone/>
            </a:pPr>
            <a:r>
              <a:rPr lang="en-US" sz="1600" b="1" dirty="0">
                <a:solidFill>
                  <a:srgbClr val="27343A"/>
                </a:solidFill>
                <a:latin typeface="Calibri" pitchFamily="34" charset="0"/>
                <a:ea typeface="Calibri" pitchFamily="34" charset="-122"/>
                <a:cs typeface="Calibri" pitchFamily="34" charset="-120"/>
              </a:rPr>
              <a:t>Conceptual Design</a:t>
            </a:r>
            <a:endParaRPr lang="en-US" sz="1600" dirty="0"/>
          </a:p>
        </p:txBody>
      </p:sp>
      <p:sp>
        <p:nvSpPr>
          <p:cNvPr id="21" name="Text 18"/>
          <p:cNvSpPr/>
          <p:nvPr/>
        </p:nvSpPr>
        <p:spPr>
          <a:xfrm>
            <a:off x="5806440" y="4288536"/>
            <a:ext cx="5669280" cy="749808"/>
          </a:xfrm>
          <a:prstGeom prst="rect">
            <a:avLst/>
          </a:prstGeom>
          <a:noFill/>
          <a:ln/>
        </p:spPr>
        <p:txBody>
          <a:bodyPr wrap="square" rtlCol="0" anchor="ctr"/>
          <a:lstStyle/>
          <a:p>
            <a:pPr indent="0" marL="0">
              <a:buNone/>
            </a:pPr>
            <a:r>
              <a:rPr lang="en-US" sz="1300" dirty="0">
                <a:solidFill>
                  <a:srgbClr val="5B6B6E"/>
                </a:solidFill>
                <a:latin typeface="Calibri" pitchFamily="34" charset="0"/>
                <a:ea typeface="Calibri" pitchFamily="34" charset="-122"/>
                <a:cs typeface="Calibri" pitchFamily="34" charset="-120"/>
              </a:rPr>
              <a:t>Key entities and the ER diagram</a:t>
            </a:r>
            <a:endParaRPr lang="en-US" sz="1300" dirty="0"/>
          </a:p>
        </p:txBody>
      </p:sp>
      <p:sp>
        <p:nvSpPr>
          <p:cNvPr id="22" name="Shape 19"/>
          <p:cNvSpPr/>
          <p:nvPr/>
        </p:nvSpPr>
        <p:spPr>
          <a:xfrm>
            <a:off x="502920" y="5184648"/>
            <a:ext cx="11155680" cy="749808"/>
          </a:xfrm>
          <a:prstGeom prst="roundRect">
            <a:avLst>
              <a:gd name="adj" fmla="val 8537"/>
            </a:avLst>
          </a:prstGeom>
          <a:solidFill>
            <a:srgbClr val="F3EFE7"/>
          </a:solidFill>
          <a:ln/>
        </p:spPr>
      </p:sp>
      <p:sp>
        <p:nvSpPr>
          <p:cNvPr id="23" name="Text 20"/>
          <p:cNvSpPr/>
          <p:nvPr/>
        </p:nvSpPr>
        <p:spPr>
          <a:xfrm>
            <a:off x="777240" y="5184648"/>
            <a:ext cx="822960" cy="749808"/>
          </a:xfrm>
          <a:prstGeom prst="rect">
            <a:avLst/>
          </a:prstGeom>
          <a:noFill/>
          <a:ln/>
        </p:spPr>
        <p:txBody>
          <a:bodyPr wrap="square" rtlCol="0" anchor="ctr"/>
          <a:lstStyle/>
          <a:p>
            <a:pPr indent="0" marL="0">
              <a:buNone/>
            </a:pPr>
            <a:r>
              <a:rPr lang="en-US" sz="2600" b="1" dirty="0">
                <a:solidFill>
                  <a:srgbClr val="84B59F"/>
                </a:solidFill>
                <a:latin typeface="Cambria" pitchFamily="34" charset="0"/>
                <a:ea typeface="Cambria" pitchFamily="34" charset="-122"/>
                <a:cs typeface="Cambria" pitchFamily="34" charset="-120"/>
              </a:rPr>
              <a:t>05</a:t>
            </a:r>
            <a:endParaRPr lang="en-US" sz="2600" dirty="0"/>
          </a:p>
        </p:txBody>
      </p:sp>
      <p:sp>
        <p:nvSpPr>
          <p:cNvPr id="24" name="Text 21"/>
          <p:cNvSpPr/>
          <p:nvPr/>
        </p:nvSpPr>
        <p:spPr>
          <a:xfrm>
            <a:off x="1691640" y="5184648"/>
            <a:ext cx="4023360" cy="749808"/>
          </a:xfrm>
          <a:prstGeom prst="rect">
            <a:avLst/>
          </a:prstGeom>
          <a:noFill/>
          <a:ln/>
        </p:spPr>
        <p:txBody>
          <a:bodyPr wrap="square" rtlCol="0" anchor="ctr"/>
          <a:lstStyle/>
          <a:p>
            <a:pPr indent="0" marL="0">
              <a:buNone/>
            </a:pPr>
            <a:r>
              <a:rPr lang="en-US" sz="1600" b="1" dirty="0">
                <a:solidFill>
                  <a:srgbClr val="27343A"/>
                </a:solidFill>
                <a:latin typeface="Calibri" pitchFamily="34" charset="0"/>
                <a:ea typeface="Calibri" pitchFamily="34" charset="-122"/>
                <a:cs typeface="Calibri" pitchFamily="34" charset="-120"/>
              </a:rPr>
              <a:t>Initial Relational Schema</a:t>
            </a:r>
            <a:endParaRPr lang="en-US" sz="1600" dirty="0"/>
          </a:p>
        </p:txBody>
      </p:sp>
      <p:sp>
        <p:nvSpPr>
          <p:cNvPr id="25" name="Text 22"/>
          <p:cNvSpPr/>
          <p:nvPr/>
        </p:nvSpPr>
        <p:spPr>
          <a:xfrm>
            <a:off x="5806440" y="5184648"/>
            <a:ext cx="5669280" cy="749808"/>
          </a:xfrm>
          <a:prstGeom prst="rect">
            <a:avLst/>
          </a:prstGeom>
          <a:noFill/>
          <a:ln/>
        </p:spPr>
        <p:txBody>
          <a:bodyPr wrap="square" rtlCol="0" anchor="ctr"/>
          <a:lstStyle/>
          <a:p>
            <a:pPr indent="0" marL="0">
              <a:buNone/>
            </a:pPr>
            <a:r>
              <a:rPr lang="en-US" sz="1300" dirty="0">
                <a:solidFill>
                  <a:srgbClr val="5B6B6E"/>
                </a:solidFill>
                <a:latin typeface="Calibri" pitchFamily="34" charset="0"/>
                <a:ea typeface="Calibri" pitchFamily="34" charset="-122"/>
                <a:cs typeface="Calibri" pitchFamily="34" charset="-120"/>
              </a:rPr>
              <a:t>Proposed tables, keys and relationships</a:t>
            </a:r>
            <a:endParaRPr lang="en-US" sz="1300" dirty="0"/>
          </a:p>
        </p:txBody>
      </p:sp>
      <p:sp>
        <p:nvSpPr>
          <p:cNvPr id="27" name="Text 23"/>
          <p:cNvSpPr/>
          <p:nvPr/>
        </p:nvSpPr>
        <p:spPr>
          <a:xfrm>
            <a:off x="502920" y="6473952"/>
            <a:ext cx="8229600" cy="274320"/>
          </a:xfrm>
          <a:prstGeom prst="rect">
            <a:avLst/>
          </a:prstGeom>
          <a:noFill/>
          <a:ln/>
        </p:spPr>
        <p:txBody>
          <a:bodyPr wrap="square" rtlCol="0" anchor="ctr"/>
          <a:lstStyle/>
          <a:p>
            <a:pPr indent="0" marL="0">
              <a:buNone/>
            </a:pPr>
            <a:r>
              <a:rPr lang="en-US" sz="900" spc="100" kern="0" dirty="0">
                <a:solidFill>
                  <a:srgbClr val="5B6B6E"/>
                </a:solidFill>
                <a:latin typeface="Calibri" pitchFamily="34" charset="0"/>
                <a:ea typeface="Calibri" pitchFamily="34" charset="-122"/>
                <a:cs typeface="Calibri" pitchFamily="34" charset="-120"/>
              </a:rPr>
              <a:t>SALON &amp; SPA APPOINTMENT MANAGEMENT SYSTEM  |  REVIEW 1</a:t>
            </a:r>
            <a:endParaRPr lang="en-US" sz="900" dirty="0"/>
          </a:p>
        </p:txBody>
      </p:sp>
      <p:sp>
        <p:nvSpPr>
          <p:cNvPr id="28" name="Text 24"/>
          <p:cNvSpPr/>
          <p:nvPr/>
        </p:nvSpPr>
        <p:spPr>
          <a:xfrm>
            <a:off x="11228832" y="6473952"/>
            <a:ext cx="457200" cy="274320"/>
          </a:xfrm>
          <a:prstGeom prst="rect">
            <a:avLst/>
          </a:prstGeom>
          <a:noFill/>
          <a:ln/>
        </p:spPr>
        <p:txBody>
          <a:bodyPr wrap="square" rtlCol="0" anchor="ctr"/>
          <a:lstStyle/>
          <a:p>
            <a:pPr algn="r" indent="0" marL="0">
              <a:buNone/>
            </a:pPr>
            <a:r>
              <a:rPr lang="en-US" sz="900" dirty="0">
                <a:solidFill>
                  <a:srgbClr val="5B6B6E"/>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384048"/>
            <a:ext cx="8229600" cy="292608"/>
          </a:xfrm>
          <a:prstGeom prst="rect">
            <a:avLst/>
          </a:prstGeom>
          <a:noFill/>
          <a:ln/>
        </p:spPr>
        <p:txBody>
          <a:bodyPr wrap="square" rtlCol="0" anchor="ctr"/>
          <a:lstStyle/>
          <a:p>
            <a:pPr indent="0" marL="0">
              <a:buNone/>
            </a:pPr>
            <a:r>
              <a:rPr lang="en-US" sz="1200" b="1" spc="200" kern="0" dirty="0">
                <a:solidFill>
                  <a:srgbClr val="6D2E46"/>
                </a:solidFill>
                <a:latin typeface="Calibri" pitchFamily="34" charset="0"/>
                <a:ea typeface="Calibri" pitchFamily="34" charset="-122"/>
                <a:cs typeface="Calibri" pitchFamily="34" charset="-120"/>
              </a:rPr>
              <a:t>THE CHALLENGE</a:t>
            </a:r>
            <a:endParaRPr lang="en-US" sz="1200" dirty="0"/>
          </a:p>
        </p:txBody>
      </p:sp>
      <p:sp>
        <p:nvSpPr>
          <p:cNvPr id="3" name="Text 1"/>
          <p:cNvSpPr txBox="1"/>
          <p:nvPr/>
        </p:nvSpPr>
        <p:spPr>
          <a:xfrm>
            <a:off x="502920" y="658368"/>
            <a:ext cx="9692640" cy="685800"/>
          </a:xfrm>
          <a:prstGeom prst="rect">
            <a:avLst/>
          </a:prstGeom>
          <a:noFill/>
          <a:ln/>
        </p:spPr>
        <p:txBody>
          <a:bodyPr wrap="square" rtlCol="0" anchor="ctr"/>
          <a:lstStyle/>
          <a:p>
            <a:pPr indent="0" marL="0">
              <a:buNone/>
            </a:pPr>
            <a:r>
              <a:rPr lang="en-US" sz="3000" b="1" dirty="0">
                <a:solidFill>
                  <a:srgbClr val="27343A"/>
                </a:solidFill>
                <a:latin typeface="Cambria" pitchFamily="34" charset="0"/>
                <a:ea typeface="Cambria" pitchFamily="34" charset="-122"/>
                <a:cs typeface="Cambria" pitchFamily="34" charset="-120"/>
              </a:rPr>
              <a:t>Problem Identification</a:t>
            </a:r>
            <a:endParaRPr lang="en-US" sz="3000" dirty="0"/>
          </a:p>
        </p:txBody>
      </p:sp>
      <p:sp>
        <p:nvSpPr>
          <p:cNvPr id="4" name="Shape 2"/>
          <p:cNvSpPr/>
          <p:nvPr/>
        </p:nvSpPr>
        <p:spPr>
          <a:xfrm>
            <a:off x="11119104" y="457200"/>
            <a:ext cx="566928" cy="566928"/>
          </a:xfrm>
          <a:prstGeom prst="ellipse">
            <a:avLst/>
          </a:prstGeom>
          <a:solidFill>
            <a:srgbClr val="6D2E46"/>
          </a:solidFill>
          <a:ln/>
        </p:spPr>
      </p:sp>
      <p:pic>
        <p:nvPicPr>
          <p:cNvPr id="5" name="Image 0" descr="/tmp/claude-0/-home-claude/12ac4f2c-a806-5c6e-9789-8d976e37a451/scratchpad/salon_ppt/icons/problem.png">    </p:cNvPr>
          <p:cNvPicPr>
            <a:picLocks noChangeAspect="1"/>
          </p:cNvPicPr>
          <p:nvPr/>
        </p:nvPicPr>
        <p:blipFill>
          <a:blip r:embed="rId1"/>
          <a:stretch>
            <a:fillRect/>
          </a:stretch>
        </p:blipFill>
        <p:spPr>
          <a:xfrm>
            <a:off x="11187135" y="525231"/>
            <a:ext cx="430865" cy="430865"/>
          </a:xfrm>
          <a:prstGeom prst="rect">
            <a:avLst/>
          </a:prstGeom>
        </p:spPr>
      </p:pic>
      <p:sp>
        <p:nvSpPr>
          <p:cNvPr id="6" name="Text 3"/>
          <p:cNvSpPr txBox="1"/>
          <p:nvPr/>
        </p:nvSpPr>
        <p:spPr>
          <a:xfrm>
            <a:off x="502920" y="1554480"/>
            <a:ext cx="6035040" cy="1188720"/>
          </a:xfrm>
          <a:prstGeom prst="rect">
            <a:avLst/>
          </a:prstGeom>
          <a:noFill/>
          <a:ln/>
        </p:spPr>
        <p:txBody>
          <a:bodyPr wrap="square" rtlCol="0" anchor="ctr"/>
          <a:lstStyle/>
          <a:p>
            <a:pPr indent="0" marL="0">
              <a:lnSpc>
                <a:spcPct val="130000"/>
              </a:lnSpc>
              <a:buNone/>
            </a:pPr>
            <a:r>
              <a:rPr lang="en-US" sz="1500" dirty="0">
                <a:solidFill>
                  <a:srgbClr val="27343A"/>
                </a:solidFill>
                <a:latin typeface="Calibri" pitchFamily="34" charset="0"/>
                <a:ea typeface="Calibri" pitchFamily="34" charset="-122"/>
                <a:cs typeface="Calibri" pitchFamily="34" charset="-120"/>
              </a:rPr>
              <a:t>Salons and spas juggle multiple staff, skills, service menus, packages and payments — but most still rely on manual registers or generic calendar apps to manage appointments.</a:t>
            </a:r>
            <a:endParaRPr lang="en-US" sz="1500" dirty="0"/>
          </a:p>
        </p:txBody>
      </p:sp>
      <p:sp>
        <p:nvSpPr>
          <p:cNvPr id="7" name="Shape 4"/>
          <p:cNvSpPr/>
          <p:nvPr/>
        </p:nvSpPr>
        <p:spPr>
          <a:xfrm>
            <a:off x="502920" y="2880360"/>
            <a:ext cx="2743200" cy="1783080"/>
          </a:xfrm>
          <a:prstGeom prst="roundRect">
            <a:avLst>
              <a:gd name="adj" fmla="val 4103"/>
            </a:avLst>
          </a:prstGeom>
          <a:solidFill>
            <a:srgbClr val="F3EFE7"/>
          </a:solidFill>
          <a:ln/>
        </p:spPr>
      </p:sp>
      <p:sp>
        <p:nvSpPr>
          <p:cNvPr id="8" name="Shape 5"/>
          <p:cNvSpPr/>
          <p:nvPr/>
        </p:nvSpPr>
        <p:spPr>
          <a:xfrm>
            <a:off x="704088" y="3063240"/>
            <a:ext cx="457200" cy="457200"/>
          </a:xfrm>
          <a:prstGeom prst="ellipse">
            <a:avLst/>
          </a:prstGeom>
          <a:solidFill>
            <a:srgbClr val="50808E"/>
          </a:solidFill>
          <a:ln/>
        </p:spPr>
      </p:sp>
      <p:pic>
        <p:nvPicPr>
          <p:cNvPr id="9" name="Image 1" descr="/tmp/claude-0/-home-claude/12ac4f2c-a806-5c6e-9789-8d976e37a451/scratchpad/salon_ppt/icons/clock.png">    </p:cNvPr>
          <p:cNvPicPr>
            <a:picLocks noChangeAspect="1"/>
          </p:cNvPicPr>
          <p:nvPr/>
        </p:nvPicPr>
        <p:blipFill>
          <a:blip r:embed="rId2"/>
          <a:stretch>
            <a:fillRect/>
          </a:stretch>
        </p:blipFill>
        <p:spPr>
          <a:xfrm>
            <a:off x="813816" y="3172968"/>
            <a:ext cx="237744" cy="237744"/>
          </a:xfrm>
          <a:prstGeom prst="rect">
            <a:avLst/>
          </a:prstGeom>
        </p:spPr>
      </p:pic>
      <p:sp>
        <p:nvSpPr>
          <p:cNvPr id="10" name="Text 6"/>
          <p:cNvSpPr/>
          <p:nvPr/>
        </p:nvSpPr>
        <p:spPr>
          <a:xfrm>
            <a:off x="685800" y="3630168"/>
            <a:ext cx="2377440" cy="457200"/>
          </a:xfrm>
          <a:prstGeom prst="rect">
            <a:avLst/>
          </a:prstGeom>
          <a:noFill/>
          <a:ln/>
        </p:spPr>
        <p:txBody>
          <a:bodyPr wrap="square" rtlCol="0" anchor="t"/>
          <a:lstStyle/>
          <a:p>
            <a:pPr indent="0" marL="0">
              <a:buNone/>
            </a:pPr>
            <a:r>
              <a:rPr lang="en-US" sz="1300" b="1" dirty="0">
                <a:solidFill>
                  <a:srgbClr val="27343A"/>
                </a:solidFill>
                <a:latin typeface="Calibri" pitchFamily="34" charset="0"/>
                <a:ea typeface="Calibri" pitchFamily="34" charset="-122"/>
                <a:cs typeface="Calibri" pitchFamily="34" charset="-120"/>
              </a:rPr>
              <a:t>Double-Booked Staff</a:t>
            </a:r>
            <a:endParaRPr lang="en-US" sz="1300" dirty="0"/>
          </a:p>
        </p:txBody>
      </p:sp>
      <p:sp>
        <p:nvSpPr>
          <p:cNvPr id="11" name="Text 7"/>
          <p:cNvSpPr/>
          <p:nvPr/>
        </p:nvSpPr>
        <p:spPr>
          <a:xfrm>
            <a:off x="685800" y="4050792"/>
            <a:ext cx="2377440" cy="548640"/>
          </a:xfrm>
          <a:prstGeom prst="rect">
            <a:avLst/>
          </a:prstGeom>
          <a:noFill/>
          <a:ln/>
        </p:spPr>
        <p:txBody>
          <a:bodyPr wrap="square" rtlCol="0" anchor="t"/>
          <a:lstStyle/>
          <a:p>
            <a:pPr indent="0" marL="0">
              <a:lnSpc>
                <a:spcPct val="115000"/>
              </a:lnSpc>
              <a:buNone/>
            </a:pPr>
            <a:r>
              <a:rPr lang="en-US" sz="1050" dirty="0">
                <a:solidFill>
                  <a:srgbClr val="5B6B6E"/>
                </a:solidFill>
                <a:latin typeface="Calibri" pitchFamily="34" charset="0"/>
                <a:ea typeface="Calibri" pitchFamily="34" charset="-122"/>
                <a:cs typeface="Calibri" pitchFamily="34" charset="-120"/>
              </a:rPr>
              <a:t>No automatic check prevents two customers being booked with the same staff member at overlapping times.</a:t>
            </a:r>
            <a:endParaRPr lang="en-US" sz="1050" dirty="0"/>
          </a:p>
        </p:txBody>
      </p:sp>
      <p:sp>
        <p:nvSpPr>
          <p:cNvPr id="12" name="Shape 8"/>
          <p:cNvSpPr/>
          <p:nvPr/>
        </p:nvSpPr>
        <p:spPr>
          <a:xfrm>
            <a:off x="3474720" y="2880360"/>
            <a:ext cx="2743200" cy="1783080"/>
          </a:xfrm>
          <a:prstGeom prst="roundRect">
            <a:avLst>
              <a:gd name="adj" fmla="val 4103"/>
            </a:avLst>
          </a:prstGeom>
          <a:solidFill>
            <a:srgbClr val="F3EFE7"/>
          </a:solidFill>
          <a:ln/>
        </p:spPr>
      </p:sp>
      <p:sp>
        <p:nvSpPr>
          <p:cNvPr id="13" name="Shape 9"/>
          <p:cNvSpPr/>
          <p:nvPr/>
        </p:nvSpPr>
        <p:spPr>
          <a:xfrm>
            <a:off x="3675888" y="3063240"/>
            <a:ext cx="457200" cy="457200"/>
          </a:xfrm>
          <a:prstGeom prst="ellipse">
            <a:avLst/>
          </a:prstGeom>
          <a:solidFill>
            <a:srgbClr val="50808E"/>
          </a:solidFill>
          <a:ln/>
        </p:spPr>
      </p:sp>
      <p:pic>
        <p:nvPicPr>
          <p:cNvPr id="14" name="Image 2" descr="/tmp/claude-0/-home-claude/12ac4f2c-a806-5c6e-9789-8d976e37a451/scratchpad/salon_ppt/icons/userShield.png">    </p:cNvPr>
          <p:cNvPicPr>
            <a:picLocks noChangeAspect="1"/>
          </p:cNvPicPr>
          <p:nvPr/>
        </p:nvPicPr>
        <p:blipFill>
          <a:blip r:embed="rId3"/>
          <a:stretch>
            <a:fillRect/>
          </a:stretch>
        </p:blipFill>
        <p:spPr>
          <a:xfrm>
            <a:off x="3785616" y="3172968"/>
            <a:ext cx="237744" cy="237744"/>
          </a:xfrm>
          <a:prstGeom prst="rect">
            <a:avLst/>
          </a:prstGeom>
        </p:spPr>
      </p:pic>
      <p:sp>
        <p:nvSpPr>
          <p:cNvPr id="15" name="Text 10"/>
          <p:cNvSpPr/>
          <p:nvPr/>
        </p:nvSpPr>
        <p:spPr>
          <a:xfrm>
            <a:off x="3657600" y="3630168"/>
            <a:ext cx="2377440" cy="457200"/>
          </a:xfrm>
          <a:prstGeom prst="rect">
            <a:avLst/>
          </a:prstGeom>
          <a:noFill/>
          <a:ln/>
        </p:spPr>
        <p:txBody>
          <a:bodyPr wrap="square" rtlCol="0" anchor="t"/>
          <a:lstStyle/>
          <a:p>
            <a:pPr indent="0" marL="0">
              <a:buNone/>
            </a:pPr>
            <a:r>
              <a:rPr lang="en-US" sz="1300" b="1" dirty="0">
                <a:solidFill>
                  <a:srgbClr val="27343A"/>
                </a:solidFill>
                <a:latin typeface="Calibri" pitchFamily="34" charset="0"/>
                <a:ea typeface="Calibri" pitchFamily="34" charset="-122"/>
                <a:cs typeface="Calibri" pitchFamily="34" charset="-120"/>
              </a:rPr>
              <a:t>No Skill Matching</a:t>
            </a:r>
            <a:endParaRPr lang="en-US" sz="1300" dirty="0"/>
          </a:p>
        </p:txBody>
      </p:sp>
      <p:sp>
        <p:nvSpPr>
          <p:cNvPr id="16" name="Text 11"/>
          <p:cNvSpPr/>
          <p:nvPr/>
        </p:nvSpPr>
        <p:spPr>
          <a:xfrm>
            <a:off x="3657600" y="4050792"/>
            <a:ext cx="2377440" cy="548640"/>
          </a:xfrm>
          <a:prstGeom prst="rect">
            <a:avLst/>
          </a:prstGeom>
          <a:noFill/>
          <a:ln/>
        </p:spPr>
        <p:txBody>
          <a:bodyPr wrap="square" rtlCol="0" anchor="t"/>
          <a:lstStyle/>
          <a:p>
            <a:pPr indent="0" marL="0">
              <a:lnSpc>
                <a:spcPct val="115000"/>
              </a:lnSpc>
              <a:buNone/>
            </a:pPr>
            <a:r>
              <a:rPr lang="en-US" sz="1050" dirty="0">
                <a:solidFill>
                  <a:srgbClr val="5B6B6E"/>
                </a:solidFill>
                <a:latin typeface="Calibri" pitchFamily="34" charset="0"/>
                <a:ea typeface="Calibri" pitchFamily="34" charset="-122"/>
                <a:cs typeface="Calibri" pitchFamily="34" charset="-120"/>
              </a:rPr>
              <a:t>Customers can be assigned to staff who aren't trained for the requested service.</a:t>
            </a:r>
            <a:endParaRPr lang="en-US" sz="1050" dirty="0"/>
          </a:p>
        </p:txBody>
      </p:sp>
      <p:sp>
        <p:nvSpPr>
          <p:cNvPr id="17" name="Shape 12"/>
          <p:cNvSpPr/>
          <p:nvPr/>
        </p:nvSpPr>
        <p:spPr>
          <a:xfrm>
            <a:off x="6446520" y="2880360"/>
            <a:ext cx="2743200" cy="1783080"/>
          </a:xfrm>
          <a:prstGeom prst="roundRect">
            <a:avLst>
              <a:gd name="adj" fmla="val 4103"/>
            </a:avLst>
          </a:prstGeom>
          <a:solidFill>
            <a:srgbClr val="F3EFE7"/>
          </a:solidFill>
          <a:ln/>
        </p:spPr>
      </p:sp>
      <p:sp>
        <p:nvSpPr>
          <p:cNvPr id="18" name="Shape 13"/>
          <p:cNvSpPr/>
          <p:nvPr/>
        </p:nvSpPr>
        <p:spPr>
          <a:xfrm>
            <a:off x="6647688" y="3063240"/>
            <a:ext cx="457200" cy="457200"/>
          </a:xfrm>
          <a:prstGeom prst="ellipse">
            <a:avLst/>
          </a:prstGeom>
          <a:solidFill>
            <a:srgbClr val="50808E"/>
          </a:solidFill>
          <a:ln/>
        </p:spPr>
      </p:sp>
      <p:pic>
        <p:nvPicPr>
          <p:cNvPr id="19" name="Image 3" descr="/tmp/claude-0/-home-claude/12ac4f2c-a806-5c6e-9789-8d976e37a451/scratchpad/salon_ppt/icons/box.png">    </p:cNvPr>
          <p:cNvPicPr>
            <a:picLocks noChangeAspect="1"/>
          </p:cNvPicPr>
          <p:nvPr/>
        </p:nvPicPr>
        <p:blipFill>
          <a:blip r:embed="rId4"/>
          <a:stretch>
            <a:fillRect/>
          </a:stretch>
        </p:blipFill>
        <p:spPr>
          <a:xfrm>
            <a:off x="6757416" y="3172968"/>
            <a:ext cx="237744" cy="237744"/>
          </a:xfrm>
          <a:prstGeom prst="rect">
            <a:avLst/>
          </a:prstGeom>
        </p:spPr>
      </p:pic>
      <p:sp>
        <p:nvSpPr>
          <p:cNvPr id="20" name="Text 14"/>
          <p:cNvSpPr/>
          <p:nvPr/>
        </p:nvSpPr>
        <p:spPr>
          <a:xfrm>
            <a:off x="6629400" y="3630168"/>
            <a:ext cx="2377440" cy="457200"/>
          </a:xfrm>
          <a:prstGeom prst="rect">
            <a:avLst/>
          </a:prstGeom>
          <a:noFill/>
          <a:ln/>
        </p:spPr>
        <p:txBody>
          <a:bodyPr wrap="square" rtlCol="0" anchor="t"/>
          <a:lstStyle/>
          <a:p>
            <a:pPr indent="0" marL="0">
              <a:buNone/>
            </a:pPr>
            <a:r>
              <a:rPr lang="en-US" sz="1300" b="1" dirty="0">
                <a:solidFill>
                  <a:srgbClr val="27343A"/>
                </a:solidFill>
                <a:latin typeface="Calibri" pitchFamily="34" charset="0"/>
                <a:ea typeface="Calibri" pitchFamily="34" charset="-122"/>
                <a:cs typeface="Calibri" pitchFamily="34" charset="-120"/>
              </a:rPr>
              <a:t>Untracked Packages &amp; Stock</a:t>
            </a:r>
            <a:endParaRPr lang="en-US" sz="1300" dirty="0"/>
          </a:p>
        </p:txBody>
      </p:sp>
      <p:sp>
        <p:nvSpPr>
          <p:cNvPr id="21" name="Text 15"/>
          <p:cNvSpPr/>
          <p:nvPr/>
        </p:nvSpPr>
        <p:spPr>
          <a:xfrm>
            <a:off x="6629400" y="4050792"/>
            <a:ext cx="2377440" cy="548640"/>
          </a:xfrm>
          <a:prstGeom prst="rect">
            <a:avLst/>
          </a:prstGeom>
          <a:noFill/>
          <a:ln/>
        </p:spPr>
        <p:txBody>
          <a:bodyPr wrap="square" rtlCol="0" anchor="t"/>
          <a:lstStyle/>
          <a:p>
            <a:pPr indent="0" marL="0">
              <a:lnSpc>
                <a:spcPct val="115000"/>
              </a:lnSpc>
              <a:buNone/>
            </a:pPr>
            <a:r>
              <a:rPr lang="en-US" sz="1050" dirty="0">
                <a:solidFill>
                  <a:srgbClr val="5B6B6E"/>
                </a:solidFill>
                <a:latin typeface="Calibri" pitchFamily="34" charset="0"/>
                <a:ea typeface="Calibri" pitchFamily="34" charset="-122"/>
                <a:cs typeface="Calibri" pitchFamily="34" charset="-120"/>
              </a:rPr>
              <a:t>Package session balances and product usage during services are not reliably recorded.</a:t>
            </a:r>
            <a:endParaRPr lang="en-US" sz="1050" dirty="0"/>
          </a:p>
        </p:txBody>
      </p:sp>
      <p:sp>
        <p:nvSpPr>
          <p:cNvPr id="22" name="Shape 16"/>
          <p:cNvSpPr/>
          <p:nvPr/>
        </p:nvSpPr>
        <p:spPr>
          <a:xfrm>
            <a:off x="9418320" y="2880360"/>
            <a:ext cx="2743200" cy="1783080"/>
          </a:xfrm>
          <a:prstGeom prst="roundRect">
            <a:avLst>
              <a:gd name="adj" fmla="val 4103"/>
            </a:avLst>
          </a:prstGeom>
          <a:solidFill>
            <a:srgbClr val="F3EFE7"/>
          </a:solidFill>
          <a:ln/>
        </p:spPr>
      </p:sp>
      <p:sp>
        <p:nvSpPr>
          <p:cNvPr id="23" name="Shape 17"/>
          <p:cNvSpPr/>
          <p:nvPr/>
        </p:nvSpPr>
        <p:spPr>
          <a:xfrm>
            <a:off x="9619488" y="3063240"/>
            <a:ext cx="457200" cy="457200"/>
          </a:xfrm>
          <a:prstGeom prst="ellipse">
            <a:avLst/>
          </a:prstGeom>
          <a:solidFill>
            <a:srgbClr val="50808E"/>
          </a:solidFill>
          <a:ln/>
        </p:spPr>
      </p:sp>
      <p:pic>
        <p:nvPicPr>
          <p:cNvPr id="24" name="Image 4" descr="/tmp/claude-0/-home-claude/12ac4f2c-a806-5c6e-9789-8d976e37a451/scratchpad/salon_ppt/icons/moneyBill.png">    </p:cNvPr>
          <p:cNvPicPr>
            <a:picLocks noChangeAspect="1"/>
          </p:cNvPicPr>
          <p:nvPr/>
        </p:nvPicPr>
        <p:blipFill>
          <a:blip r:embed="rId5"/>
          <a:stretch>
            <a:fillRect/>
          </a:stretch>
        </p:blipFill>
        <p:spPr>
          <a:xfrm>
            <a:off x="9729216" y="3172968"/>
            <a:ext cx="237744" cy="237744"/>
          </a:xfrm>
          <a:prstGeom prst="rect">
            <a:avLst/>
          </a:prstGeom>
        </p:spPr>
      </p:pic>
      <p:sp>
        <p:nvSpPr>
          <p:cNvPr id="25" name="Text 18"/>
          <p:cNvSpPr/>
          <p:nvPr/>
        </p:nvSpPr>
        <p:spPr>
          <a:xfrm>
            <a:off x="9601200" y="3630168"/>
            <a:ext cx="2377440" cy="457200"/>
          </a:xfrm>
          <a:prstGeom prst="rect">
            <a:avLst/>
          </a:prstGeom>
          <a:noFill/>
          <a:ln/>
        </p:spPr>
        <p:txBody>
          <a:bodyPr wrap="square" rtlCol="0" anchor="t"/>
          <a:lstStyle/>
          <a:p>
            <a:pPr indent="0" marL="0">
              <a:buNone/>
            </a:pPr>
            <a:r>
              <a:rPr lang="en-US" sz="1300" b="1" dirty="0">
                <a:solidFill>
                  <a:srgbClr val="27343A"/>
                </a:solidFill>
                <a:latin typeface="Calibri" pitchFamily="34" charset="0"/>
                <a:ea typeface="Calibri" pitchFamily="34" charset="-122"/>
                <a:cs typeface="Calibri" pitchFamily="34" charset="-120"/>
              </a:rPr>
              <a:t>Manual, Error-Prone Billing</a:t>
            </a:r>
            <a:endParaRPr lang="en-US" sz="1300" dirty="0"/>
          </a:p>
        </p:txBody>
      </p:sp>
      <p:sp>
        <p:nvSpPr>
          <p:cNvPr id="26" name="Text 19"/>
          <p:cNvSpPr/>
          <p:nvPr/>
        </p:nvSpPr>
        <p:spPr>
          <a:xfrm>
            <a:off x="9601200" y="4050792"/>
            <a:ext cx="2377440" cy="548640"/>
          </a:xfrm>
          <a:prstGeom prst="rect">
            <a:avLst/>
          </a:prstGeom>
          <a:noFill/>
          <a:ln/>
        </p:spPr>
        <p:txBody>
          <a:bodyPr wrap="square" rtlCol="0" anchor="t"/>
          <a:lstStyle/>
          <a:p>
            <a:pPr indent="0" marL="0">
              <a:lnSpc>
                <a:spcPct val="115000"/>
              </a:lnSpc>
              <a:buNone/>
            </a:pPr>
            <a:r>
              <a:rPr lang="en-US" sz="1050" dirty="0">
                <a:solidFill>
                  <a:srgbClr val="5B6B6E"/>
                </a:solidFill>
                <a:latin typeface="Calibri" pitchFamily="34" charset="0"/>
                <a:ea typeface="Calibri" pitchFamily="34" charset="-122"/>
                <a:cs typeface="Calibri" pitchFamily="34" charset="-120"/>
              </a:rPr>
              <a:t>Bills, discounts and part-payments are calculated by hand with no audit trail.</a:t>
            </a:r>
            <a:endParaRPr lang="en-US" sz="1050" dirty="0"/>
          </a:p>
        </p:txBody>
      </p:sp>
      <p:sp>
        <p:nvSpPr>
          <p:cNvPr id="27" name="Text 20"/>
          <p:cNvSpPr/>
          <p:nvPr/>
        </p:nvSpPr>
        <p:spPr>
          <a:xfrm>
            <a:off x="502920" y="4983480"/>
            <a:ext cx="11155680" cy="457200"/>
          </a:xfrm>
          <a:prstGeom prst="rect">
            <a:avLst/>
          </a:prstGeom>
          <a:noFill/>
          <a:ln/>
        </p:spPr>
        <p:txBody>
          <a:bodyPr wrap="square" rtlCol="0" anchor="ctr"/>
          <a:lstStyle/>
          <a:p>
            <a:pPr indent="0" marL="0">
              <a:buNone/>
            </a:pPr>
            <a:r>
              <a:rPr lang="en-US" sz="1250" i="1" dirty="0">
                <a:solidFill>
                  <a:srgbClr val="50808E"/>
                </a:solidFill>
                <a:latin typeface="Calibri" pitchFamily="34" charset="0"/>
                <a:ea typeface="Calibri" pitchFamily="34" charset="-122"/>
                <a:cs typeface="Calibri" pitchFamily="34" charset="-120"/>
              </a:rPr>
              <a:t>These gaps in coordination and data integrity motivate a dedicated, database-backed appointment management system.</a:t>
            </a:r>
            <a:endParaRPr lang="en-US" sz="1250" dirty="0"/>
          </a:p>
        </p:txBody>
      </p:sp>
      <p:sp>
        <p:nvSpPr>
          <p:cNvPr id="29" name="Text 21"/>
          <p:cNvSpPr/>
          <p:nvPr/>
        </p:nvSpPr>
        <p:spPr>
          <a:xfrm>
            <a:off x="502920" y="6473952"/>
            <a:ext cx="8229600" cy="274320"/>
          </a:xfrm>
          <a:prstGeom prst="rect">
            <a:avLst/>
          </a:prstGeom>
          <a:noFill/>
          <a:ln/>
        </p:spPr>
        <p:txBody>
          <a:bodyPr wrap="square" rtlCol="0" anchor="ctr"/>
          <a:lstStyle/>
          <a:p>
            <a:pPr indent="0" marL="0">
              <a:buNone/>
            </a:pPr>
            <a:r>
              <a:rPr lang="en-US" sz="900" spc="100" kern="0" dirty="0">
                <a:solidFill>
                  <a:srgbClr val="5B6B6E"/>
                </a:solidFill>
                <a:latin typeface="Calibri" pitchFamily="34" charset="0"/>
                <a:ea typeface="Calibri" pitchFamily="34" charset="-122"/>
                <a:cs typeface="Calibri" pitchFamily="34" charset="-120"/>
              </a:rPr>
              <a:t>SALON &amp; SPA APPOINTMENT MANAGEMENT SYSTEM  |  REVIEW 1</a:t>
            </a:r>
            <a:endParaRPr lang="en-US" sz="900" dirty="0"/>
          </a:p>
        </p:txBody>
      </p:sp>
      <p:sp>
        <p:nvSpPr>
          <p:cNvPr id="30" name="Text 22"/>
          <p:cNvSpPr/>
          <p:nvPr/>
        </p:nvSpPr>
        <p:spPr>
          <a:xfrm>
            <a:off x="11228832" y="6473952"/>
            <a:ext cx="457200" cy="274320"/>
          </a:xfrm>
          <a:prstGeom prst="rect">
            <a:avLst/>
          </a:prstGeom>
          <a:noFill/>
          <a:ln/>
        </p:spPr>
        <p:txBody>
          <a:bodyPr wrap="square" rtlCol="0" anchor="ctr"/>
          <a:lstStyle/>
          <a:p>
            <a:pPr algn="r" indent="0" marL="0">
              <a:buNone/>
            </a:pPr>
            <a:r>
              <a:rPr lang="en-US" sz="900" dirty="0">
                <a:solidFill>
                  <a:srgbClr val="5B6B6E"/>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384048"/>
            <a:ext cx="8229600" cy="292608"/>
          </a:xfrm>
          <a:prstGeom prst="rect">
            <a:avLst/>
          </a:prstGeom>
          <a:noFill/>
          <a:ln/>
        </p:spPr>
        <p:txBody>
          <a:bodyPr wrap="square" rtlCol="0" anchor="ctr"/>
          <a:lstStyle/>
          <a:p>
            <a:pPr indent="0" marL="0">
              <a:buNone/>
            </a:pPr>
            <a:r>
              <a:rPr lang="en-US" sz="1200" b="1" spc="200" kern="0" dirty="0">
                <a:solidFill>
                  <a:srgbClr val="6D2E46"/>
                </a:solidFill>
                <a:latin typeface="Calibri" pitchFamily="34" charset="0"/>
                <a:ea typeface="Calibri" pitchFamily="34" charset="-122"/>
                <a:cs typeface="Calibri" pitchFamily="34" charset="-120"/>
              </a:rPr>
              <a:t>PROJECT BOUNDARIES</a:t>
            </a:r>
            <a:endParaRPr lang="en-US" sz="1200" dirty="0"/>
          </a:p>
        </p:txBody>
      </p:sp>
      <p:sp>
        <p:nvSpPr>
          <p:cNvPr id="3" name="Text 1"/>
          <p:cNvSpPr txBox="1"/>
          <p:nvPr/>
        </p:nvSpPr>
        <p:spPr>
          <a:xfrm>
            <a:off x="502920" y="658368"/>
            <a:ext cx="9692640" cy="685800"/>
          </a:xfrm>
          <a:prstGeom prst="rect">
            <a:avLst/>
          </a:prstGeom>
          <a:noFill/>
          <a:ln/>
        </p:spPr>
        <p:txBody>
          <a:bodyPr wrap="square" rtlCol="0" anchor="ctr"/>
          <a:lstStyle/>
          <a:p>
            <a:pPr indent="0" marL="0">
              <a:buNone/>
            </a:pPr>
            <a:r>
              <a:rPr lang="en-US" sz="3000" b="1" dirty="0">
                <a:solidFill>
                  <a:srgbClr val="27343A"/>
                </a:solidFill>
                <a:latin typeface="Cambria" pitchFamily="34" charset="0"/>
                <a:ea typeface="Cambria" pitchFamily="34" charset="-122"/>
                <a:cs typeface="Cambria" pitchFamily="34" charset="-120"/>
              </a:rPr>
              <a:t>Scope of the Project</a:t>
            </a:r>
            <a:endParaRPr lang="en-US" sz="3000" dirty="0"/>
          </a:p>
        </p:txBody>
      </p:sp>
      <p:sp>
        <p:nvSpPr>
          <p:cNvPr id="4" name="Shape 2"/>
          <p:cNvSpPr/>
          <p:nvPr/>
        </p:nvSpPr>
        <p:spPr>
          <a:xfrm>
            <a:off x="11119104" y="457200"/>
            <a:ext cx="566928" cy="566928"/>
          </a:xfrm>
          <a:prstGeom prst="ellipse">
            <a:avLst/>
          </a:prstGeom>
          <a:solidFill>
            <a:srgbClr val="6D2E46"/>
          </a:solidFill>
          <a:ln/>
        </p:spPr>
      </p:sp>
      <p:pic>
        <p:nvPicPr>
          <p:cNvPr id="5" name="Image 0" descr="/tmp/claude-0/-home-claude/12ac4f2c-a806-5c6e-9789-8d976e37a451/scratchpad/salon_ppt/icons/scope.png">    </p:cNvPr>
          <p:cNvPicPr>
            <a:picLocks noChangeAspect="1"/>
          </p:cNvPicPr>
          <p:nvPr/>
        </p:nvPicPr>
        <p:blipFill>
          <a:blip r:embed="rId1"/>
          <a:stretch>
            <a:fillRect/>
          </a:stretch>
        </p:blipFill>
        <p:spPr>
          <a:xfrm>
            <a:off x="11187135" y="525231"/>
            <a:ext cx="430865" cy="430865"/>
          </a:xfrm>
          <a:prstGeom prst="rect">
            <a:avLst/>
          </a:prstGeom>
        </p:spPr>
      </p:pic>
      <p:sp>
        <p:nvSpPr>
          <p:cNvPr id="6" name="Shape 3"/>
          <p:cNvSpPr/>
          <p:nvPr/>
        </p:nvSpPr>
        <p:spPr>
          <a:xfrm>
            <a:off x="502920" y="1600200"/>
            <a:ext cx="5486400" cy="4480560"/>
          </a:xfrm>
          <a:prstGeom prst="roundRect">
            <a:avLst>
              <a:gd name="adj" fmla="val 2041"/>
            </a:avLst>
          </a:prstGeom>
          <a:solidFill>
            <a:srgbClr val="F3EFE7"/>
          </a:solidFill>
          <a:ln/>
        </p:spPr>
      </p:sp>
      <p:sp>
        <p:nvSpPr>
          <p:cNvPr id="7" name="Text 4"/>
          <p:cNvSpPr/>
          <p:nvPr/>
        </p:nvSpPr>
        <p:spPr>
          <a:xfrm>
            <a:off x="822960" y="1828800"/>
            <a:ext cx="4572000" cy="320040"/>
          </a:xfrm>
          <a:prstGeom prst="rect">
            <a:avLst/>
          </a:prstGeom>
          <a:noFill/>
          <a:ln/>
        </p:spPr>
        <p:txBody>
          <a:bodyPr wrap="square" rtlCol="0" anchor="ctr"/>
          <a:lstStyle/>
          <a:p>
            <a:pPr indent="0" marL="0">
              <a:buNone/>
            </a:pPr>
            <a:r>
              <a:rPr lang="en-US" sz="1300" b="1" spc="150" kern="0" dirty="0">
                <a:solidFill>
                  <a:srgbClr val="69A297"/>
                </a:solidFill>
                <a:latin typeface="Calibri" pitchFamily="34" charset="0"/>
                <a:ea typeface="Calibri" pitchFamily="34" charset="-122"/>
                <a:cs typeface="Calibri" pitchFamily="34" charset="-120"/>
              </a:rPr>
              <a:t>IN SCOPE</a:t>
            </a:r>
            <a:endParaRPr lang="en-US" sz="1300" dirty="0"/>
          </a:p>
        </p:txBody>
      </p:sp>
      <p:sp>
        <p:nvSpPr>
          <p:cNvPr id="8" name="Text 5"/>
          <p:cNvSpPr/>
          <p:nvPr/>
        </p:nvSpPr>
        <p:spPr>
          <a:xfrm>
            <a:off x="822960" y="2194560"/>
            <a:ext cx="4892040" cy="3749040"/>
          </a:xfrm>
          <a:prstGeom prst="rect">
            <a:avLst/>
          </a:prstGeom>
          <a:noFill/>
          <a:ln/>
        </p:spPr>
        <p:txBody>
          <a:bodyPr wrap="square" rtlCol="0" anchor="t"/>
          <a:lstStyle/>
          <a:p>
            <a:pPr marL="342900" indent="-342900">
              <a:lnSpc>
                <a:spcPct val="125000"/>
              </a:lnSpc>
              <a:spcAft>
                <a:spcPts val="800"/>
              </a:spcAft>
              <a:buSzPct val="100000"/>
              <a:buChar char="✓"/>
            </a:pPr>
            <a:r>
              <a:rPr lang="en-US" sz="1250" dirty="0">
                <a:solidFill>
                  <a:srgbClr val="27343A"/>
                </a:solidFill>
                <a:latin typeface="Calibri" pitchFamily="34" charset="0"/>
                <a:ea typeface="Calibri" pitchFamily="34" charset="-122"/>
                <a:cs typeface="Calibri" pitchFamily="34" charset="-120"/>
              </a:rPr>
              <a:t>Customer registration &amp; profile management</a:t>
            </a:r>
            <a:endParaRPr lang="en-US" sz="1250" dirty="0"/>
          </a:p>
          <a:p>
            <a:pPr marL="342900" indent="-342900">
              <a:lnSpc>
                <a:spcPct val="125000"/>
              </a:lnSpc>
              <a:spcAft>
                <a:spcPts val="800"/>
              </a:spcAft>
              <a:buSzPct val="100000"/>
              <a:buChar char="✓"/>
            </a:pPr>
            <a:r>
              <a:rPr lang="en-US" sz="1250" dirty="0">
                <a:solidFill>
                  <a:srgbClr val="27343A"/>
                </a:solidFill>
                <a:latin typeface="Calibri" pitchFamily="34" charset="0"/>
                <a:ea typeface="Calibri" pitchFamily="34" charset="-122"/>
                <a:cs typeface="Calibri" pitchFamily="34" charset="-120"/>
              </a:rPr>
              <a:t>Service catalogue organised by category</a:t>
            </a:r>
            <a:endParaRPr lang="en-US" sz="1250" dirty="0"/>
          </a:p>
          <a:p>
            <a:pPr marL="342900" indent="-342900">
              <a:lnSpc>
                <a:spcPct val="125000"/>
              </a:lnSpc>
              <a:spcAft>
                <a:spcPts val="800"/>
              </a:spcAft>
              <a:buSzPct val="100000"/>
              <a:buChar char="✓"/>
            </a:pPr>
            <a:r>
              <a:rPr lang="en-US" sz="1250" dirty="0">
                <a:solidFill>
                  <a:srgbClr val="27343A"/>
                </a:solidFill>
                <a:latin typeface="Calibri" pitchFamily="34" charset="0"/>
                <a:ea typeface="Calibri" pitchFamily="34" charset="-122"/>
                <a:cs typeface="Calibri" pitchFamily="34" charset="-120"/>
              </a:rPr>
              <a:t>Staff, skills and weekly work schedules</a:t>
            </a:r>
            <a:endParaRPr lang="en-US" sz="1250" dirty="0"/>
          </a:p>
          <a:p>
            <a:pPr marL="342900" indent="-342900">
              <a:lnSpc>
                <a:spcPct val="125000"/>
              </a:lnSpc>
              <a:spcAft>
                <a:spcPts val="800"/>
              </a:spcAft>
              <a:buSzPct val="100000"/>
              <a:buChar char="✓"/>
            </a:pPr>
            <a:r>
              <a:rPr lang="en-US" sz="1250" dirty="0">
                <a:solidFill>
                  <a:srgbClr val="27343A"/>
                </a:solidFill>
                <a:latin typeface="Calibri" pitchFamily="34" charset="0"/>
                <a:ea typeface="Calibri" pitchFamily="34" charset="-122"/>
                <a:cs typeface="Calibri" pitchFamily="34" charset="-120"/>
              </a:rPr>
              <a:t>Appointment booking with skill-matched staff</a:t>
            </a:r>
            <a:endParaRPr lang="en-US" sz="1250" dirty="0"/>
          </a:p>
          <a:p>
            <a:pPr marL="342900" indent="-342900">
              <a:lnSpc>
                <a:spcPct val="125000"/>
              </a:lnSpc>
              <a:spcAft>
                <a:spcPts val="800"/>
              </a:spcAft>
              <a:buSzPct val="100000"/>
              <a:buChar char="✓"/>
            </a:pPr>
            <a:r>
              <a:rPr lang="en-US" sz="1250" dirty="0">
                <a:solidFill>
                  <a:srgbClr val="27343A"/>
                </a:solidFill>
                <a:latin typeface="Calibri" pitchFamily="34" charset="0"/>
                <a:ea typeface="Calibri" pitchFamily="34" charset="-122"/>
                <a:cs typeface="Calibri" pitchFamily="34" charset="-120"/>
              </a:rPr>
              <a:t>Packages, memberships and session tracking</a:t>
            </a:r>
            <a:endParaRPr lang="en-US" sz="1250" dirty="0"/>
          </a:p>
          <a:p>
            <a:pPr marL="342900" indent="-342900">
              <a:lnSpc>
                <a:spcPct val="125000"/>
              </a:lnSpc>
              <a:spcAft>
                <a:spcPts val="800"/>
              </a:spcAft>
              <a:buSzPct val="100000"/>
              <a:buChar char="✓"/>
            </a:pPr>
            <a:r>
              <a:rPr lang="en-US" sz="1250" dirty="0">
                <a:solidFill>
                  <a:srgbClr val="27343A"/>
                </a:solidFill>
                <a:latin typeface="Calibri" pitchFamily="34" charset="0"/>
                <a:ea typeface="Calibri" pitchFamily="34" charset="-122"/>
                <a:cs typeface="Calibri" pitchFamily="34" charset="-120"/>
              </a:rPr>
              <a:t>Product usage recorded per appointment</a:t>
            </a:r>
            <a:endParaRPr lang="en-US" sz="1250" dirty="0"/>
          </a:p>
          <a:p>
            <a:pPr marL="342900" indent="-342900">
              <a:lnSpc>
                <a:spcPct val="125000"/>
              </a:lnSpc>
              <a:spcAft>
                <a:spcPts val="800"/>
              </a:spcAft>
              <a:buSzPct val="100000"/>
              <a:buChar char="✓"/>
            </a:pPr>
            <a:r>
              <a:rPr lang="en-US" sz="1250" dirty="0">
                <a:solidFill>
                  <a:srgbClr val="27343A"/>
                </a:solidFill>
                <a:latin typeface="Calibri" pitchFamily="34" charset="0"/>
                <a:ea typeface="Calibri" pitchFamily="34" charset="-122"/>
                <a:cs typeface="Calibri" pitchFamily="34" charset="-120"/>
              </a:rPr>
              <a:t>Billing, discounts, taxes and payments</a:t>
            </a:r>
            <a:endParaRPr lang="en-US" sz="1250" dirty="0"/>
          </a:p>
          <a:p>
            <a:pPr marL="342900" indent="-342900">
              <a:lnSpc>
                <a:spcPct val="125000"/>
              </a:lnSpc>
              <a:spcAft>
                <a:spcPts val="800"/>
              </a:spcAft>
              <a:buSzPct val="100000"/>
              <a:buChar char="✓"/>
            </a:pPr>
            <a:r>
              <a:rPr lang="en-US" sz="1250" dirty="0">
                <a:solidFill>
                  <a:srgbClr val="27343A"/>
                </a:solidFill>
                <a:latin typeface="Calibri" pitchFamily="34" charset="0"/>
                <a:ea typeface="Calibri" pitchFamily="34" charset="-122"/>
                <a:cs typeface="Calibri" pitchFamily="34" charset="-120"/>
              </a:rPr>
              <a:t>Reports: utilisation, popularity, revenue</a:t>
            </a:r>
            <a:endParaRPr lang="en-US" sz="1250" dirty="0"/>
          </a:p>
        </p:txBody>
      </p:sp>
      <p:sp>
        <p:nvSpPr>
          <p:cNvPr id="9" name="Shape 6"/>
          <p:cNvSpPr/>
          <p:nvPr/>
        </p:nvSpPr>
        <p:spPr>
          <a:xfrm>
            <a:off x="6217920" y="1600200"/>
            <a:ext cx="5468112" cy="4480560"/>
          </a:xfrm>
          <a:prstGeom prst="roundRect">
            <a:avLst>
              <a:gd name="adj" fmla="val 2041"/>
            </a:avLst>
          </a:prstGeom>
          <a:solidFill>
            <a:srgbClr val="FFFFFF"/>
          </a:solidFill>
          <a:ln w="15875">
            <a:solidFill>
              <a:srgbClr val="84B59F"/>
            </a:solidFill>
            <a:prstDash val="solid"/>
          </a:ln>
        </p:spPr>
      </p:sp>
      <p:sp>
        <p:nvSpPr>
          <p:cNvPr id="10" name="Text 7"/>
          <p:cNvSpPr/>
          <p:nvPr/>
        </p:nvSpPr>
        <p:spPr>
          <a:xfrm>
            <a:off x="6537960" y="1828800"/>
            <a:ext cx="4846320" cy="320040"/>
          </a:xfrm>
          <a:prstGeom prst="rect">
            <a:avLst/>
          </a:prstGeom>
          <a:noFill/>
          <a:ln/>
        </p:spPr>
        <p:txBody>
          <a:bodyPr wrap="square" rtlCol="0" anchor="ctr"/>
          <a:lstStyle/>
          <a:p>
            <a:pPr indent="0" marL="0">
              <a:buNone/>
            </a:pPr>
            <a:r>
              <a:rPr lang="en-US" sz="1300" b="1" spc="150" kern="0" dirty="0">
                <a:solidFill>
                  <a:srgbClr val="6D2E46"/>
                </a:solidFill>
                <a:latin typeface="Calibri" pitchFamily="34" charset="0"/>
                <a:ea typeface="Calibri" pitchFamily="34" charset="-122"/>
                <a:cs typeface="Calibri" pitchFamily="34" charset="-120"/>
              </a:rPr>
              <a:t>OUT OF SCOPE (Review 1)</a:t>
            </a:r>
            <a:endParaRPr lang="en-US" sz="1300" dirty="0"/>
          </a:p>
        </p:txBody>
      </p:sp>
      <p:sp>
        <p:nvSpPr>
          <p:cNvPr id="11" name="Text 8"/>
          <p:cNvSpPr/>
          <p:nvPr/>
        </p:nvSpPr>
        <p:spPr>
          <a:xfrm>
            <a:off x="6537960" y="2194560"/>
            <a:ext cx="4846320" cy="3749040"/>
          </a:xfrm>
          <a:prstGeom prst="rect">
            <a:avLst/>
          </a:prstGeom>
          <a:noFill/>
          <a:ln/>
        </p:spPr>
        <p:txBody>
          <a:bodyPr wrap="square" rtlCol="0" anchor="t"/>
          <a:lstStyle/>
          <a:p>
            <a:pPr marL="342900" indent="-342900">
              <a:lnSpc>
                <a:spcPct val="125000"/>
              </a:lnSpc>
              <a:spcAft>
                <a:spcPts val="1000"/>
              </a:spcAft>
              <a:buSzPct val="100000"/>
              <a:buChar char="✗"/>
            </a:pPr>
            <a:r>
              <a:rPr lang="en-US" sz="1250" dirty="0">
                <a:solidFill>
                  <a:srgbClr val="27343A"/>
                </a:solidFill>
                <a:latin typeface="Calibri" pitchFamily="34" charset="0"/>
                <a:ea typeface="Calibri" pitchFamily="34" charset="-122"/>
                <a:cs typeface="Calibri" pitchFamily="34" charset="-120"/>
              </a:rPr>
              <a:t>Multi-branch / franchise management</a:t>
            </a:r>
            <a:endParaRPr lang="en-US" sz="1250" dirty="0"/>
          </a:p>
          <a:p>
            <a:pPr marL="342900" indent="-342900">
              <a:lnSpc>
                <a:spcPct val="125000"/>
              </a:lnSpc>
              <a:spcAft>
                <a:spcPts val="1000"/>
              </a:spcAft>
              <a:buSzPct val="100000"/>
              <a:buChar char="✗"/>
            </a:pPr>
            <a:r>
              <a:rPr lang="en-US" sz="1250" dirty="0">
                <a:solidFill>
                  <a:srgbClr val="27343A"/>
                </a:solidFill>
                <a:latin typeface="Calibri" pitchFamily="34" charset="0"/>
                <a:ea typeface="Calibri" pitchFamily="34" charset="-122"/>
                <a:cs typeface="Calibri" pitchFamily="34" charset="-120"/>
              </a:rPr>
              <a:t>Online payment gateway integration</a:t>
            </a:r>
            <a:endParaRPr lang="en-US" sz="1250" dirty="0"/>
          </a:p>
          <a:p>
            <a:pPr marL="342900" indent="-342900">
              <a:lnSpc>
                <a:spcPct val="125000"/>
              </a:lnSpc>
              <a:spcAft>
                <a:spcPts val="1000"/>
              </a:spcAft>
              <a:buSzPct val="100000"/>
              <a:buChar char="✗"/>
            </a:pPr>
            <a:r>
              <a:rPr lang="en-US" sz="1250" dirty="0">
                <a:solidFill>
                  <a:srgbClr val="27343A"/>
                </a:solidFill>
                <a:latin typeface="Calibri" pitchFamily="34" charset="0"/>
                <a:ea typeface="Calibri" pitchFamily="34" charset="-122"/>
                <a:cs typeface="Calibri" pitchFamily="34" charset="-120"/>
              </a:rPr>
              <a:t>Mobile app front-end (web/desktop only)</a:t>
            </a:r>
            <a:endParaRPr lang="en-US" sz="1250" dirty="0"/>
          </a:p>
          <a:p>
            <a:pPr marL="342900" indent="-342900">
              <a:lnSpc>
                <a:spcPct val="125000"/>
              </a:lnSpc>
              <a:spcAft>
                <a:spcPts val="1000"/>
              </a:spcAft>
              <a:buSzPct val="100000"/>
              <a:buChar char="✗"/>
            </a:pPr>
            <a:r>
              <a:rPr lang="en-US" sz="1250" dirty="0">
                <a:solidFill>
                  <a:srgbClr val="27343A"/>
                </a:solidFill>
                <a:latin typeface="Calibri" pitchFamily="34" charset="0"/>
                <a:ea typeface="Calibri" pitchFamily="34" charset="-122"/>
                <a:cs typeface="Calibri" pitchFamily="34" charset="-120"/>
              </a:rPr>
              <a:t>SMS / email marketing automation</a:t>
            </a:r>
            <a:endParaRPr lang="en-US" sz="1250" dirty="0"/>
          </a:p>
          <a:p>
            <a:pPr marL="342900" indent="-342900">
              <a:lnSpc>
                <a:spcPct val="125000"/>
              </a:lnSpc>
              <a:spcAft>
                <a:spcPts val="1000"/>
              </a:spcAft>
              <a:buSzPct val="100000"/>
              <a:buChar char="✗"/>
            </a:pPr>
            <a:r>
              <a:rPr lang="en-US" sz="1250" dirty="0">
                <a:solidFill>
                  <a:srgbClr val="27343A"/>
                </a:solidFill>
                <a:latin typeface="Calibri" pitchFamily="34" charset="0"/>
                <a:ea typeface="Calibri" pitchFamily="34" charset="-122"/>
                <a:cs typeface="Calibri" pitchFamily="34" charset="-120"/>
              </a:rPr>
              <a:t>HR &amp; payroll processing for staff</a:t>
            </a:r>
            <a:endParaRPr lang="en-US" sz="1250" dirty="0"/>
          </a:p>
          <a:p>
            <a:pPr marL="342900" indent="-342900">
              <a:lnSpc>
                <a:spcPct val="125000"/>
              </a:lnSpc>
              <a:spcAft>
                <a:spcPts val="1000"/>
              </a:spcAft>
              <a:buSzPct val="100000"/>
              <a:buChar char="✗"/>
            </a:pPr>
            <a:r>
              <a:rPr lang="en-US" sz="1250" dirty="0">
                <a:solidFill>
                  <a:srgbClr val="27343A"/>
                </a:solidFill>
                <a:latin typeface="Calibri" pitchFamily="34" charset="0"/>
                <a:ea typeface="Calibri" pitchFamily="34" charset="-122"/>
                <a:cs typeface="Calibri" pitchFamily="34" charset="-120"/>
              </a:rPr>
              <a:t>Third-party POS or accounting integration</a:t>
            </a:r>
            <a:endParaRPr lang="en-US" sz="1250" dirty="0"/>
          </a:p>
        </p:txBody>
      </p:sp>
      <p:sp>
        <p:nvSpPr>
          <p:cNvPr id="13" name="Text 9"/>
          <p:cNvSpPr/>
          <p:nvPr/>
        </p:nvSpPr>
        <p:spPr>
          <a:xfrm>
            <a:off x="502920" y="6473952"/>
            <a:ext cx="8229600" cy="274320"/>
          </a:xfrm>
          <a:prstGeom prst="rect">
            <a:avLst/>
          </a:prstGeom>
          <a:noFill/>
          <a:ln/>
        </p:spPr>
        <p:txBody>
          <a:bodyPr wrap="square" rtlCol="0" anchor="ctr"/>
          <a:lstStyle/>
          <a:p>
            <a:pPr indent="0" marL="0">
              <a:buNone/>
            </a:pPr>
            <a:r>
              <a:rPr lang="en-US" sz="900" spc="100" kern="0" dirty="0">
                <a:solidFill>
                  <a:srgbClr val="5B6B6E"/>
                </a:solidFill>
                <a:latin typeface="Calibri" pitchFamily="34" charset="0"/>
                <a:ea typeface="Calibri" pitchFamily="34" charset="-122"/>
                <a:cs typeface="Calibri" pitchFamily="34" charset="-120"/>
              </a:rPr>
              <a:t>SALON &amp; SPA APPOINTMENT MANAGEMENT SYSTEM  |  REVIEW 1</a:t>
            </a:r>
            <a:endParaRPr lang="en-US" sz="900" dirty="0"/>
          </a:p>
        </p:txBody>
      </p:sp>
      <p:sp>
        <p:nvSpPr>
          <p:cNvPr id="14" name="Text 10"/>
          <p:cNvSpPr/>
          <p:nvPr/>
        </p:nvSpPr>
        <p:spPr>
          <a:xfrm>
            <a:off x="11228832" y="6473952"/>
            <a:ext cx="457200" cy="274320"/>
          </a:xfrm>
          <a:prstGeom prst="rect">
            <a:avLst/>
          </a:prstGeom>
          <a:noFill/>
          <a:ln/>
        </p:spPr>
        <p:txBody>
          <a:bodyPr wrap="square" rtlCol="0" anchor="ctr"/>
          <a:lstStyle/>
          <a:p>
            <a:pPr algn="r" indent="0" marL="0">
              <a:buNone/>
            </a:pPr>
            <a:r>
              <a:rPr lang="en-US" sz="900" dirty="0">
                <a:solidFill>
                  <a:srgbClr val="5B6B6E"/>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384048"/>
            <a:ext cx="8229600" cy="292608"/>
          </a:xfrm>
          <a:prstGeom prst="rect">
            <a:avLst/>
          </a:prstGeom>
          <a:noFill/>
          <a:ln/>
        </p:spPr>
        <p:txBody>
          <a:bodyPr wrap="square" rtlCol="0" anchor="ctr"/>
          <a:lstStyle/>
          <a:p>
            <a:pPr indent="0" marL="0">
              <a:buNone/>
            </a:pPr>
            <a:r>
              <a:rPr lang="en-US" sz="1200" b="1" spc="200" kern="0" dirty="0">
                <a:solidFill>
                  <a:srgbClr val="6D2E46"/>
                </a:solidFill>
                <a:latin typeface="Calibri" pitchFamily="34" charset="0"/>
                <a:ea typeface="Calibri" pitchFamily="34" charset="-122"/>
                <a:cs typeface="Calibri" pitchFamily="34" charset="-120"/>
              </a:rPr>
              <a:t>GOALS OF THE SYSTEM</a:t>
            </a:r>
            <a:endParaRPr lang="en-US" sz="1200" dirty="0"/>
          </a:p>
        </p:txBody>
      </p:sp>
      <p:sp>
        <p:nvSpPr>
          <p:cNvPr id="3" name="Text 1"/>
          <p:cNvSpPr txBox="1"/>
          <p:nvPr/>
        </p:nvSpPr>
        <p:spPr>
          <a:xfrm>
            <a:off x="502920" y="658368"/>
            <a:ext cx="9692640" cy="685800"/>
          </a:xfrm>
          <a:prstGeom prst="rect">
            <a:avLst/>
          </a:prstGeom>
          <a:noFill/>
          <a:ln/>
        </p:spPr>
        <p:txBody>
          <a:bodyPr wrap="square" rtlCol="0" anchor="ctr"/>
          <a:lstStyle/>
          <a:p>
            <a:pPr indent="0" marL="0">
              <a:buNone/>
            </a:pPr>
            <a:r>
              <a:rPr lang="en-US" sz="3000" b="1" dirty="0">
                <a:solidFill>
                  <a:srgbClr val="27343A"/>
                </a:solidFill>
                <a:latin typeface="Cambria" pitchFamily="34" charset="0"/>
                <a:ea typeface="Cambria" pitchFamily="34" charset="-122"/>
                <a:cs typeface="Cambria" pitchFamily="34" charset="-120"/>
              </a:rPr>
              <a:t>Objectives</a:t>
            </a:r>
            <a:endParaRPr lang="en-US" sz="3000" dirty="0"/>
          </a:p>
        </p:txBody>
      </p:sp>
      <p:sp>
        <p:nvSpPr>
          <p:cNvPr id="4" name="Shape 2"/>
          <p:cNvSpPr/>
          <p:nvPr/>
        </p:nvSpPr>
        <p:spPr>
          <a:xfrm>
            <a:off x="11119104" y="457200"/>
            <a:ext cx="566928" cy="566928"/>
          </a:xfrm>
          <a:prstGeom prst="ellipse">
            <a:avLst/>
          </a:prstGeom>
          <a:solidFill>
            <a:srgbClr val="6D2E46"/>
          </a:solidFill>
          <a:ln/>
        </p:spPr>
      </p:sp>
      <p:pic>
        <p:nvPicPr>
          <p:cNvPr id="5" name="Image 0" descr="/tmp/claude-0/-home-claude/12ac4f2c-a806-5c6e-9789-8d976e37a451/scratchpad/salon_ppt/icons/objectives.png">    </p:cNvPr>
          <p:cNvPicPr>
            <a:picLocks noChangeAspect="1"/>
          </p:cNvPicPr>
          <p:nvPr/>
        </p:nvPicPr>
        <p:blipFill>
          <a:blip r:embed="rId1"/>
          <a:stretch>
            <a:fillRect/>
          </a:stretch>
        </p:blipFill>
        <p:spPr>
          <a:xfrm>
            <a:off x="11187135" y="525231"/>
            <a:ext cx="430865" cy="430865"/>
          </a:xfrm>
          <a:prstGeom prst="rect">
            <a:avLst/>
          </a:prstGeom>
        </p:spPr>
      </p:pic>
      <p:sp>
        <p:nvSpPr>
          <p:cNvPr id="6" name="Shape 3"/>
          <p:cNvSpPr/>
          <p:nvPr/>
        </p:nvSpPr>
        <p:spPr>
          <a:xfrm>
            <a:off x="502920" y="1600200"/>
            <a:ext cx="5468112" cy="1417320"/>
          </a:xfrm>
          <a:prstGeom prst="roundRect">
            <a:avLst>
              <a:gd name="adj" fmla="val 5161"/>
            </a:avLst>
          </a:prstGeom>
          <a:solidFill>
            <a:srgbClr val="F3EFE7"/>
          </a:solidFill>
          <a:ln/>
        </p:spPr>
      </p:sp>
      <p:sp>
        <p:nvSpPr>
          <p:cNvPr id="7" name="Shape 4"/>
          <p:cNvSpPr/>
          <p:nvPr/>
        </p:nvSpPr>
        <p:spPr>
          <a:xfrm>
            <a:off x="685800" y="1764792"/>
            <a:ext cx="420624" cy="420624"/>
          </a:xfrm>
          <a:prstGeom prst="ellipse">
            <a:avLst/>
          </a:prstGeom>
          <a:solidFill>
            <a:srgbClr val="69A297"/>
          </a:solidFill>
          <a:ln/>
        </p:spPr>
      </p:sp>
      <p:sp>
        <p:nvSpPr>
          <p:cNvPr id="8" name="Text 5"/>
          <p:cNvSpPr/>
          <p:nvPr/>
        </p:nvSpPr>
        <p:spPr>
          <a:xfrm>
            <a:off x="685800" y="1764792"/>
            <a:ext cx="420624" cy="420624"/>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9" name="Text 6"/>
          <p:cNvSpPr/>
          <p:nvPr/>
        </p:nvSpPr>
        <p:spPr>
          <a:xfrm>
            <a:off x="1252728" y="1728216"/>
            <a:ext cx="4553712" cy="365760"/>
          </a:xfrm>
          <a:prstGeom prst="rect">
            <a:avLst/>
          </a:prstGeom>
          <a:noFill/>
          <a:ln/>
        </p:spPr>
        <p:txBody>
          <a:bodyPr wrap="square" rtlCol="0" anchor="t"/>
          <a:lstStyle/>
          <a:p>
            <a:pPr indent="0" marL="0">
              <a:buNone/>
            </a:pPr>
            <a:r>
              <a:rPr lang="en-US" sz="1300" b="1" dirty="0">
                <a:solidFill>
                  <a:srgbClr val="27343A"/>
                </a:solidFill>
                <a:latin typeface="Calibri" pitchFamily="34" charset="0"/>
                <a:ea typeface="Calibri" pitchFamily="34" charset="-122"/>
                <a:cs typeface="Calibri" pitchFamily="34" charset="-120"/>
              </a:rPr>
              <a:t>Model the domain accurately</a:t>
            </a:r>
            <a:endParaRPr lang="en-US" sz="1300" dirty="0"/>
          </a:p>
        </p:txBody>
      </p:sp>
      <p:sp>
        <p:nvSpPr>
          <p:cNvPr id="10" name="Text 7"/>
          <p:cNvSpPr/>
          <p:nvPr/>
        </p:nvSpPr>
        <p:spPr>
          <a:xfrm>
            <a:off x="1252728" y="2093976"/>
            <a:ext cx="4553712" cy="822960"/>
          </a:xfrm>
          <a:prstGeom prst="rect">
            <a:avLst/>
          </a:prstGeom>
          <a:noFill/>
          <a:ln/>
        </p:spPr>
        <p:txBody>
          <a:bodyPr wrap="square" rtlCol="0" anchor="t"/>
          <a:lstStyle/>
          <a:p>
            <a:pPr indent="0" marL="0">
              <a:lnSpc>
                <a:spcPct val="118000"/>
              </a:lnSpc>
              <a:buNone/>
            </a:pPr>
            <a:r>
              <a:rPr lang="en-US" sz="1080" dirty="0">
                <a:solidFill>
                  <a:srgbClr val="5B6B6E"/>
                </a:solidFill>
                <a:latin typeface="Calibri" pitchFamily="34" charset="0"/>
                <a:ea typeface="Calibri" pitchFamily="34" charset="-122"/>
                <a:cs typeface="Calibri" pitchFamily="34" charset="-120"/>
              </a:rPr>
              <a:t>Capture customers, services, staff, skills, schedules, appointments, packages, memberships, products and billing as a normalized relational schema.</a:t>
            </a:r>
            <a:endParaRPr lang="en-US" sz="1080" dirty="0"/>
          </a:p>
        </p:txBody>
      </p:sp>
      <p:sp>
        <p:nvSpPr>
          <p:cNvPr id="11" name="Shape 8"/>
          <p:cNvSpPr/>
          <p:nvPr/>
        </p:nvSpPr>
        <p:spPr>
          <a:xfrm>
            <a:off x="6190488" y="1600200"/>
            <a:ext cx="5468112" cy="1417320"/>
          </a:xfrm>
          <a:prstGeom prst="roundRect">
            <a:avLst>
              <a:gd name="adj" fmla="val 5161"/>
            </a:avLst>
          </a:prstGeom>
          <a:solidFill>
            <a:srgbClr val="F3EFE7"/>
          </a:solidFill>
          <a:ln/>
        </p:spPr>
      </p:sp>
      <p:sp>
        <p:nvSpPr>
          <p:cNvPr id="12" name="Shape 9"/>
          <p:cNvSpPr/>
          <p:nvPr/>
        </p:nvSpPr>
        <p:spPr>
          <a:xfrm>
            <a:off x="6373368" y="1764792"/>
            <a:ext cx="420624" cy="420624"/>
          </a:xfrm>
          <a:prstGeom prst="ellipse">
            <a:avLst/>
          </a:prstGeom>
          <a:solidFill>
            <a:srgbClr val="69A297"/>
          </a:solidFill>
          <a:ln/>
        </p:spPr>
      </p:sp>
      <p:sp>
        <p:nvSpPr>
          <p:cNvPr id="13" name="Text 10"/>
          <p:cNvSpPr/>
          <p:nvPr/>
        </p:nvSpPr>
        <p:spPr>
          <a:xfrm>
            <a:off x="6373368" y="1764792"/>
            <a:ext cx="420624" cy="420624"/>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4" name="Text 11"/>
          <p:cNvSpPr/>
          <p:nvPr/>
        </p:nvSpPr>
        <p:spPr>
          <a:xfrm>
            <a:off x="6940296" y="1728216"/>
            <a:ext cx="4553712" cy="365760"/>
          </a:xfrm>
          <a:prstGeom prst="rect">
            <a:avLst/>
          </a:prstGeom>
          <a:noFill/>
          <a:ln/>
        </p:spPr>
        <p:txBody>
          <a:bodyPr wrap="square" rtlCol="0" anchor="t"/>
          <a:lstStyle/>
          <a:p>
            <a:pPr indent="0" marL="0">
              <a:buNone/>
            </a:pPr>
            <a:r>
              <a:rPr lang="en-US" sz="1300" b="1" dirty="0">
                <a:solidFill>
                  <a:srgbClr val="27343A"/>
                </a:solidFill>
                <a:latin typeface="Calibri" pitchFamily="34" charset="0"/>
                <a:ea typeface="Calibri" pitchFamily="34" charset="-122"/>
                <a:cs typeface="Calibri" pitchFamily="34" charset="-120"/>
              </a:rPr>
              <a:t>Eliminate scheduling conflicts</a:t>
            </a:r>
            <a:endParaRPr lang="en-US" sz="1300" dirty="0"/>
          </a:p>
        </p:txBody>
      </p:sp>
      <p:sp>
        <p:nvSpPr>
          <p:cNvPr id="15" name="Text 12"/>
          <p:cNvSpPr/>
          <p:nvPr/>
        </p:nvSpPr>
        <p:spPr>
          <a:xfrm>
            <a:off x="6940296" y="2093976"/>
            <a:ext cx="4553712" cy="822960"/>
          </a:xfrm>
          <a:prstGeom prst="rect">
            <a:avLst/>
          </a:prstGeom>
          <a:noFill/>
          <a:ln/>
        </p:spPr>
        <p:txBody>
          <a:bodyPr wrap="square" rtlCol="0" anchor="t"/>
          <a:lstStyle/>
          <a:p>
            <a:pPr indent="0" marL="0">
              <a:lnSpc>
                <a:spcPct val="118000"/>
              </a:lnSpc>
              <a:buNone/>
            </a:pPr>
            <a:r>
              <a:rPr lang="en-US" sz="1080" dirty="0">
                <a:solidFill>
                  <a:srgbClr val="5B6B6E"/>
                </a:solidFill>
                <a:latin typeface="Calibri" pitchFamily="34" charset="0"/>
                <a:ea typeface="Calibri" pitchFamily="34" charset="-122"/>
                <a:cs typeface="Calibri" pitchFamily="34" charset="-120"/>
              </a:rPr>
              <a:t>Enforce no overlapping staff appointments, valid appointment times and skill-based staff assignment through DB constraints.</a:t>
            </a:r>
            <a:endParaRPr lang="en-US" sz="1080" dirty="0"/>
          </a:p>
        </p:txBody>
      </p:sp>
      <p:sp>
        <p:nvSpPr>
          <p:cNvPr id="16" name="Shape 13"/>
          <p:cNvSpPr/>
          <p:nvPr/>
        </p:nvSpPr>
        <p:spPr>
          <a:xfrm>
            <a:off x="502920" y="3200400"/>
            <a:ext cx="5468112" cy="1417320"/>
          </a:xfrm>
          <a:prstGeom prst="roundRect">
            <a:avLst>
              <a:gd name="adj" fmla="val 5161"/>
            </a:avLst>
          </a:prstGeom>
          <a:solidFill>
            <a:srgbClr val="F3EFE7"/>
          </a:solidFill>
          <a:ln/>
        </p:spPr>
      </p:sp>
      <p:sp>
        <p:nvSpPr>
          <p:cNvPr id="17" name="Shape 14"/>
          <p:cNvSpPr/>
          <p:nvPr/>
        </p:nvSpPr>
        <p:spPr>
          <a:xfrm>
            <a:off x="685800" y="3364992"/>
            <a:ext cx="420624" cy="420624"/>
          </a:xfrm>
          <a:prstGeom prst="ellipse">
            <a:avLst/>
          </a:prstGeom>
          <a:solidFill>
            <a:srgbClr val="69A297"/>
          </a:solidFill>
          <a:ln/>
        </p:spPr>
      </p:sp>
      <p:sp>
        <p:nvSpPr>
          <p:cNvPr id="18" name="Text 15"/>
          <p:cNvSpPr/>
          <p:nvPr/>
        </p:nvSpPr>
        <p:spPr>
          <a:xfrm>
            <a:off x="685800" y="3364992"/>
            <a:ext cx="420624" cy="420624"/>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9" name="Text 16"/>
          <p:cNvSpPr/>
          <p:nvPr/>
        </p:nvSpPr>
        <p:spPr>
          <a:xfrm>
            <a:off x="1252728" y="3328416"/>
            <a:ext cx="4553712" cy="365760"/>
          </a:xfrm>
          <a:prstGeom prst="rect">
            <a:avLst/>
          </a:prstGeom>
          <a:noFill/>
          <a:ln/>
        </p:spPr>
        <p:txBody>
          <a:bodyPr wrap="square" rtlCol="0" anchor="t"/>
          <a:lstStyle/>
          <a:p>
            <a:pPr indent="0" marL="0">
              <a:buNone/>
            </a:pPr>
            <a:r>
              <a:rPr lang="en-US" sz="1300" b="1" dirty="0">
                <a:solidFill>
                  <a:srgbClr val="27343A"/>
                </a:solidFill>
                <a:latin typeface="Calibri" pitchFamily="34" charset="0"/>
                <a:ea typeface="Calibri" pitchFamily="34" charset="-122"/>
                <a:cs typeface="Calibri" pitchFamily="34" charset="-120"/>
              </a:rPr>
              <a:t>Guarantee data integrity</a:t>
            </a:r>
            <a:endParaRPr lang="en-US" sz="1300" dirty="0"/>
          </a:p>
        </p:txBody>
      </p:sp>
      <p:sp>
        <p:nvSpPr>
          <p:cNvPr id="20" name="Text 17"/>
          <p:cNvSpPr/>
          <p:nvPr/>
        </p:nvSpPr>
        <p:spPr>
          <a:xfrm>
            <a:off x="1252728" y="3694176"/>
            <a:ext cx="4553712" cy="822960"/>
          </a:xfrm>
          <a:prstGeom prst="rect">
            <a:avLst/>
          </a:prstGeom>
          <a:noFill/>
          <a:ln/>
        </p:spPr>
        <p:txBody>
          <a:bodyPr wrap="square" rtlCol="0" anchor="t"/>
          <a:lstStyle/>
          <a:p>
            <a:pPr indent="0" marL="0">
              <a:lnSpc>
                <a:spcPct val="118000"/>
              </a:lnSpc>
              <a:buNone/>
            </a:pPr>
            <a:r>
              <a:rPr lang="en-US" sz="1080" dirty="0">
                <a:solidFill>
                  <a:srgbClr val="5B6B6E"/>
                </a:solidFill>
                <a:latin typeface="Calibri" pitchFamily="34" charset="0"/>
                <a:ea typeface="Calibri" pitchFamily="34" charset="-122"/>
                <a:cs typeface="Calibri" pitchFamily="34" charset="-120"/>
              </a:rPr>
              <a:t>Apply keys, UNIQUE, NOT NULL, CHECK and DEFAULT constraints; normalize up to 3NF to remove redundancy and anomalies.</a:t>
            </a:r>
            <a:endParaRPr lang="en-US" sz="1080" dirty="0"/>
          </a:p>
        </p:txBody>
      </p:sp>
      <p:sp>
        <p:nvSpPr>
          <p:cNvPr id="21" name="Shape 18"/>
          <p:cNvSpPr/>
          <p:nvPr/>
        </p:nvSpPr>
        <p:spPr>
          <a:xfrm>
            <a:off x="6190488" y="3200400"/>
            <a:ext cx="5468112" cy="1417320"/>
          </a:xfrm>
          <a:prstGeom prst="roundRect">
            <a:avLst>
              <a:gd name="adj" fmla="val 5161"/>
            </a:avLst>
          </a:prstGeom>
          <a:solidFill>
            <a:srgbClr val="F3EFE7"/>
          </a:solidFill>
          <a:ln/>
        </p:spPr>
      </p:sp>
      <p:sp>
        <p:nvSpPr>
          <p:cNvPr id="22" name="Shape 19"/>
          <p:cNvSpPr/>
          <p:nvPr/>
        </p:nvSpPr>
        <p:spPr>
          <a:xfrm>
            <a:off x="6373368" y="3364992"/>
            <a:ext cx="420624" cy="420624"/>
          </a:xfrm>
          <a:prstGeom prst="ellipse">
            <a:avLst/>
          </a:prstGeom>
          <a:solidFill>
            <a:srgbClr val="69A297"/>
          </a:solidFill>
          <a:ln/>
        </p:spPr>
      </p:sp>
      <p:sp>
        <p:nvSpPr>
          <p:cNvPr id="23" name="Text 20"/>
          <p:cNvSpPr/>
          <p:nvPr/>
        </p:nvSpPr>
        <p:spPr>
          <a:xfrm>
            <a:off x="6373368" y="3364992"/>
            <a:ext cx="420624" cy="420624"/>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4" name="Text 21"/>
          <p:cNvSpPr/>
          <p:nvPr/>
        </p:nvSpPr>
        <p:spPr>
          <a:xfrm>
            <a:off x="6940296" y="3328416"/>
            <a:ext cx="4553712" cy="365760"/>
          </a:xfrm>
          <a:prstGeom prst="rect">
            <a:avLst/>
          </a:prstGeom>
          <a:noFill/>
          <a:ln/>
        </p:spPr>
        <p:txBody>
          <a:bodyPr wrap="square" rtlCol="0" anchor="t"/>
          <a:lstStyle/>
          <a:p>
            <a:pPr indent="0" marL="0">
              <a:buNone/>
            </a:pPr>
            <a:r>
              <a:rPr lang="en-US" sz="1300" b="1" dirty="0">
                <a:solidFill>
                  <a:srgbClr val="27343A"/>
                </a:solidFill>
                <a:latin typeface="Calibri" pitchFamily="34" charset="0"/>
                <a:ea typeface="Calibri" pitchFamily="34" charset="-122"/>
                <a:cs typeface="Calibri" pitchFamily="34" charset="-120"/>
              </a:rPr>
              <a:t>Track packages, stock &amp; revenue</a:t>
            </a:r>
            <a:endParaRPr lang="en-US" sz="1300" dirty="0"/>
          </a:p>
        </p:txBody>
      </p:sp>
      <p:sp>
        <p:nvSpPr>
          <p:cNvPr id="25" name="Text 22"/>
          <p:cNvSpPr/>
          <p:nvPr/>
        </p:nvSpPr>
        <p:spPr>
          <a:xfrm>
            <a:off x="6940296" y="3694176"/>
            <a:ext cx="4553712" cy="822960"/>
          </a:xfrm>
          <a:prstGeom prst="rect">
            <a:avLst/>
          </a:prstGeom>
          <a:noFill/>
          <a:ln/>
        </p:spPr>
        <p:txBody>
          <a:bodyPr wrap="square" rtlCol="0" anchor="t"/>
          <a:lstStyle/>
          <a:p>
            <a:pPr indent="0" marL="0">
              <a:lnSpc>
                <a:spcPct val="118000"/>
              </a:lnSpc>
              <a:buNone/>
            </a:pPr>
            <a:r>
              <a:rPr lang="en-US" sz="1080" dirty="0">
                <a:solidFill>
                  <a:srgbClr val="5B6B6E"/>
                </a:solidFill>
                <a:latin typeface="Calibri" pitchFamily="34" charset="0"/>
                <a:ea typeface="Calibri" pitchFamily="34" charset="-122"/>
                <a:cs typeface="Calibri" pitchFamily="34" charset="-120"/>
              </a:rPr>
              <a:t>Maintain accurate package-session balances, product usage and payment limits for reliable financial reporting.</a:t>
            </a:r>
            <a:endParaRPr lang="en-US" sz="1080" dirty="0"/>
          </a:p>
        </p:txBody>
      </p:sp>
      <p:sp>
        <p:nvSpPr>
          <p:cNvPr id="26" name="Shape 23"/>
          <p:cNvSpPr/>
          <p:nvPr/>
        </p:nvSpPr>
        <p:spPr>
          <a:xfrm>
            <a:off x="502920" y="4800600"/>
            <a:ext cx="5468112" cy="1417320"/>
          </a:xfrm>
          <a:prstGeom prst="roundRect">
            <a:avLst>
              <a:gd name="adj" fmla="val 5161"/>
            </a:avLst>
          </a:prstGeom>
          <a:solidFill>
            <a:srgbClr val="F3EFE7"/>
          </a:solidFill>
          <a:ln/>
        </p:spPr>
      </p:sp>
      <p:sp>
        <p:nvSpPr>
          <p:cNvPr id="27" name="Shape 24"/>
          <p:cNvSpPr/>
          <p:nvPr/>
        </p:nvSpPr>
        <p:spPr>
          <a:xfrm>
            <a:off x="685800" y="4965192"/>
            <a:ext cx="420624" cy="420624"/>
          </a:xfrm>
          <a:prstGeom prst="ellipse">
            <a:avLst/>
          </a:prstGeom>
          <a:solidFill>
            <a:srgbClr val="69A297"/>
          </a:solidFill>
          <a:ln/>
        </p:spPr>
      </p:sp>
      <p:sp>
        <p:nvSpPr>
          <p:cNvPr id="28" name="Text 25"/>
          <p:cNvSpPr/>
          <p:nvPr/>
        </p:nvSpPr>
        <p:spPr>
          <a:xfrm>
            <a:off x="685800" y="4965192"/>
            <a:ext cx="420624" cy="420624"/>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29" name="Text 26"/>
          <p:cNvSpPr/>
          <p:nvPr/>
        </p:nvSpPr>
        <p:spPr>
          <a:xfrm>
            <a:off x="1252728" y="4928616"/>
            <a:ext cx="4553712" cy="365760"/>
          </a:xfrm>
          <a:prstGeom prst="rect">
            <a:avLst/>
          </a:prstGeom>
          <a:noFill/>
          <a:ln/>
        </p:spPr>
        <p:txBody>
          <a:bodyPr wrap="square" rtlCol="0" anchor="t"/>
          <a:lstStyle/>
          <a:p>
            <a:pPr indent="0" marL="0">
              <a:buNone/>
            </a:pPr>
            <a:r>
              <a:rPr lang="en-US" sz="1300" b="1" dirty="0">
                <a:solidFill>
                  <a:srgbClr val="27343A"/>
                </a:solidFill>
                <a:latin typeface="Calibri" pitchFamily="34" charset="0"/>
                <a:ea typeface="Calibri" pitchFamily="34" charset="-122"/>
                <a:cs typeface="Calibri" pitchFamily="34" charset="-120"/>
              </a:rPr>
              <a:t>Enable actionable reporting</a:t>
            </a:r>
            <a:endParaRPr lang="en-US" sz="1300" dirty="0"/>
          </a:p>
        </p:txBody>
      </p:sp>
      <p:sp>
        <p:nvSpPr>
          <p:cNvPr id="30" name="Text 27"/>
          <p:cNvSpPr/>
          <p:nvPr/>
        </p:nvSpPr>
        <p:spPr>
          <a:xfrm>
            <a:off x="1252728" y="5294376"/>
            <a:ext cx="4553712" cy="822960"/>
          </a:xfrm>
          <a:prstGeom prst="rect">
            <a:avLst/>
          </a:prstGeom>
          <a:noFill/>
          <a:ln/>
        </p:spPr>
        <p:txBody>
          <a:bodyPr wrap="square" rtlCol="0" anchor="t"/>
          <a:lstStyle/>
          <a:p>
            <a:pPr indent="0" marL="0">
              <a:lnSpc>
                <a:spcPct val="118000"/>
              </a:lnSpc>
              <a:buNone/>
            </a:pPr>
            <a:r>
              <a:rPr lang="en-US" sz="1080" dirty="0">
                <a:solidFill>
                  <a:srgbClr val="5B6B6E"/>
                </a:solidFill>
                <a:latin typeface="Calibri" pitchFamily="34" charset="0"/>
                <a:ea typeface="Calibri" pitchFamily="34" charset="-122"/>
                <a:cs typeface="Calibri" pitchFamily="34" charset="-120"/>
              </a:rPr>
              <a:t>Support joins, aggregates, nested queries and views for appointments, staff utilisation, popularity and revenue.</a:t>
            </a:r>
            <a:endParaRPr lang="en-US" sz="1080" dirty="0"/>
          </a:p>
        </p:txBody>
      </p:sp>
      <p:sp>
        <p:nvSpPr>
          <p:cNvPr id="31" name="Shape 28"/>
          <p:cNvSpPr/>
          <p:nvPr/>
        </p:nvSpPr>
        <p:spPr>
          <a:xfrm>
            <a:off x="6190488" y="4800600"/>
            <a:ext cx="5468112" cy="1417320"/>
          </a:xfrm>
          <a:prstGeom prst="roundRect">
            <a:avLst>
              <a:gd name="adj" fmla="val 5161"/>
            </a:avLst>
          </a:prstGeom>
          <a:solidFill>
            <a:srgbClr val="F3EFE7"/>
          </a:solidFill>
          <a:ln/>
        </p:spPr>
      </p:sp>
      <p:sp>
        <p:nvSpPr>
          <p:cNvPr id="32" name="Shape 29"/>
          <p:cNvSpPr/>
          <p:nvPr/>
        </p:nvSpPr>
        <p:spPr>
          <a:xfrm>
            <a:off x="6373368" y="4965192"/>
            <a:ext cx="420624" cy="420624"/>
          </a:xfrm>
          <a:prstGeom prst="ellipse">
            <a:avLst/>
          </a:prstGeom>
          <a:solidFill>
            <a:srgbClr val="69A297"/>
          </a:solidFill>
          <a:ln/>
        </p:spPr>
      </p:sp>
      <p:sp>
        <p:nvSpPr>
          <p:cNvPr id="33" name="Text 30"/>
          <p:cNvSpPr/>
          <p:nvPr/>
        </p:nvSpPr>
        <p:spPr>
          <a:xfrm>
            <a:off x="6373368" y="4965192"/>
            <a:ext cx="420624" cy="420624"/>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6</a:t>
            </a:r>
            <a:endParaRPr lang="en-US" sz="1500" dirty="0"/>
          </a:p>
        </p:txBody>
      </p:sp>
      <p:sp>
        <p:nvSpPr>
          <p:cNvPr id="34" name="Text 31"/>
          <p:cNvSpPr/>
          <p:nvPr/>
        </p:nvSpPr>
        <p:spPr>
          <a:xfrm>
            <a:off x="6940296" y="4928616"/>
            <a:ext cx="4553712" cy="365760"/>
          </a:xfrm>
          <a:prstGeom prst="rect">
            <a:avLst/>
          </a:prstGeom>
          <a:noFill/>
          <a:ln/>
        </p:spPr>
        <p:txBody>
          <a:bodyPr wrap="square" rtlCol="0" anchor="t"/>
          <a:lstStyle/>
          <a:p>
            <a:pPr indent="0" marL="0">
              <a:buNone/>
            </a:pPr>
            <a:r>
              <a:rPr lang="en-US" sz="1300" b="1" dirty="0">
                <a:solidFill>
                  <a:srgbClr val="27343A"/>
                </a:solidFill>
                <a:latin typeface="Calibri" pitchFamily="34" charset="0"/>
                <a:ea typeface="Calibri" pitchFamily="34" charset="-122"/>
                <a:cs typeface="Calibri" pitchFamily="34" charset="-120"/>
              </a:rPr>
              <a:t>Deliver a usable front-end</a:t>
            </a:r>
            <a:endParaRPr lang="en-US" sz="1300" dirty="0"/>
          </a:p>
        </p:txBody>
      </p:sp>
      <p:sp>
        <p:nvSpPr>
          <p:cNvPr id="35" name="Text 32"/>
          <p:cNvSpPr/>
          <p:nvPr/>
        </p:nvSpPr>
        <p:spPr>
          <a:xfrm>
            <a:off x="6940296" y="5294376"/>
            <a:ext cx="4553712" cy="822960"/>
          </a:xfrm>
          <a:prstGeom prst="rect">
            <a:avLst/>
          </a:prstGeom>
          <a:noFill/>
          <a:ln/>
        </p:spPr>
        <p:txBody>
          <a:bodyPr wrap="square" rtlCol="0" anchor="t"/>
          <a:lstStyle/>
          <a:p>
            <a:pPr indent="0" marL="0">
              <a:lnSpc>
                <a:spcPct val="118000"/>
              </a:lnSpc>
              <a:buNone/>
            </a:pPr>
            <a:r>
              <a:rPr lang="en-US" sz="1080" dirty="0">
                <a:solidFill>
                  <a:srgbClr val="5B6B6E"/>
                </a:solidFill>
                <a:latin typeface="Calibri" pitchFamily="34" charset="0"/>
                <a:ea typeface="Calibri" pitchFamily="34" charset="-122"/>
                <a:cs typeface="Calibri" pitchFamily="34" charset="-120"/>
              </a:rPr>
              <a:t>Provide a Java/Python application for booking, billing and reporting with input validation and testing.</a:t>
            </a:r>
            <a:endParaRPr lang="en-US" sz="1080" dirty="0"/>
          </a:p>
        </p:txBody>
      </p:sp>
      <p:sp>
        <p:nvSpPr>
          <p:cNvPr id="37" name="Text 33"/>
          <p:cNvSpPr/>
          <p:nvPr/>
        </p:nvSpPr>
        <p:spPr>
          <a:xfrm>
            <a:off x="502920" y="6473952"/>
            <a:ext cx="8229600" cy="274320"/>
          </a:xfrm>
          <a:prstGeom prst="rect">
            <a:avLst/>
          </a:prstGeom>
          <a:noFill/>
          <a:ln/>
        </p:spPr>
        <p:txBody>
          <a:bodyPr wrap="square" rtlCol="0" anchor="ctr"/>
          <a:lstStyle/>
          <a:p>
            <a:pPr indent="0" marL="0">
              <a:buNone/>
            </a:pPr>
            <a:r>
              <a:rPr lang="en-US" sz="900" spc="100" kern="0" dirty="0">
                <a:solidFill>
                  <a:srgbClr val="5B6B6E"/>
                </a:solidFill>
                <a:latin typeface="Calibri" pitchFamily="34" charset="0"/>
                <a:ea typeface="Calibri" pitchFamily="34" charset="-122"/>
                <a:cs typeface="Calibri" pitchFamily="34" charset="-120"/>
              </a:rPr>
              <a:t>SALON &amp; SPA APPOINTMENT MANAGEMENT SYSTEM  |  REVIEW 1</a:t>
            </a:r>
            <a:endParaRPr lang="en-US" sz="900" dirty="0"/>
          </a:p>
        </p:txBody>
      </p:sp>
      <p:sp>
        <p:nvSpPr>
          <p:cNvPr id="38" name="Text 34"/>
          <p:cNvSpPr/>
          <p:nvPr/>
        </p:nvSpPr>
        <p:spPr>
          <a:xfrm>
            <a:off x="11228832" y="6473952"/>
            <a:ext cx="457200" cy="274320"/>
          </a:xfrm>
          <a:prstGeom prst="rect">
            <a:avLst/>
          </a:prstGeom>
          <a:noFill/>
          <a:ln/>
        </p:spPr>
        <p:txBody>
          <a:bodyPr wrap="square" rtlCol="0" anchor="ctr"/>
          <a:lstStyle/>
          <a:p>
            <a:pPr algn="r" indent="0" marL="0">
              <a:buNone/>
            </a:pPr>
            <a:r>
              <a:rPr lang="en-US" sz="900" dirty="0">
                <a:solidFill>
                  <a:srgbClr val="5B6B6E"/>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384048"/>
            <a:ext cx="8229600" cy="292608"/>
          </a:xfrm>
          <a:prstGeom prst="rect">
            <a:avLst/>
          </a:prstGeom>
          <a:noFill/>
          <a:ln/>
        </p:spPr>
        <p:txBody>
          <a:bodyPr wrap="square" rtlCol="0" anchor="ctr"/>
          <a:lstStyle/>
          <a:p>
            <a:pPr indent="0" marL="0">
              <a:buNone/>
            </a:pPr>
            <a:r>
              <a:rPr lang="en-US" sz="1200" b="1" spc="200" kern="0" dirty="0">
                <a:solidFill>
                  <a:srgbClr val="6D2E46"/>
                </a:solidFill>
                <a:latin typeface="Calibri" pitchFamily="34" charset="0"/>
                <a:ea typeface="Calibri" pitchFamily="34" charset="-122"/>
                <a:cs typeface="Calibri" pitchFamily="34" charset="-120"/>
              </a:rPr>
              <a:t>WHO USES THE SYSTEM</a:t>
            </a:r>
            <a:endParaRPr lang="en-US" sz="1200" dirty="0"/>
          </a:p>
        </p:txBody>
      </p:sp>
      <p:sp>
        <p:nvSpPr>
          <p:cNvPr id="3" name="Text 1"/>
          <p:cNvSpPr txBox="1"/>
          <p:nvPr/>
        </p:nvSpPr>
        <p:spPr>
          <a:xfrm>
            <a:off x="502920" y="658368"/>
            <a:ext cx="9692640" cy="685800"/>
          </a:xfrm>
          <a:prstGeom prst="rect">
            <a:avLst/>
          </a:prstGeom>
          <a:noFill/>
          <a:ln/>
        </p:spPr>
        <p:txBody>
          <a:bodyPr wrap="square" rtlCol="0" anchor="ctr"/>
          <a:lstStyle/>
          <a:p>
            <a:pPr indent="0" marL="0">
              <a:buNone/>
            </a:pPr>
            <a:r>
              <a:rPr lang="en-US" sz="3000" b="1" dirty="0">
                <a:solidFill>
                  <a:srgbClr val="27343A"/>
                </a:solidFill>
                <a:latin typeface="Cambria" pitchFamily="34" charset="0"/>
                <a:ea typeface="Cambria" pitchFamily="34" charset="-122"/>
                <a:cs typeface="Cambria" pitchFamily="34" charset="-120"/>
              </a:rPr>
              <a:t>Users &amp; Stakeholders</a:t>
            </a:r>
            <a:endParaRPr lang="en-US" sz="3000" dirty="0"/>
          </a:p>
        </p:txBody>
      </p:sp>
      <p:sp>
        <p:nvSpPr>
          <p:cNvPr id="4" name="Shape 2"/>
          <p:cNvSpPr/>
          <p:nvPr/>
        </p:nvSpPr>
        <p:spPr>
          <a:xfrm>
            <a:off x="11119104" y="457200"/>
            <a:ext cx="566928" cy="566928"/>
          </a:xfrm>
          <a:prstGeom prst="ellipse">
            <a:avLst/>
          </a:prstGeom>
          <a:solidFill>
            <a:srgbClr val="6D2E46"/>
          </a:solidFill>
          <a:ln/>
        </p:spPr>
      </p:sp>
      <p:pic>
        <p:nvPicPr>
          <p:cNvPr id="5" name="Image 0" descr="/tmp/claude-0/-home-claude/12ac4f2c-a806-5c6e-9789-8d976e37a451/scratchpad/salon_ppt/icons/users.png">    </p:cNvPr>
          <p:cNvPicPr>
            <a:picLocks noChangeAspect="1"/>
          </p:cNvPicPr>
          <p:nvPr/>
        </p:nvPicPr>
        <p:blipFill>
          <a:blip r:embed="rId1"/>
          <a:stretch>
            <a:fillRect/>
          </a:stretch>
        </p:blipFill>
        <p:spPr>
          <a:xfrm>
            <a:off x="11187135" y="525231"/>
            <a:ext cx="430865" cy="430865"/>
          </a:xfrm>
          <a:prstGeom prst="rect">
            <a:avLst/>
          </a:prstGeom>
        </p:spPr>
      </p:pic>
      <p:sp>
        <p:nvSpPr>
          <p:cNvPr id="6" name="Shape 3"/>
          <p:cNvSpPr/>
          <p:nvPr/>
        </p:nvSpPr>
        <p:spPr>
          <a:xfrm>
            <a:off x="425196" y="1828800"/>
            <a:ext cx="2121408" cy="3291840"/>
          </a:xfrm>
          <a:prstGeom prst="roundRect">
            <a:avLst>
              <a:gd name="adj" fmla="val 4310"/>
            </a:avLst>
          </a:prstGeom>
          <a:solidFill>
            <a:srgbClr val="FFFFFF"/>
          </a:solidFill>
          <a:ln w="12700">
            <a:solidFill>
              <a:srgbClr val="ECE6DE"/>
            </a:solidFill>
            <a:prstDash val="solid"/>
          </a:ln>
          <a:effectLst>
            <a:outerShdw sx="100000" sy="100000" kx="0" ky="0" algn="bl" rotWithShape="0" blurRad="76200" dist="25400" dir="5400000">
              <a:srgbClr val="6B7C7A">
                <a:alpha val="25000"/>
              </a:srgbClr>
            </a:outerShdw>
          </a:effectLst>
        </p:spPr>
      </p:sp>
      <p:sp>
        <p:nvSpPr>
          <p:cNvPr id="7" name="Shape 4"/>
          <p:cNvSpPr/>
          <p:nvPr/>
        </p:nvSpPr>
        <p:spPr>
          <a:xfrm>
            <a:off x="1156716" y="2148840"/>
            <a:ext cx="658368" cy="658368"/>
          </a:xfrm>
          <a:prstGeom prst="ellipse">
            <a:avLst/>
          </a:prstGeom>
          <a:solidFill>
            <a:srgbClr val="50808E"/>
          </a:solidFill>
          <a:ln/>
        </p:spPr>
      </p:sp>
      <p:pic>
        <p:nvPicPr>
          <p:cNvPr id="8" name="Image 1" descr="/tmp/claude-0/-home-claude/12ac4f2c-a806-5c6e-9789-8d976e37a451/scratchpad/salon_ppt/icons/user.png">    </p:cNvPr>
          <p:cNvPicPr>
            <a:picLocks noChangeAspect="1"/>
          </p:cNvPicPr>
          <p:nvPr/>
        </p:nvPicPr>
        <p:blipFill>
          <a:blip r:embed="rId2"/>
          <a:stretch>
            <a:fillRect/>
          </a:stretch>
        </p:blipFill>
        <p:spPr>
          <a:xfrm>
            <a:off x="1312164" y="2304288"/>
            <a:ext cx="347472" cy="347472"/>
          </a:xfrm>
          <a:prstGeom prst="rect">
            <a:avLst/>
          </a:prstGeom>
        </p:spPr>
      </p:pic>
      <p:sp>
        <p:nvSpPr>
          <p:cNvPr id="9" name="Text 5"/>
          <p:cNvSpPr/>
          <p:nvPr/>
        </p:nvSpPr>
        <p:spPr>
          <a:xfrm>
            <a:off x="534924" y="2971800"/>
            <a:ext cx="1901952" cy="502920"/>
          </a:xfrm>
          <a:prstGeom prst="rect">
            <a:avLst/>
          </a:prstGeom>
          <a:noFill/>
          <a:ln/>
        </p:spPr>
        <p:txBody>
          <a:bodyPr wrap="square" rtlCol="0" anchor="t"/>
          <a:lstStyle/>
          <a:p>
            <a:pPr algn="ctr" indent="0" marL="0">
              <a:buNone/>
            </a:pPr>
            <a:r>
              <a:rPr lang="en-US" sz="1300" b="1" dirty="0">
                <a:solidFill>
                  <a:srgbClr val="27343A"/>
                </a:solidFill>
                <a:latin typeface="Calibri" pitchFamily="34" charset="0"/>
                <a:ea typeface="Calibri" pitchFamily="34" charset="-122"/>
                <a:cs typeface="Calibri" pitchFamily="34" charset="-120"/>
              </a:rPr>
              <a:t>Customer</a:t>
            </a:r>
            <a:endParaRPr lang="en-US" sz="1300" dirty="0"/>
          </a:p>
        </p:txBody>
      </p:sp>
      <p:sp>
        <p:nvSpPr>
          <p:cNvPr id="10" name="Text 6"/>
          <p:cNvSpPr/>
          <p:nvPr/>
        </p:nvSpPr>
        <p:spPr>
          <a:xfrm>
            <a:off x="589788" y="3493008"/>
            <a:ext cx="1792224" cy="1508760"/>
          </a:xfrm>
          <a:prstGeom prst="rect">
            <a:avLst/>
          </a:prstGeom>
          <a:noFill/>
          <a:ln/>
        </p:spPr>
        <p:txBody>
          <a:bodyPr wrap="square" rtlCol="0" anchor="t"/>
          <a:lstStyle/>
          <a:p>
            <a:pPr algn="ctr" indent="0" marL="0">
              <a:lnSpc>
                <a:spcPct val="120000"/>
              </a:lnSpc>
              <a:buNone/>
            </a:pPr>
            <a:r>
              <a:rPr lang="en-US" sz="1000" dirty="0">
                <a:solidFill>
                  <a:srgbClr val="5B6B6E"/>
                </a:solidFill>
                <a:latin typeface="Calibri" pitchFamily="34" charset="0"/>
                <a:ea typeface="Calibri" pitchFamily="34" charset="-122"/>
                <a:cs typeface="Calibri" pitchFamily="34" charset="-120"/>
              </a:rPr>
              <a:t>Registers, browses services &amp; packages, books appointments and views bills/payment history.</a:t>
            </a:r>
            <a:endParaRPr lang="en-US" sz="1000" dirty="0"/>
          </a:p>
        </p:txBody>
      </p:sp>
      <p:sp>
        <p:nvSpPr>
          <p:cNvPr id="11" name="Shape 7"/>
          <p:cNvSpPr/>
          <p:nvPr/>
        </p:nvSpPr>
        <p:spPr>
          <a:xfrm>
            <a:off x="2729484" y="1828800"/>
            <a:ext cx="2121408" cy="3291840"/>
          </a:xfrm>
          <a:prstGeom prst="roundRect">
            <a:avLst>
              <a:gd name="adj" fmla="val 4310"/>
            </a:avLst>
          </a:prstGeom>
          <a:solidFill>
            <a:srgbClr val="FFFFFF"/>
          </a:solidFill>
          <a:ln w="12700">
            <a:solidFill>
              <a:srgbClr val="ECE6DE"/>
            </a:solidFill>
            <a:prstDash val="solid"/>
          </a:ln>
          <a:effectLst>
            <a:outerShdw sx="100000" sy="100000" kx="0" ky="0" algn="bl" rotWithShape="0" blurRad="76200" dist="25400" dir="5400000">
              <a:srgbClr val="6B7C7A">
                <a:alpha val="25000"/>
              </a:srgbClr>
            </a:outerShdw>
          </a:effectLst>
        </p:spPr>
      </p:sp>
      <p:sp>
        <p:nvSpPr>
          <p:cNvPr id="12" name="Shape 8"/>
          <p:cNvSpPr/>
          <p:nvPr/>
        </p:nvSpPr>
        <p:spPr>
          <a:xfrm>
            <a:off x="3461004" y="2148840"/>
            <a:ext cx="658368" cy="658368"/>
          </a:xfrm>
          <a:prstGeom prst="ellipse">
            <a:avLst/>
          </a:prstGeom>
          <a:solidFill>
            <a:srgbClr val="50808E"/>
          </a:solidFill>
          <a:ln/>
        </p:spPr>
      </p:sp>
      <p:pic>
        <p:nvPicPr>
          <p:cNvPr id="13" name="Image 2" descr="/tmp/claude-0/-home-claude/12ac4f2c-a806-5c6e-9789-8d976e37a451/scratchpad/salon_ppt/icons/cut.png">    </p:cNvPr>
          <p:cNvPicPr>
            <a:picLocks noChangeAspect="1"/>
          </p:cNvPicPr>
          <p:nvPr/>
        </p:nvPicPr>
        <p:blipFill>
          <a:blip r:embed="rId3"/>
          <a:stretch>
            <a:fillRect/>
          </a:stretch>
        </p:blipFill>
        <p:spPr>
          <a:xfrm>
            <a:off x="3616452" y="2304288"/>
            <a:ext cx="347472" cy="347472"/>
          </a:xfrm>
          <a:prstGeom prst="rect">
            <a:avLst/>
          </a:prstGeom>
        </p:spPr>
      </p:pic>
      <p:sp>
        <p:nvSpPr>
          <p:cNvPr id="14" name="Text 9"/>
          <p:cNvSpPr/>
          <p:nvPr/>
        </p:nvSpPr>
        <p:spPr>
          <a:xfrm>
            <a:off x="2839212" y="2971800"/>
            <a:ext cx="1901952" cy="502920"/>
          </a:xfrm>
          <a:prstGeom prst="rect">
            <a:avLst/>
          </a:prstGeom>
          <a:noFill/>
          <a:ln/>
        </p:spPr>
        <p:txBody>
          <a:bodyPr wrap="square" rtlCol="0" anchor="t"/>
          <a:lstStyle/>
          <a:p>
            <a:pPr algn="ctr" indent="0" marL="0">
              <a:buNone/>
            </a:pPr>
            <a:r>
              <a:rPr lang="en-US" sz="1300" b="1" dirty="0">
                <a:solidFill>
                  <a:srgbClr val="27343A"/>
                </a:solidFill>
                <a:latin typeface="Calibri" pitchFamily="34" charset="0"/>
                <a:ea typeface="Calibri" pitchFamily="34" charset="-122"/>
                <a:cs typeface="Calibri" pitchFamily="34" charset="-120"/>
              </a:rPr>
              <a:t>Salon Staff / Stylist</a:t>
            </a:r>
            <a:endParaRPr lang="en-US" sz="1300" dirty="0"/>
          </a:p>
        </p:txBody>
      </p:sp>
      <p:sp>
        <p:nvSpPr>
          <p:cNvPr id="15" name="Text 10"/>
          <p:cNvSpPr/>
          <p:nvPr/>
        </p:nvSpPr>
        <p:spPr>
          <a:xfrm>
            <a:off x="2894076" y="3493008"/>
            <a:ext cx="1792224" cy="1508760"/>
          </a:xfrm>
          <a:prstGeom prst="rect">
            <a:avLst/>
          </a:prstGeom>
          <a:noFill/>
          <a:ln/>
        </p:spPr>
        <p:txBody>
          <a:bodyPr wrap="square" rtlCol="0" anchor="t"/>
          <a:lstStyle/>
          <a:p>
            <a:pPr algn="ctr" indent="0" marL="0">
              <a:lnSpc>
                <a:spcPct val="120000"/>
              </a:lnSpc>
              <a:buNone/>
            </a:pPr>
            <a:r>
              <a:rPr lang="en-US" sz="1000" dirty="0">
                <a:solidFill>
                  <a:srgbClr val="5B6B6E"/>
                </a:solidFill>
                <a:latin typeface="Calibri" pitchFamily="34" charset="0"/>
                <a:ea typeface="Calibri" pitchFamily="34" charset="-122"/>
                <a:cs typeface="Calibri" pitchFamily="34" charset="-120"/>
              </a:rPr>
              <a:t>Views assigned schedule and appointments; records service completion and product usage.</a:t>
            </a:r>
            <a:endParaRPr lang="en-US" sz="1000" dirty="0"/>
          </a:p>
        </p:txBody>
      </p:sp>
      <p:sp>
        <p:nvSpPr>
          <p:cNvPr id="16" name="Shape 11"/>
          <p:cNvSpPr/>
          <p:nvPr/>
        </p:nvSpPr>
        <p:spPr>
          <a:xfrm>
            <a:off x="5033772" y="1828800"/>
            <a:ext cx="2121408" cy="3291840"/>
          </a:xfrm>
          <a:prstGeom prst="roundRect">
            <a:avLst>
              <a:gd name="adj" fmla="val 4310"/>
            </a:avLst>
          </a:prstGeom>
          <a:solidFill>
            <a:srgbClr val="FFFFFF"/>
          </a:solidFill>
          <a:ln w="12700">
            <a:solidFill>
              <a:srgbClr val="ECE6DE"/>
            </a:solidFill>
            <a:prstDash val="solid"/>
          </a:ln>
          <a:effectLst>
            <a:outerShdw sx="100000" sy="100000" kx="0" ky="0" algn="bl" rotWithShape="0" blurRad="76200" dist="25400" dir="5400000">
              <a:srgbClr val="6B7C7A">
                <a:alpha val="25000"/>
              </a:srgbClr>
            </a:outerShdw>
          </a:effectLst>
        </p:spPr>
      </p:sp>
      <p:sp>
        <p:nvSpPr>
          <p:cNvPr id="17" name="Shape 12"/>
          <p:cNvSpPr/>
          <p:nvPr/>
        </p:nvSpPr>
        <p:spPr>
          <a:xfrm>
            <a:off x="5765292" y="2148840"/>
            <a:ext cx="658368" cy="658368"/>
          </a:xfrm>
          <a:prstGeom prst="ellipse">
            <a:avLst/>
          </a:prstGeom>
          <a:solidFill>
            <a:srgbClr val="50808E"/>
          </a:solidFill>
          <a:ln/>
        </p:spPr>
      </p:sp>
      <p:pic>
        <p:nvPicPr>
          <p:cNvPr id="18" name="Image 3" descr="/tmp/claude-0/-home-claude/12ac4f2c-a806-5c6e-9789-8d976e37a451/scratchpad/salon_ppt/icons/userTie.png">    </p:cNvPr>
          <p:cNvPicPr>
            <a:picLocks noChangeAspect="1"/>
          </p:cNvPicPr>
          <p:nvPr/>
        </p:nvPicPr>
        <p:blipFill>
          <a:blip r:embed="rId4"/>
          <a:stretch>
            <a:fillRect/>
          </a:stretch>
        </p:blipFill>
        <p:spPr>
          <a:xfrm>
            <a:off x="5920740" y="2304288"/>
            <a:ext cx="347472" cy="347472"/>
          </a:xfrm>
          <a:prstGeom prst="rect">
            <a:avLst/>
          </a:prstGeom>
        </p:spPr>
      </p:pic>
      <p:sp>
        <p:nvSpPr>
          <p:cNvPr id="19" name="Text 13"/>
          <p:cNvSpPr/>
          <p:nvPr/>
        </p:nvSpPr>
        <p:spPr>
          <a:xfrm>
            <a:off x="5143500" y="2971800"/>
            <a:ext cx="1901952" cy="502920"/>
          </a:xfrm>
          <a:prstGeom prst="rect">
            <a:avLst/>
          </a:prstGeom>
          <a:noFill/>
          <a:ln/>
        </p:spPr>
        <p:txBody>
          <a:bodyPr wrap="square" rtlCol="0" anchor="t"/>
          <a:lstStyle/>
          <a:p>
            <a:pPr algn="ctr" indent="0" marL="0">
              <a:buNone/>
            </a:pPr>
            <a:r>
              <a:rPr lang="en-US" sz="1300" b="1" dirty="0">
                <a:solidFill>
                  <a:srgbClr val="27343A"/>
                </a:solidFill>
                <a:latin typeface="Calibri" pitchFamily="34" charset="0"/>
                <a:ea typeface="Calibri" pitchFamily="34" charset="-122"/>
                <a:cs typeface="Calibri" pitchFamily="34" charset="-120"/>
              </a:rPr>
              <a:t>Receptionist</a:t>
            </a:r>
            <a:endParaRPr lang="en-US" sz="1300" dirty="0"/>
          </a:p>
        </p:txBody>
      </p:sp>
      <p:sp>
        <p:nvSpPr>
          <p:cNvPr id="20" name="Text 14"/>
          <p:cNvSpPr/>
          <p:nvPr/>
        </p:nvSpPr>
        <p:spPr>
          <a:xfrm>
            <a:off x="5198364" y="3493008"/>
            <a:ext cx="1792224" cy="1508760"/>
          </a:xfrm>
          <a:prstGeom prst="rect">
            <a:avLst/>
          </a:prstGeom>
          <a:noFill/>
          <a:ln/>
        </p:spPr>
        <p:txBody>
          <a:bodyPr wrap="square" rtlCol="0" anchor="t"/>
          <a:lstStyle/>
          <a:p>
            <a:pPr algn="ctr" indent="0" marL="0">
              <a:lnSpc>
                <a:spcPct val="120000"/>
              </a:lnSpc>
              <a:buNone/>
            </a:pPr>
            <a:r>
              <a:rPr lang="en-US" sz="1000" dirty="0">
                <a:solidFill>
                  <a:srgbClr val="5B6B6E"/>
                </a:solidFill>
                <a:latin typeface="Calibri" pitchFamily="34" charset="0"/>
                <a:ea typeface="Calibri" pitchFamily="34" charset="-122"/>
                <a:cs typeface="Calibri" pitchFamily="34" charset="-120"/>
              </a:rPr>
              <a:t>Handles walk-ins, books &amp; reassigns appointments, manages billing and payment collection.</a:t>
            </a:r>
            <a:endParaRPr lang="en-US" sz="1000" dirty="0"/>
          </a:p>
        </p:txBody>
      </p:sp>
      <p:sp>
        <p:nvSpPr>
          <p:cNvPr id="21" name="Shape 15"/>
          <p:cNvSpPr/>
          <p:nvPr/>
        </p:nvSpPr>
        <p:spPr>
          <a:xfrm>
            <a:off x="7338060" y="1828800"/>
            <a:ext cx="2121408" cy="3291840"/>
          </a:xfrm>
          <a:prstGeom prst="roundRect">
            <a:avLst>
              <a:gd name="adj" fmla="val 4310"/>
            </a:avLst>
          </a:prstGeom>
          <a:solidFill>
            <a:srgbClr val="FFFFFF"/>
          </a:solidFill>
          <a:ln w="12700">
            <a:solidFill>
              <a:srgbClr val="ECE6DE"/>
            </a:solidFill>
            <a:prstDash val="solid"/>
          </a:ln>
          <a:effectLst>
            <a:outerShdw sx="100000" sy="100000" kx="0" ky="0" algn="bl" rotWithShape="0" blurRad="76200" dist="25400" dir="5400000">
              <a:srgbClr val="6B7C7A">
                <a:alpha val="25000"/>
              </a:srgbClr>
            </a:outerShdw>
          </a:effectLst>
        </p:spPr>
      </p:sp>
      <p:sp>
        <p:nvSpPr>
          <p:cNvPr id="22" name="Shape 16"/>
          <p:cNvSpPr/>
          <p:nvPr/>
        </p:nvSpPr>
        <p:spPr>
          <a:xfrm>
            <a:off x="8069580" y="2148840"/>
            <a:ext cx="658368" cy="658368"/>
          </a:xfrm>
          <a:prstGeom prst="ellipse">
            <a:avLst/>
          </a:prstGeom>
          <a:solidFill>
            <a:srgbClr val="50808E"/>
          </a:solidFill>
          <a:ln/>
        </p:spPr>
      </p:sp>
      <p:pic>
        <p:nvPicPr>
          <p:cNvPr id="23" name="Image 4" descr="/tmp/claude-0/-home-claude/12ac4f2c-a806-5c6e-9789-8d976e37a451/scratchpad/salon_ppt/icons/userShield.png">    </p:cNvPr>
          <p:cNvPicPr>
            <a:picLocks noChangeAspect="1"/>
          </p:cNvPicPr>
          <p:nvPr/>
        </p:nvPicPr>
        <p:blipFill>
          <a:blip r:embed="rId5"/>
          <a:stretch>
            <a:fillRect/>
          </a:stretch>
        </p:blipFill>
        <p:spPr>
          <a:xfrm>
            <a:off x="8225028" y="2304288"/>
            <a:ext cx="347472" cy="347472"/>
          </a:xfrm>
          <a:prstGeom prst="rect">
            <a:avLst/>
          </a:prstGeom>
        </p:spPr>
      </p:pic>
      <p:sp>
        <p:nvSpPr>
          <p:cNvPr id="24" name="Text 17"/>
          <p:cNvSpPr/>
          <p:nvPr/>
        </p:nvSpPr>
        <p:spPr>
          <a:xfrm>
            <a:off x="7447788" y="2971800"/>
            <a:ext cx="1901952" cy="502920"/>
          </a:xfrm>
          <a:prstGeom prst="rect">
            <a:avLst/>
          </a:prstGeom>
          <a:noFill/>
          <a:ln/>
        </p:spPr>
        <p:txBody>
          <a:bodyPr wrap="square" rtlCol="0" anchor="t"/>
          <a:lstStyle/>
          <a:p>
            <a:pPr algn="ctr" indent="0" marL="0">
              <a:buNone/>
            </a:pPr>
            <a:r>
              <a:rPr lang="en-US" sz="1300" b="1" dirty="0">
                <a:solidFill>
                  <a:srgbClr val="27343A"/>
                </a:solidFill>
                <a:latin typeface="Calibri" pitchFamily="34" charset="0"/>
                <a:ea typeface="Calibri" pitchFamily="34" charset="-122"/>
                <a:cs typeface="Calibri" pitchFamily="34" charset="-120"/>
              </a:rPr>
              <a:t>Salon Manager / Admin</a:t>
            </a:r>
            <a:endParaRPr lang="en-US" sz="1300" dirty="0"/>
          </a:p>
        </p:txBody>
      </p:sp>
      <p:sp>
        <p:nvSpPr>
          <p:cNvPr id="25" name="Text 18"/>
          <p:cNvSpPr/>
          <p:nvPr/>
        </p:nvSpPr>
        <p:spPr>
          <a:xfrm>
            <a:off x="7502652" y="3493008"/>
            <a:ext cx="1792224" cy="1508760"/>
          </a:xfrm>
          <a:prstGeom prst="rect">
            <a:avLst/>
          </a:prstGeom>
          <a:noFill/>
          <a:ln/>
        </p:spPr>
        <p:txBody>
          <a:bodyPr wrap="square" rtlCol="0" anchor="t"/>
          <a:lstStyle/>
          <a:p>
            <a:pPr algn="ctr" indent="0" marL="0">
              <a:lnSpc>
                <a:spcPct val="120000"/>
              </a:lnSpc>
              <a:buNone/>
            </a:pPr>
            <a:r>
              <a:rPr lang="en-US" sz="1000" dirty="0">
                <a:solidFill>
                  <a:srgbClr val="5B6B6E"/>
                </a:solidFill>
                <a:latin typeface="Calibri" pitchFamily="34" charset="0"/>
                <a:ea typeface="Calibri" pitchFamily="34" charset="-122"/>
                <a:cs typeface="Calibri" pitchFamily="34" charset="-120"/>
              </a:rPr>
              <a:t>Manages staff, skills, schedules, service catalogue, packages and views operational reports.</a:t>
            </a:r>
            <a:endParaRPr lang="en-US" sz="1000" dirty="0"/>
          </a:p>
        </p:txBody>
      </p:sp>
      <p:sp>
        <p:nvSpPr>
          <p:cNvPr id="26" name="Shape 19"/>
          <p:cNvSpPr/>
          <p:nvPr/>
        </p:nvSpPr>
        <p:spPr>
          <a:xfrm>
            <a:off x="9642348" y="1828800"/>
            <a:ext cx="2121408" cy="3291840"/>
          </a:xfrm>
          <a:prstGeom prst="roundRect">
            <a:avLst>
              <a:gd name="adj" fmla="val 4310"/>
            </a:avLst>
          </a:prstGeom>
          <a:solidFill>
            <a:srgbClr val="FFFFFF"/>
          </a:solidFill>
          <a:ln w="12700">
            <a:solidFill>
              <a:srgbClr val="ECE6DE"/>
            </a:solidFill>
            <a:prstDash val="solid"/>
          </a:ln>
          <a:effectLst>
            <a:outerShdw sx="100000" sy="100000" kx="0" ky="0" algn="bl" rotWithShape="0" blurRad="76200" dist="25400" dir="5400000">
              <a:srgbClr val="6B7C7A">
                <a:alpha val="25000"/>
              </a:srgbClr>
            </a:outerShdw>
          </a:effectLst>
        </p:spPr>
      </p:sp>
      <p:sp>
        <p:nvSpPr>
          <p:cNvPr id="27" name="Shape 20"/>
          <p:cNvSpPr/>
          <p:nvPr/>
        </p:nvSpPr>
        <p:spPr>
          <a:xfrm>
            <a:off x="10373868" y="2148840"/>
            <a:ext cx="658368" cy="658368"/>
          </a:xfrm>
          <a:prstGeom prst="ellipse">
            <a:avLst/>
          </a:prstGeom>
          <a:solidFill>
            <a:srgbClr val="50808E"/>
          </a:solidFill>
          <a:ln/>
        </p:spPr>
      </p:sp>
      <p:pic>
        <p:nvPicPr>
          <p:cNvPr id="28" name="Image 5" descr="/tmp/claude-0/-home-claude/12ac4f2c-a806-5c6e-9789-8d976e37a451/scratchpad/salon_ppt/icons/chartBar.png">    </p:cNvPr>
          <p:cNvPicPr>
            <a:picLocks noChangeAspect="1"/>
          </p:cNvPicPr>
          <p:nvPr/>
        </p:nvPicPr>
        <p:blipFill>
          <a:blip r:embed="rId6"/>
          <a:stretch>
            <a:fillRect/>
          </a:stretch>
        </p:blipFill>
        <p:spPr>
          <a:xfrm>
            <a:off x="10529316" y="2304288"/>
            <a:ext cx="347472" cy="347472"/>
          </a:xfrm>
          <a:prstGeom prst="rect">
            <a:avLst/>
          </a:prstGeom>
        </p:spPr>
      </p:pic>
      <p:sp>
        <p:nvSpPr>
          <p:cNvPr id="29" name="Text 21"/>
          <p:cNvSpPr/>
          <p:nvPr/>
        </p:nvSpPr>
        <p:spPr>
          <a:xfrm>
            <a:off x="9752076" y="2971800"/>
            <a:ext cx="1901952" cy="502920"/>
          </a:xfrm>
          <a:prstGeom prst="rect">
            <a:avLst/>
          </a:prstGeom>
          <a:noFill/>
          <a:ln/>
        </p:spPr>
        <p:txBody>
          <a:bodyPr wrap="square" rtlCol="0" anchor="t"/>
          <a:lstStyle/>
          <a:p>
            <a:pPr algn="ctr" indent="0" marL="0">
              <a:buNone/>
            </a:pPr>
            <a:r>
              <a:rPr lang="en-US" sz="1300" b="1" dirty="0">
                <a:solidFill>
                  <a:srgbClr val="27343A"/>
                </a:solidFill>
                <a:latin typeface="Calibri" pitchFamily="34" charset="0"/>
                <a:ea typeface="Calibri" pitchFamily="34" charset="-122"/>
                <a:cs typeface="Calibri" pitchFamily="34" charset="-120"/>
              </a:rPr>
              <a:t>Owner</a:t>
            </a:r>
            <a:endParaRPr lang="en-US" sz="1300" dirty="0"/>
          </a:p>
        </p:txBody>
      </p:sp>
      <p:sp>
        <p:nvSpPr>
          <p:cNvPr id="30" name="Text 22"/>
          <p:cNvSpPr/>
          <p:nvPr/>
        </p:nvSpPr>
        <p:spPr>
          <a:xfrm>
            <a:off x="9806940" y="3493008"/>
            <a:ext cx="1792224" cy="1508760"/>
          </a:xfrm>
          <a:prstGeom prst="rect">
            <a:avLst/>
          </a:prstGeom>
          <a:noFill/>
          <a:ln/>
        </p:spPr>
        <p:txBody>
          <a:bodyPr wrap="square" rtlCol="0" anchor="t"/>
          <a:lstStyle/>
          <a:p>
            <a:pPr algn="ctr" indent="0" marL="0">
              <a:lnSpc>
                <a:spcPct val="120000"/>
              </a:lnSpc>
              <a:buNone/>
            </a:pPr>
            <a:r>
              <a:rPr lang="en-US" sz="1000" dirty="0">
                <a:solidFill>
                  <a:srgbClr val="5B6B6E"/>
                </a:solidFill>
                <a:latin typeface="Calibri" pitchFamily="34" charset="0"/>
                <a:ea typeface="Calibri" pitchFamily="34" charset="-122"/>
                <a:cs typeface="Calibri" pitchFamily="34" charset="-120"/>
              </a:rPr>
              <a:t>Reviews revenue, staff utilisation and service popularity reports for business decisions.</a:t>
            </a:r>
            <a:endParaRPr lang="en-US" sz="1000" dirty="0"/>
          </a:p>
        </p:txBody>
      </p:sp>
      <p:sp>
        <p:nvSpPr>
          <p:cNvPr id="32" name="Text 23"/>
          <p:cNvSpPr/>
          <p:nvPr/>
        </p:nvSpPr>
        <p:spPr>
          <a:xfrm>
            <a:off x="502920" y="6473952"/>
            <a:ext cx="8229600" cy="274320"/>
          </a:xfrm>
          <a:prstGeom prst="rect">
            <a:avLst/>
          </a:prstGeom>
          <a:noFill/>
          <a:ln/>
        </p:spPr>
        <p:txBody>
          <a:bodyPr wrap="square" rtlCol="0" anchor="ctr"/>
          <a:lstStyle/>
          <a:p>
            <a:pPr indent="0" marL="0">
              <a:buNone/>
            </a:pPr>
            <a:r>
              <a:rPr lang="en-US" sz="900" spc="100" kern="0" dirty="0">
                <a:solidFill>
                  <a:srgbClr val="5B6B6E"/>
                </a:solidFill>
                <a:latin typeface="Calibri" pitchFamily="34" charset="0"/>
                <a:ea typeface="Calibri" pitchFamily="34" charset="-122"/>
                <a:cs typeface="Calibri" pitchFamily="34" charset="-120"/>
              </a:rPr>
              <a:t>SALON &amp; SPA APPOINTMENT MANAGEMENT SYSTEM  |  REVIEW 1</a:t>
            </a:r>
            <a:endParaRPr lang="en-US" sz="900" dirty="0"/>
          </a:p>
        </p:txBody>
      </p:sp>
      <p:sp>
        <p:nvSpPr>
          <p:cNvPr id="33" name="Text 24"/>
          <p:cNvSpPr/>
          <p:nvPr/>
        </p:nvSpPr>
        <p:spPr>
          <a:xfrm>
            <a:off x="11228832" y="6473952"/>
            <a:ext cx="457200" cy="274320"/>
          </a:xfrm>
          <a:prstGeom prst="rect">
            <a:avLst/>
          </a:prstGeom>
          <a:noFill/>
          <a:ln/>
        </p:spPr>
        <p:txBody>
          <a:bodyPr wrap="square" rtlCol="0" anchor="ctr"/>
          <a:lstStyle/>
          <a:p>
            <a:pPr algn="r" indent="0" marL="0">
              <a:buNone/>
            </a:pPr>
            <a:r>
              <a:rPr lang="en-US" sz="900" dirty="0">
                <a:solidFill>
                  <a:srgbClr val="5B6B6E"/>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384048"/>
            <a:ext cx="8229600" cy="292608"/>
          </a:xfrm>
          <a:prstGeom prst="rect">
            <a:avLst/>
          </a:prstGeom>
          <a:noFill/>
          <a:ln/>
        </p:spPr>
        <p:txBody>
          <a:bodyPr wrap="square" rtlCol="0" anchor="ctr"/>
          <a:lstStyle/>
          <a:p>
            <a:pPr indent="0" marL="0">
              <a:buNone/>
            </a:pPr>
            <a:r>
              <a:rPr lang="en-US" sz="1200" b="1" spc="200" kern="0" dirty="0">
                <a:solidFill>
                  <a:srgbClr val="6D2E46"/>
                </a:solidFill>
                <a:latin typeface="Calibri" pitchFamily="34" charset="0"/>
                <a:ea typeface="Calibri" pitchFamily="34" charset="-122"/>
                <a:cs typeface="Calibri" pitchFamily="34" charset="-120"/>
              </a:rPr>
              <a:t>SYSTEM CAPABILITIES</a:t>
            </a:r>
            <a:endParaRPr lang="en-US" sz="1200" dirty="0"/>
          </a:p>
        </p:txBody>
      </p:sp>
      <p:sp>
        <p:nvSpPr>
          <p:cNvPr id="3" name="Text 1"/>
          <p:cNvSpPr txBox="1"/>
          <p:nvPr/>
        </p:nvSpPr>
        <p:spPr>
          <a:xfrm>
            <a:off x="502920" y="658368"/>
            <a:ext cx="9692640" cy="685800"/>
          </a:xfrm>
          <a:prstGeom prst="rect">
            <a:avLst/>
          </a:prstGeom>
          <a:noFill/>
          <a:ln/>
        </p:spPr>
        <p:txBody>
          <a:bodyPr wrap="square" rtlCol="0" anchor="ctr"/>
          <a:lstStyle/>
          <a:p>
            <a:pPr indent="0" marL="0">
              <a:buNone/>
            </a:pPr>
            <a:r>
              <a:rPr lang="en-US" sz="3000" b="1" dirty="0">
                <a:solidFill>
                  <a:srgbClr val="27343A"/>
                </a:solidFill>
                <a:latin typeface="Cambria" pitchFamily="34" charset="0"/>
                <a:ea typeface="Cambria" pitchFamily="34" charset="-122"/>
                <a:cs typeface="Cambria" pitchFamily="34" charset="-120"/>
              </a:rPr>
              <a:t>Functional Requirements</a:t>
            </a:r>
            <a:endParaRPr lang="en-US" sz="3000" dirty="0"/>
          </a:p>
        </p:txBody>
      </p:sp>
      <p:sp>
        <p:nvSpPr>
          <p:cNvPr id="4" name="Shape 2"/>
          <p:cNvSpPr/>
          <p:nvPr/>
        </p:nvSpPr>
        <p:spPr>
          <a:xfrm>
            <a:off x="11119104" y="457200"/>
            <a:ext cx="566928" cy="566928"/>
          </a:xfrm>
          <a:prstGeom prst="ellipse">
            <a:avLst/>
          </a:prstGeom>
          <a:solidFill>
            <a:srgbClr val="6D2E46"/>
          </a:solidFill>
          <a:ln/>
        </p:spPr>
      </p:sp>
      <p:pic>
        <p:nvPicPr>
          <p:cNvPr id="5" name="Image 0" descr="/tmp/claude-0/-home-claude/12ac4f2c-a806-5c6e-9789-8d976e37a451/scratchpad/salon_ppt/icons/cogs.png">    </p:cNvPr>
          <p:cNvPicPr>
            <a:picLocks noChangeAspect="1"/>
          </p:cNvPicPr>
          <p:nvPr/>
        </p:nvPicPr>
        <p:blipFill>
          <a:blip r:embed="rId1"/>
          <a:stretch>
            <a:fillRect/>
          </a:stretch>
        </p:blipFill>
        <p:spPr>
          <a:xfrm>
            <a:off x="11187135" y="525231"/>
            <a:ext cx="430865" cy="430865"/>
          </a:xfrm>
          <a:prstGeom prst="rect">
            <a:avLst/>
          </a:prstGeom>
        </p:spPr>
      </p:pic>
      <p:sp>
        <p:nvSpPr>
          <p:cNvPr id="6" name="Shape 3"/>
          <p:cNvSpPr/>
          <p:nvPr/>
        </p:nvSpPr>
        <p:spPr>
          <a:xfrm>
            <a:off x="502920" y="1600200"/>
            <a:ext cx="5468112" cy="2121408"/>
          </a:xfrm>
          <a:prstGeom prst="roundRect">
            <a:avLst>
              <a:gd name="adj" fmla="val 3448"/>
            </a:avLst>
          </a:prstGeom>
          <a:solidFill>
            <a:srgbClr val="F3EFE7"/>
          </a:solidFill>
          <a:ln/>
        </p:spPr>
      </p:sp>
      <p:sp>
        <p:nvSpPr>
          <p:cNvPr id="7" name="Text 4"/>
          <p:cNvSpPr/>
          <p:nvPr/>
        </p:nvSpPr>
        <p:spPr>
          <a:xfrm>
            <a:off x="731520" y="1746504"/>
            <a:ext cx="5010912" cy="320040"/>
          </a:xfrm>
          <a:prstGeom prst="rect">
            <a:avLst/>
          </a:prstGeom>
          <a:noFill/>
          <a:ln/>
        </p:spPr>
        <p:txBody>
          <a:bodyPr wrap="square" rtlCol="0" anchor="ctr"/>
          <a:lstStyle/>
          <a:p>
            <a:pPr indent="0" marL="0">
              <a:buNone/>
            </a:pPr>
            <a:r>
              <a:rPr lang="en-US" sz="1350" b="1" dirty="0">
                <a:solidFill>
                  <a:srgbClr val="6D2E46"/>
                </a:solidFill>
                <a:latin typeface="Calibri" pitchFamily="34" charset="0"/>
                <a:ea typeface="Calibri" pitchFamily="34" charset="-122"/>
                <a:cs typeface="Calibri" pitchFamily="34" charset="-120"/>
              </a:rPr>
              <a:t>Customer &amp; Catalogue</a:t>
            </a:r>
            <a:endParaRPr lang="en-US" sz="1350" dirty="0"/>
          </a:p>
        </p:txBody>
      </p:sp>
      <p:sp>
        <p:nvSpPr>
          <p:cNvPr id="8" name="Text 5"/>
          <p:cNvSpPr/>
          <p:nvPr/>
        </p:nvSpPr>
        <p:spPr>
          <a:xfrm>
            <a:off x="731520" y="2130552"/>
            <a:ext cx="5010912" cy="1481328"/>
          </a:xfrm>
          <a:prstGeom prst="rect">
            <a:avLst/>
          </a:prstGeom>
          <a:noFill/>
          <a:ln/>
        </p:spPr>
        <p:txBody>
          <a:bodyPr wrap="square" rtlCol="0" anchor="t"/>
          <a:lstStyle/>
          <a:p>
            <a:pPr marL="342900" indent="-342900">
              <a:lnSpc>
                <a:spcPct val="118000"/>
              </a:lnSpc>
              <a:spcAft>
                <a:spcPts val="600"/>
              </a:spcAft>
              <a:buSzPct val="100000"/>
              <a:buChar char="▪"/>
            </a:pPr>
            <a:r>
              <a:rPr lang="en-US" sz="1130" dirty="0">
                <a:solidFill>
                  <a:srgbClr val="27343A"/>
                </a:solidFill>
                <a:latin typeface="Calibri" pitchFamily="34" charset="0"/>
                <a:ea typeface="Calibri" pitchFamily="34" charset="-122"/>
                <a:cs typeface="Calibri" pitchFamily="34" charset="-120"/>
              </a:rPr>
              <a:t>Register / update customer profiles</a:t>
            </a:r>
            <a:endParaRPr lang="en-US" sz="1130" dirty="0"/>
          </a:p>
          <a:p>
            <a:pPr marL="342900" indent="-342900">
              <a:lnSpc>
                <a:spcPct val="118000"/>
              </a:lnSpc>
              <a:spcAft>
                <a:spcPts val="600"/>
              </a:spcAft>
              <a:buSzPct val="100000"/>
              <a:buChar char="▪"/>
            </a:pPr>
            <a:r>
              <a:rPr lang="en-US" sz="1130" dirty="0">
                <a:solidFill>
                  <a:srgbClr val="27343A"/>
                </a:solidFill>
                <a:latin typeface="Calibri" pitchFamily="34" charset="0"/>
                <a:ea typeface="Calibri" pitchFamily="34" charset="-122"/>
                <a:cs typeface="Calibri" pitchFamily="34" charset="-120"/>
              </a:rPr>
              <a:t>Maintain service categories &amp; service menu with pricing</a:t>
            </a:r>
            <a:endParaRPr lang="en-US" sz="1130" dirty="0"/>
          </a:p>
          <a:p>
            <a:pPr marL="342900" indent="-342900">
              <a:lnSpc>
                <a:spcPct val="118000"/>
              </a:lnSpc>
              <a:spcAft>
                <a:spcPts val="600"/>
              </a:spcAft>
              <a:buSzPct val="100000"/>
              <a:buChar char="▪"/>
            </a:pPr>
            <a:r>
              <a:rPr lang="en-US" sz="1130" dirty="0">
                <a:solidFill>
                  <a:srgbClr val="27343A"/>
                </a:solidFill>
                <a:latin typeface="Calibri" pitchFamily="34" charset="0"/>
                <a:ea typeface="Calibri" pitchFamily="34" charset="-122"/>
                <a:cs typeface="Calibri" pitchFamily="34" charset="-120"/>
              </a:rPr>
              <a:t>Maintain staff profiles and skill sets</a:t>
            </a:r>
            <a:endParaRPr lang="en-US" sz="1130" dirty="0"/>
          </a:p>
        </p:txBody>
      </p:sp>
      <p:sp>
        <p:nvSpPr>
          <p:cNvPr id="9" name="Shape 6"/>
          <p:cNvSpPr/>
          <p:nvPr/>
        </p:nvSpPr>
        <p:spPr>
          <a:xfrm>
            <a:off x="6190488" y="1600200"/>
            <a:ext cx="5468112" cy="2121408"/>
          </a:xfrm>
          <a:prstGeom prst="roundRect">
            <a:avLst>
              <a:gd name="adj" fmla="val 3448"/>
            </a:avLst>
          </a:prstGeom>
          <a:solidFill>
            <a:srgbClr val="F3EFE7"/>
          </a:solidFill>
          <a:ln/>
        </p:spPr>
      </p:sp>
      <p:sp>
        <p:nvSpPr>
          <p:cNvPr id="10" name="Text 7"/>
          <p:cNvSpPr/>
          <p:nvPr/>
        </p:nvSpPr>
        <p:spPr>
          <a:xfrm>
            <a:off x="6419088" y="1746504"/>
            <a:ext cx="5010912" cy="320040"/>
          </a:xfrm>
          <a:prstGeom prst="rect">
            <a:avLst/>
          </a:prstGeom>
          <a:noFill/>
          <a:ln/>
        </p:spPr>
        <p:txBody>
          <a:bodyPr wrap="square" rtlCol="0" anchor="ctr"/>
          <a:lstStyle/>
          <a:p>
            <a:pPr indent="0" marL="0">
              <a:buNone/>
            </a:pPr>
            <a:r>
              <a:rPr lang="en-US" sz="1350" b="1" dirty="0">
                <a:solidFill>
                  <a:srgbClr val="6D2E46"/>
                </a:solidFill>
                <a:latin typeface="Calibri" pitchFamily="34" charset="0"/>
                <a:ea typeface="Calibri" pitchFamily="34" charset="-122"/>
                <a:cs typeface="Calibri" pitchFamily="34" charset="-120"/>
              </a:rPr>
              <a:t>Scheduling &amp; Appointments</a:t>
            </a:r>
            <a:endParaRPr lang="en-US" sz="1350" dirty="0"/>
          </a:p>
        </p:txBody>
      </p:sp>
      <p:sp>
        <p:nvSpPr>
          <p:cNvPr id="11" name="Text 8"/>
          <p:cNvSpPr/>
          <p:nvPr/>
        </p:nvSpPr>
        <p:spPr>
          <a:xfrm>
            <a:off x="6419088" y="2130552"/>
            <a:ext cx="5010912" cy="1481328"/>
          </a:xfrm>
          <a:prstGeom prst="rect">
            <a:avLst/>
          </a:prstGeom>
          <a:noFill/>
          <a:ln/>
        </p:spPr>
        <p:txBody>
          <a:bodyPr wrap="square" rtlCol="0" anchor="t"/>
          <a:lstStyle/>
          <a:p>
            <a:pPr marL="342900" indent="-342900">
              <a:lnSpc>
                <a:spcPct val="118000"/>
              </a:lnSpc>
              <a:spcAft>
                <a:spcPts val="600"/>
              </a:spcAft>
              <a:buSzPct val="100000"/>
              <a:buChar char="▪"/>
            </a:pPr>
            <a:r>
              <a:rPr lang="en-US" sz="1130" dirty="0">
                <a:solidFill>
                  <a:srgbClr val="27343A"/>
                </a:solidFill>
                <a:latin typeface="Calibri" pitchFamily="34" charset="0"/>
                <a:ea typeface="Calibri" pitchFamily="34" charset="-122"/>
                <a:cs typeface="Calibri" pitchFamily="34" charset="-120"/>
              </a:rPr>
              <a:t>Maintain weekly staff schedules</a:t>
            </a:r>
            <a:endParaRPr lang="en-US" sz="1130" dirty="0"/>
          </a:p>
          <a:p>
            <a:pPr marL="342900" indent="-342900">
              <a:lnSpc>
                <a:spcPct val="118000"/>
              </a:lnSpc>
              <a:spcAft>
                <a:spcPts val="600"/>
              </a:spcAft>
              <a:buSzPct val="100000"/>
              <a:buChar char="▪"/>
            </a:pPr>
            <a:r>
              <a:rPr lang="en-US" sz="1130" dirty="0">
                <a:solidFill>
                  <a:srgbClr val="27343A"/>
                </a:solidFill>
                <a:latin typeface="Calibri" pitchFamily="34" charset="0"/>
                <a:ea typeface="Calibri" pitchFamily="34" charset="-122"/>
                <a:cs typeface="Calibri" pitchFamily="34" charset="-120"/>
              </a:rPr>
              <a:t>Book appointments with skill-matched, available staff</a:t>
            </a:r>
            <a:endParaRPr lang="en-US" sz="1130" dirty="0"/>
          </a:p>
          <a:p>
            <a:pPr marL="342900" indent="-342900">
              <a:lnSpc>
                <a:spcPct val="118000"/>
              </a:lnSpc>
              <a:spcAft>
                <a:spcPts val="600"/>
              </a:spcAft>
              <a:buSzPct val="100000"/>
              <a:buChar char="▪"/>
            </a:pPr>
            <a:r>
              <a:rPr lang="en-US" sz="1130" dirty="0">
                <a:solidFill>
                  <a:srgbClr val="27343A"/>
                </a:solidFill>
                <a:latin typeface="Calibri" pitchFamily="34" charset="0"/>
                <a:ea typeface="Calibri" pitchFamily="34" charset="-122"/>
                <a:cs typeface="Calibri" pitchFamily="34" charset="-120"/>
              </a:rPr>
              <a:t>Reject overlapping bookings &amp; invalid appointment times</a:t>
            </a:r>
            <a:endParaRPr lang="en-US" sz="1130" dirty="0"/>
          </a:p>
        </p:txBody>
      </p:sp>
      <p:sp>
        <p:nvSpPr>
          <p:cNvPr id="12" name="Shape 9"/>
          <p:cNvSpPr/>
          <p:nvPr/>
        </p:nvSpPr>
        <p:spPr>
          <a:xfrm>
            <a:off x="502920" y="3904488"/>
            <a:ext cx="5468112" cy="2121408"/>
          </a:xfrm>
          <a:prstGeom prst="roundRect">
            <a:avLst>
              <a:gd name="adj" fmla="val 3448"/>
            </a:avLst>
          </a:prstGeom>
          <a:solidFill>
            <a:srgbClr val="F3EFE7"/>
          </a:solidFill>
          <a:ln/>
        </p:spPr>
      </p:sp>
      <p:sp>
        <p:nvSpPr>
          <p:cNvPr id="13" name="Text 10"/>
          <p:cNvSpPr/>
          <p:nvPr/>
        </p:nvSpPr>
        <p:spPr>
          <a:xfrm>
            <a:off x="731520" y="4050792"/>
            <a:ext cx="5010912" cy="320040"/>
          </a:xfrm>
          <a:prstGeom prst="rect">
            <a:avLst/>
          </a:prstGeom>
          <a:noFill/>
          <a:ln/>
        </p:spPr>
        <p:txBody>
          <a:bodyPr wrap="square" rtlCol="0" anchor="ctr"/>
          <a:lstStyle/>
          <a:p>
            <a:pPr indent="0" marL="0">
              <a:buNone/>
            </a:pPr>
            <a:r>
              <a:rPr lang="en-US" sz="1350" b="1" dirty="0">
                <a:solidFill>
                  <a:srgbClr val="6D2E46"/>
                </a:solidFill>
                <a:latin typeface="Calibri" pitchFamily="34" charset="0"/>
                <a:ea typeface="Calibri" pitchFamily="34" charset="-122"/>
                <a:cs typeface="Calibri" pitchFamily="34" charset="-120"/>
              </a:rPr>
              <a:t>Packages &amp; Products</a:t>
            </a:r>
            <a:endParaRPr lang="en-US" sz="1350" dirty="0"/>
          </a:p>
        </p:txBody>
      </p:sp>
      <p:sp>
        <p:nvSpPr>
          <p:cNvPr id="14" name="Text 11"/>
          <p:cNvSpPr/>
          <p:nvPr/>
        </p:nvSpPr>
        <p:spPr>
          <a:xfrm>
            <a:off x="731520" y="4434840"/>
            <a:ext cx="5010912" cy="1481328"/>
          </a:xfrm>
          <a:prstGeom prst="rect">
            <a:avLst/>
          </a:prstGeom>
          <a:noFill/>
          <a:ln/>
        </p:spPr>
        <p:txBody>
          <a:bodyPr wrap="square" rtlCol="0" anchor="t"/>
          <a:lstStyle/>
          <a:p>
            <a:pPr marL="342900" indent="-342900">
              <a:lnSpc>
                <a:spcPct val="118000"/>
              </a:lnSpc>
              <a:spcAft>
                <a:spcPts val="600"/>
              </a:spcAft>
              <a:buSzPct val="100000"/>
              <a:buChar char="▪"/>
            </a:pPr>
            <a:r>
              <a:rPr lang="en-US" sz="1130" dirty="0">
                <a:solidFill>
                  <a:srgbClr val="27343A"/>
                </a:solidFill>
                <a:latin typeface="Calibri" pitchFamily="34" charset="0"/>
                <a:ea typeface="Calibri" pitchFamily="34" charset="-122"/>
                <a:cs typeface="Calibri" pitchFamily="34" charset="-120"/>
              </a:rPr>
              <a:t>Sell packages / memberships and track remaining sessions</a:t>
            </a:r>
            <a:endParaRPr lang="en-US" sz="1130" dirty="0"/>
          </a:p>
          <a:p>
            <a:pPr marL="342900" indent="-342900">
              <a:lnSpc>
                <a:spcPct val="118000"/>
              </a:lnSpc>
              <a:spcAft>
                <a:spcPts val="600"/>
              </a:spcAft>
              <a:buSzPct val="100000"/>
              <a:buChar char="▪"/>
            </a:pPr>
            <a:r>
              <a:rPr lang="en-US" sz="1130" dirty="0">
                <a:solidFill>
                  <a:srgbClr val="27343A"/>
                </a:solidFill>
                <a:latin typeface="Calibri" pitchFamily="34" charset="0"/>
                <a:ea typeface="Calibri" pitchFamily="34" charset="-122"/>
                <a:cs typeface="Calibri" pitchFamily="34" charset="-120"/>
              </a:rPr>
              <a:t>Record product usage per appointment against stock</a:t>
            </a:r>
            <a:endParaRPr lang="en-US" sz="1130" dirty="0"/>
          </a:p>
        </p:txBody>
      </p:sp>
      <p:sp>
        <p:nvSpPr>
          <p:cNvPr id="15" name="Shape 12"/>
          <p:cNvSpPr/>
          <p:nvPr/>
        </p:nvSpPr>
        <p:spPr>
          <a:xfrm>
            <a:off x="6190488" y="3904488"/>
            <a:ext cx="5468112" cy="2121408"/>
          </a:xfrm>
          <a:prstGeom prst="roundRect">
            <a:avLst>
              <a:gd name="adj" fmla="val 3448"/>
            </a:avLst>
          </a:prstGeom>
          <a:solidFill>
            <a:srgbClr val="F3EFE7"/>
          </a:solidFill>
          <a:ln/>
        </p:spPr>
      </p:sp>
      <p:sp>
        <p:nvSpPr>
          <p:cNvPr id="16" name="Text 13"/>
          <p:cNvSpPr/>
          <p:nvPr/>
        </p:nvSpPr>
        <p:spPr>
          <a:xfrm>
            <a:off x="6419088" y="4050792"/>
            <a:ext cx="5010912" cy="320040"/>
          </a:xfrm>
          <a:prstGeom prst="rect">
            <a:avLst/>
          </a:prstGeom>
          <a:noFill/>
          <a:ln/>
        </p:spPr>
        <p:txBody>
          <a:bodyPr wrap="square" rtlCol="0" anchor="ctr"/>
          <a:lstStyle/>
          <a:p>
            <a:pPr indent="0" marL="0">
              <a:buNone/>
            </a:pPr>
            <a:r>
              <a:rPr lang="en-US" sz="1350" b="1" dirty="0">
                <a:solidFill>
                  <a:srgbClr val="6D2E46"/>
                </a:solidFill>
                <a:latin typeface="Calibri" pitchFamily="34" charset="0"/>
                <a:ea typeface="Calibri" pitchFamily="34" charset="-122"/>
                <a:cs typeface="Calibri" pitchFamily="34" charset="-120"/>
              </a:rPr>
              <a:t>Billing &amp; Reporting</a:t>
            </a:r>
            <a:endParaRPr lang="en-US" sz="1350" dirty="0"/>
          </a:p>
        </p:txBody>
      </p:sp>
      <p:sp>
        <p:nvSpPr>
          <p:cNvPr id="17" name="Text 14"/>
          <p:cNvSpPr/>
          <p:nvPr/>
        </p:nvSpPr>
        <p:spPr>
          <a:xfrm>
            <a:off x="6419088" y="4434840"/>
            <a:ext cx="5010912" cy="1481328"/>
          </a:xfrm>
          <a:prstGeom prst="rect">
            <a:avLst/>
          </a:prstGeom>
          <a:noFill/>
          <a:ln/>
        </p:spPr>
        <p:txBody>
          <a:bodyPr wrap="square" rtlCol="0" anchor="t"/>
          <a:lstStyle/>
          <a:p>
            <a:pPr marL="342900" indent="-342900">
              <a:lnSpc>
                <a:spcPct val="118000"/>
              </a:lnSpc>
              <a:spcAft>
                <a:spcPts val="600"/>
              </a:spcAft>
              <a:buSzPct val="100000"/>
              <a:buChar char="▪"/>
            </a:pPr>
            <a:r>
              <a:rPr lang="en-US" sz="1130" dirty="0">
                <a:solidFill>
                  <a:srgbClr val="27343A"/>
                </a:solidFill>
                <a:latin typeface="Calibri" pitchFamily="34" charset="0"/>
                <a:ea typeface="Calibri" pitchFamily="34" charset="-122"/>
                <a:cs typeface="Calibri" pitchFamily="34" charset="-120"/>
              </a:rPr>
              <a:t>Generate bills with discounts, taxes and payment limits</a:t>
            </a:r>
            <a:endParaRPr lang="en-US" sz="1130" dirty="0"/>
          </a:p>
          <a:p>
            <a:pPr marL="342900" indent="-342900">
              <a:lnSpc>
                <a:spcPct val="118000"/>
              </a:lnSpc>
              <a:spcAft>
                <a:spcPts val="600"/>
              </a:spcAft>
              <a:buSzPct val="100000"/>
              <a:buChar char="▪"/>
            </a:pPr>
            <a:r>
              <a:rPr lang="en-US" sz="1130" dirty="0">
                <a:solidFill>
                  <a:srgbClr val="27343A"/>
                </a:solidFill>
                <a:latin typeface="Calibri" pitchFamily="34" charset="0"/>
                <a:ea typeface="Calibri" pitchFamily="34" charset="-122"/>
                <a:cs typeface="Calibri" pitchFamily="34" charset="-120"/>
              </a:rPr>
              <a:t>Record full/partial payments per bill</a:t>
            </a:r>
            <a:endParaRPr lang="en-US" sz="1130" dirty="0"/>
          </a:p>
          <a:p>
            <a:pPr marL="342900" indent="-342900">
              <a:lnSpc>
                <a:spcPct val="118000"/>
              </a:lnSpc>
              <a:spcAft>
                <a:spcPts val="600"/>
              </a:spcAft>
              <a:buSzPct val="100000"/>
              <a:buChar char="▪"/>
            </a:pPr>
            <a:r>
              <a:rPr lang="en-US" sz="1130" dirty="0">
                <a:solidFill>
                  <a:srgbClr val="27343A"/>
                </a:solidFill>
                <a:latin typeface="Calibri" pitchFamily="34" charset="0"/>
                <a:ea typeface="Calibri" pitchFamily="34" charset="-122"/>
                <a:cs typeface="Calibri" pitchFamily="34" charset="-120"/>
              </a:rPr>
              <a:t>Produce appointment, utilisation, popularity, package-balance, product-use and revenue reports</a:t>
            </a:r>
            <a:endParaRPr lang="en-US" sz="1130" dirty="0"/>
          </a:p>
        </p:txBody>
      </p:sp>
      <p:sp>
        <p:nvSpPr>
          <p:cNvPr id="19" name="Text 15"/>
          <p:cNvSpPr/>
          <p:nvPr/>
        </p:nvSpPr>
        <p:spPr>
          <a:xfrm>
            <a:off x="502920" y="6473952"/>
            <a:ext cx="8229600" cy="274320"/>
          </a:xfrm>
          <a:prstGeom prst="rect">
            <a:avLst/>
          </a:prstGeom>
          <a:noFill/>
          <a:ln/>
        </p:spPr>
        <p:txBody>
          <a:bodyPr wrap="square" rtlCol="0" anchor="ctr"/>
          <a:lstStyle/>
          <a:p>
            <a:pPr indent="0" marL="0">
              <a:buNone/>
            </a:pPr>
            <a:r>
              <a:rPr lang="en-US" sz="900" spc="100" kern="0" dirty="0">
                <a:solidFill>
                  <a:srgbClr val="5B6B6E"/>
                </a:solidFill>
                <a:latin typeface="Calibri" pitchFamily="34" charset="0"/>
                <a:ea typeface="Calibri" pitchFamily="34" charset="-122"/>
                <a:cs typeface="Calibri" pitchFamily="34" charset="-120"/>
              </a:rPr>
              <a:t>SALON &amp; SPA APPOINTMENT MANAGEMENT SYSTEM  |  REVIEW 1</a:t>
            </a:r>
            <a:endParaRPr lang="en-US" sz="900" dirty="0"/>
          </a:p>
        </p:txBody>
      </p:sp>
      <p:sp>
        <p:nvSpPr>
          <p:cNvPr id="20" name="Text 16"/>
          <p:cNvSpPr/>
          <p:nvPr/>
        </p:nvSpPr>
        <p:spPr>
          <a:xfrm>
            <a:off x="11228832" y="6473952"/>
            <a:ext cx="457200" cy="274320"/>
          </a:xfrm>
          <a:prstGeom prst="rect">
            <a:avLst/>
          </a:prstGeom>
          <a:noFill/>
          <a:ln/>
        </p:spPr>
        <p:txBody>
          <a:bodyPr wrap="square" rtlCol="0" anchor="ctr"/>
          <a:lstStyle/>
          <a:p>
            <a:pPr algn="r" indent="0" marL="0">
              <a:buNone/>
            </a:pPr>
            <a:r>
              <a:rPr lang="en-US" sz="900" dirty="0">
                <a:solidFill>
                  <a:srgbClr val="5B6B6E"/>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384048"/>
            <a:ext cx="8229600" cy="292608"/>
          </a:xfrm>
          <a:prstGeom prst="rect">
            <a:avLst/>
          </a:prstGeom>
          <a:noFill/>
          <a:ln/>
        </p:spPr>
        <p:txBody>
          <a:bodyPr wrap="square" rtlCol="0" anchor="ctr"/>
          <a:lstStyle/>
          <a:p>
            <a:pPr indent="0" marL="0">
              <a:buNone/>
            </a:pPr>
            <a:r>
              <a:rPr lang="en-US" sz="1200" b="1" spc="200" kern="0" dirty="0">
                <a:solidFill>
                  <a:srgbClr val="6D2E46"/>
                </a:solidFill>
                <a:latin typeface="Calibri" pitchFamily="34" charset="0"/>
                <a:ea typeface="Calibri" pitchFamily="34" charset="-122"/>
                <a:cs typeface="Calibri" pitchFamily="34" charset="-120"/>
              </a:rPr>
              <a:t>CONCEPTUAL DESIGN</a:t>
            </a:r>
            <a:endParaRPr lang="en-US" sz="1200" dirty="0"/>
          </a:p>
        </p:txBody>
      </p:sp>
      <p:sp>
        <p:nvSpPr>
          <p:cNvPr id="3" name="Text 1"/>
          <p:cNvSpPr txBox="1"/>
          <p:nvPr/>
        </p:nvSpPr>
        <p:spPr>
          <a:xfrm>
            <a:off x="502920" y="658368"/>
            <a:ext cx="9692640" cy="685800"/>
          </a:xfrm>
          <a:prstGeom prst="rect">
            <a:avLst/>
          </a:prstGeom>
          <a:noFill/>
          <a:ln/>
        </p:spPr>
        <p:txBody>
          <a:bodyPr wrap="square" rtlCol="0" anchor="ctr"/>
          <a:lstStyle/>
          <a:p>
            <a:pPr indent="0" marL="0">
              <a:buNone/>
            </a:pPr>
            <a:r>
              <a:rPr lang="en-US" sz="3000" b="1" dirty="0">
                <a:solidFill>
                  <a:srgbClr val="27343A"/>
                </a:solidFill>
                <a:latin typeface="Cambria" pitchFamily="34" charset="0"/>
                <a:ea typeface="Cambria" pitchFamily="34" charset="-122"/>
                <a:cs typeface="Cambria" pitchFamily="34" charset="-120"/>
              </a:rPr>
              <a:t>Key Entities Identified</a:t>
            </a:r>
            <a:endParaRPr lang="en-US" sz="3000" dirty="0"/>
          </a:p>
        </p:txBody>
      </p:sp>
      <p:sp>
        <p:nvSpPr>
          <p:cNvPr id="4" name="Shape 2"/>
          <p:cNvSpPr/>
          <p:nvPr/>
        </p:nvSpPr>
        <p:spPr>
          <a:xfrm>
            <a:off x="11119104" y="457200"/>
            <a:ext cx="566928" cy="566928"/>
          </a:xfrm>
          <a:prstGeom prst="ellipse">
            <a:avLst/>
          </a:prstGeom>
          <a:solidFill>
            <a:srgbClr val="6D2E46"/>
          </a:solidFill>
          <a:ln/>
        </p:spPr>
      </p:sp>
      <p:pic>
        <p:nvPicPr>
          <p:cNvPr id="5" name="Image 0" descr="/tmp/claude-0/-home-claude/12ac4f2c-a806-5c6e-9789-8d976e37a451/scratchpad/salon_ppt/icons/database.png">    </p:cNvPr>
          <p:cNvPicPr>
            <a:picLocks noChangeAspect="1"/>
          </p:cNvPicPr>
          <p:nvPr/>
        </p:nvPicPr>
        <p:blipFill>
          <a:blip r:embed="rId1"/>
          <a:stretch>
            <a:fillRect/>
          </a:stretch>
        </p:blipFill>
        <p:spPr>
          <a:xfrm>
            <a:off x="11187135" y="525231"/>
            <a:ext cx="430865" cy="430865"/>
          </a:xfrm>
          <a:prstGeom prst="rect">
            <a:avLst/>
          </a:prstGeom>
        </p:spPr>
      </p:pic>
      <p:sp>
        <p:nvSpPr>
          <p:cNvPr id="6" name="Shape 3"/>
          <p:cNvSpPr/>
          <p:nvPr/>
        </p:nvSpPr>
        <p:spPr>
          <a:xfrm>
            <a:off x="502920" y="1600200"/>
            <a:ext cx="2676906" cy="1030986"/>
          </a:xfrm>
          <a:prstGeom prst="roundRect">
            <a:avLst>
              <a:gd name="adj" fmla="val 6208"/>
            </a:avLst>
          </a:prstGeom>
          <a:solidFill>
            <a:srgbClr val="FFFFFF"/>
          </a:solidFill>
          <a:ln w="12700">
            <a:solidFill>
              <a:srgbClr val="84B59F"/>
            </a:solidFill>
            <a:prstDash val="solid"/>
          </a:ln>
        </p:spPr>
      </p:sp>
      <p:sp>
        <p:nvSpPr>
          <p:cNvPr id="7" name="Shape 4"/>
          <p:cNvSpPr/>
          <p:nvPr/>
        </p:nvSpPr>
        <p:spPr>
          <a:xfrm>
            <a:off x="502920" y="1600200"/>
            <a:ext cx="82296" cy="1030986"/>
          </a:xfrm>
          <a:prstGeom prst="rect">
            <a:avLst/>
          </a:prstGeom>
          <a:solidFill>
            <a:srgbClr val="FFFFFF"/>
          </a:solidFill>
          <a:ln/>
        </p:spPr>
      </p:sp>
      <p:sp>
        <p:nvSpPr>
          <p:cNvPr id="8" name="Text 5"/>
          <p:cNvSpPr/>
          <p:nvPr/>
        </p:nvSpPr>
        <p:spPr>
          <a:xfrm>
            <a:off x="649224" y="1673352"/>
            <a:ext cx="2402586" cy="310896"/>
          </a:xfrm>
          <a:prstGeom prst="rect">
            <a:avLst/>
          </a:prstGeom>
          <a:noFill/>
          <a:ln/>
        </p:spPr>
        <p:txBody>
          <a:bodyPr wrap="square" rtlCol="0" anchor="t"/>
          <a:lstStyle/>
          <a:p>
            <a:pPr indent="0" marL="0">
              <a:buNone/>
            </a:pPr>
            <a:r>
              <a:rPr lang="en-US" sz="1250" b="1" dirty="0">
                <a:solidFill>
                  <a:srgbClr val="50808E"/>
                </a:solidFill>
                <a:latin typeface="Calibri" pitchFamily="34" charset="0"/>
                <a:ea typeface="Calibri" pitchFamily="34" charset="-122"/>
                <a:cs typeface="Calibri" pitchFamily="34" charset="-120"/>
              </a:rPr>
              <a:t>Customer</a:t>
            </a:r>
            <a:endParaRPr lang="en-US" sz="1250" dirty="0"/>
          </a:p>
        </p:txBody>
      </p:sp>
      <p:sp>
        <p:nvSpPr>
          <p:cNvPr id="9" name="Text 6"/>
          <p:cNvSpPr/>
          <p:nvPr/>
        </p:nvSpPr>
        <p:spPr>
          <a:xfrm>
            <a:off x="649224" y="1984248"/>
            <a:ext cx="2402586" cy="573786"/>
          </a:xfrm>
          <a:prstGeom prst="rect">
            <a:avLst/>
          </a:prstGeom>
          <a:noFill/>
          <a:ln/>
        </p:spPr>
        <p:txBody>
          <a:bodyPr wrap="square" rtlCol="0" anchor="t"/>
          <a:lstStyle/>
          <a:p>
            <a:pPr indent="0" marL="0">
              <a:lnSpc>
                <a:spcPct val="112000"/>
              </a:lnSpc>
              <a:buNone/>
            </a:pPr>
            <a:r>
              <a:rPr lang="en-US" sz="960" dirty="0">
                <a:solidFill>
                  <a:srgbClr val="5B6B6E"/>
                </a:solidFill>
                <a:latin typeface="Calibri" pitchFamily="34" charset="0"/>
                <a:ea typeface="Calibri" pitchFamily="34" charset="-122"/>
                <a:cs typeface="Calibri" pitchFamily="34" charset="-120"/>
              </a:rPr>
              <a:t>Individuals who book services</a:t>
            </a:r>
            <a:endParaRPr lang="en-US" sz="960" dirty="0"/>
          </a:p>
        </p:txBody>
      </p:sp>
      <p:sp>
        <p:nvSpPr>
          <p:cNvPr id="10" name="Shape 7"/>
          <p:cNvSpPr/>
          <p:nvPr/>
        </p:nvSpPr>
        <p:spPr>
          <a:xfrm>
            <a:off x="3344418" y="1600200"/>
            <a:ext cx="2676906" cy="1030986"/>
          </a:xfrm>
          <a:prstGeom prst="roundRect">
            <a:avLst>
              <a:gd name="adj" fmla="val 6208"/>
            </a:avLst>
          </a:prstGeom>
          <a:solidFill>
            <a:srgbClr val="FFFFFF"/>
          </a:solidFill>
          <a:ln w="12700">
            <a:solidFill>
              <a:srgbClr val="84B59F"/>
            </a:solidFill>
            <a:prstDash val="solid"/>
          </a:ln>
        </p:spPr>
      </p:sp>
      <p:sp>
        <p:nvSpPr>
          <p:cNvPr id="11" name="Shape 8"/>
          <p:cNvSpPr/>
          <p:nvPr/>
        </p:nvSpPr>
        <p:spPr>
          <a:xfrm>
            <a:off x="3344418" y="1600200"/>
            <a:ext cx="82296" cy="1030986"/>
          </a:xfrm>
          <a:prstGeom prst="rect">
            <a:avLst/>
          </a:prstGeom>
          <a:solidFill>
            <a:srgbClr val="FFFFFF"/>
          </a:solidFill>
          <a:ln/>
        </p:spPr>
      </p:sp>
      <p:sp>
        <p:nvSpPr>
          <p:cNvPr id="12" name="Text 9"/>
          <p:cNvSpPr/>
          <p:nvPr/>
        </p:nvSpPr>
        <p:spPr>
          <a:xfrm>
            <a:off x="3490722" y="1673352"/>
            <a:ext cx="2402586" cy="310896"/>
          </a:xfrm>
          <a:prstGeom prst="rect">
            <a:avLst/>
          </a:prstGeom>
          <a:noFill/>
          <a:ln/>
        </p:spPr>
        <p:txBody>
          <a:bodyPr wrap="square" rtlCol="0" anchor="t"/>
          <a:lstStyle/>
          <a:p>
            <a:pPr indent="0" marL="0">
              <a:buNone/>
            </a:pPr>
            <a:r>
              <a:rPr lang="en-US" sz="1250" b="1" dirty="0">
                <a:solidFill>
                  <a:srgbClr val="50808E"/>
                </a:solidFill>
                <a:latin typeface="Calibri" pitchFamily="34" charset="0"/>
                <a:ea typeface="Calibri" pitchFamily="34" charset="-122"/>
                <a:cs typeface="Calibri" pitchFamily="34" charset="-120"/>
              </a:rPr>
              <a:t>Category</a:t>
            </a:r>
            <a:endParaRPr lang="en-US" sz="1250" dirty="0"/>
          </a:p>
        </p:txBody>
      </p:sp>
      <p:sp>
        <p:nvSpPr>
          <p:cNvPr id="13" name="Text 10"/>
          <p:cNvSpPr/>
          <p:nvPr/>
        </p:nvSpPr>
        <p:spPr>
          <a:xfrm>
            <a:off x="3490722" y="1984248"/>
            <a:ext cx="2402586" cy="573786"/>
          </a:xfrm>
          <a:prstGeom prst="rect">
            <a:avLst/>
          </a:prstGeom>
          <a:noFill/>
          <a:ln/>
        </p:spPr>
        <p:txBody>
          <a:bodyPr wrap="square" rtlCol="0" anchor="t"/>
          <a:lstStyle/>
          <a:p>
            <a:pPr indent="0" marL="0">
              <a:lnSpc>
                <a:spcPct val="112000"/>
              </a:lnSpc>
              <a:buNone/>
            </a:pPr>
            <a:r>
              <a:rPr lang="en-US" sz="960" dirty="0">
                <a:solidFill>
                  <a:srgbClr val="5B6B6E"/>
                </a:solidFill>
                <a:latin typeface="Calibri" pitchFamily="34" charset="0"/>
                <a:ea typeface="Calibri" pitchFamily="34" charset="-122"/>
                <a:cs typeface="Calibri" pitchFamily="34" charset="-120"/>
              </a:rPr>
              <a:t>Groups services (e.g. Hair, Skin, Spa)</a:t>
            </a:r>
            <a:endParaRPr lang="en-US" sz="960" dirty="0"/>
          </a:p>
        </p:txBody>
      </p:sp>
      <p:sp>
        <p:nvSpPr>
          <p:cNvPr id="14" name="Shape 11"/>
          <p:cNvSpPr/>
          <p:nvPr/>
        </p:nvSpPr>
        <p:spPr>
          <a:xfrm>
            <a:off x="6185916" y="1600200"/>
            <a:ext cx="2676906" cy="1030986"/>
          </a:xfrm>
          <a:prstGeom prst="roundRect">
            <a:avLst>
              <a:gd name="adj" fmla="val 6208"/>
            </a:avLst>
          </a:prstGeom>
          <a:solidFill>
            <a:srgbClr val="FFFFFF"/>
          </a:solidFill>
          <a:ln w="12700">
            <a:solidFill>
              <a:srgbClr val="84B59F"/>
            </a:solidFill>
            <a:prstDash val="solid"/>
          </a:ln>
        </p:spPr>
      </p:sp>
      <p:sp>
        <p:nvSpPr>
          <p:cNvPr id="15" name="Shape 12"/>
          <p:cNvSpPr/>
          <p:nvPr/>
        </p:nvSpPr>
        <p:spPr>
          <a:xfrm>
            <a:off x="6185916" y="1600200"/>
            <a:ext cx="82296" cy="1030986"/>
          </a:xfrm>
          <a:prstGeom prst="rect">
            <a:avLst/>
          </a:prstGeom>
          <a:solidFill>
            <a:srgbClr val="FFFFFF"/>
          </a:solidFill>
          <a:ln/>
        </p:spPr>
      </p:sp>
      <p:sp>
        <p:nvSpPr>
          <p:cNvPr id="16" name="Text 13"/>
          <p:cNvSpPr/>
          <p:nvPr/>
        </p:nvSpPr>
        <p:spPr>
          <a:xfrm>
            <a:off x="6332220" y="1673352"/>
            <a:ext cx="2402586" cy="310896"/>
          </a:xfrm>
          <a:prstGeom prst="rect">
            <a:avLst/>
          </a:prstGeom>
          <a:noFill/>
          <a:ln/>
        </p:spPr>
        <p:txBody>
          <a:bodyPr wrap="square" rtlCol="0" anchor="t"/>
          <a:lstStyle/>
          <a:p>
            <a:pPr indent="0" marL="0">
              <a:buNone/>
            </a:pPr>
            <a:r>
              <a:rPr lang="en-US" sz="1250" b="1" dirty="0">
                <a:solidFill>
                  <a:srgbClr val="50808E"/>
                </a:solidFill>
                <a:latin typeface="Calibri" pitchFamily="34" charset="0"/>
                <a:ea typeface="Calibri" pitchFamily="34" charset="-122"/>
                <a:cs typeface="Calibri" pitchFamily="34" charset="-120"/>
              </a:rPr>
              <a:t>Service</a:t>
            </a:r>
            <a:endParaRPr lang="en-US" sz="1250" dirty="0"/>
          </a:p>
        </p:txBody>
      </p:sp>
      <p:sp>
        <p:nvSpPr>
          <p:cNvPr id="17" name="Text 14"/>
          <p:cNvSpPr/>
          <p:nvPr/>
        </p:nvSpPr>
        <p:spPr>
          <a:xfrm>
            <a:off x="6332220" y="1984248"/>
            <a:ext cx="2402586" cy="573786"/>
          </a:xfrm>
          <a:prstGeom prst="rect">
            <a:avLst/>
          </a:prstGeom>
          <a:noFill/>
          <a:ln/>
        </p:spPr>
        <p:txBody>
          <a:bodyPr wrap="square" rtlCol="0" anchor="t"/>
          <a:lstStyle/>
          <a:p>
            <a:pPr indent="0" marL="0">
              <a:lnSpc>
                <a:spcPct val="112000"/>
              </a:lnSpc>
              <a:buNone/>
            </a:pPr>
            <a:r>
              <a:rPr lang="en-US" sz="960" dirty="0">
                <a:solidFill>
                  <a:srgbClr val="5B6B6E"/>
                </a:solidFill>
                <a:latin typeface="Calibri" pitchFamily="34" charset="0"/>
                <a:ea typeface="Calibri" pitchFamily="34" charset="-122"/>
                <a:cs typeface="Calibri" pitchFamily="34" charset="-120"/>
              </a:rPr>
              <a:t>Individual offerings with price &amp; duration</a:t>
            </a:r>
            <a:endParaRPr lang="en-US" sz="960" dirty="0"/>
          </a:p>
        </p:txBody>
      </p:sp>
      <p:sp>
        <p:nvSpPr>
          <p:cNvPr id="18" name="Shape 15"/>
          <p:cNvSpPr/>
          <p:nvPr/>
        </p:nvSpPr>
        <p:spPr>
          <a:xfrm>
            <a:off x="9027414" y="1600200"/>
            <a:ext cx="2676906" cy="1030986"/>
          </a:xfrm>
          <a:prstGeom prst="roundRect">
            <a:avLst>
              <a:gd name="adj" fmla="val 6208"/>
            </a:avLst>
          </a:prstGeom>
          <a:solidFill>
            <a:srgbClr val="FFFFFF"/>
          </a:solidFill>
          <a:ln w="12700">
            <a:solidFill>
              <a:srgbClr val="84B59F"/>
            </a:solidFill>
            <a:prstDash val="solid"/>
          </a:ln>
        </p:spPr>
      </p:sp>
      <p:sp>
        <p:nvSpPr>
          <p:cNvPr id="19" name="Shape 16"/>
          <p:cNvSpPr/>
          <p:nvPr/>
        </p:nvSpPr>
        <p:spPr>
          <a:xfrm>
            <a:off x="9027414" y="1600200"/>
            <a:ext cx="82296" cy="1030986"/>
          </a:xfrm>
          <a:prstGeom prst="rect">
            <a:avLst/>
          </a:prstGeom>
          <a:solidFill>
            <a:srgbClr val="FFFFFF"/>
          </a:solidFill>
          <a:ln/>
        </p:spPr>
      </p:sp>
      <p:sp>
        <p:nvSpPr>
          <p:cNvPr id="20" name="Text 17"/>
          <p:cNvSpPr/>
          <p:nvPr/>
        </p:nvSpPr>
        <p:spPr>
          <a:xfrm>
            <a:off x="9173718" y="1673352"/>
            <a:ext cx="2402586" cy="310896"/>
          </a:xfrm>
          <a:prstGeom prst="rect">
            <a:avLst/>
          </a:prstGeom>
          <a:noFill/>
          <a:ln/>
        </p:spPr>
        <p:txBody>
          <a:bodyPr wrap="square" rtlCol="0" anchor="t"/>
          <a:lstStyle/>
          <a:p>
            <a:pPr indent="0" marL="0">
              <a:buNone/>
            </a:pPr>
            <a:r>
              <a:rPr lang="en-US" sz="1250" b="1" dirty="0">
                <a:solidFill>
                  <a:srgbClr val="50808E"/>
                </a:solidFill>
                <a:latin typeface="Calibri" pitchFamily="34" charset="0"/>
                <a:ea typeface="Calibri" pitchFamily="34" charset="-122"/>
                <a:cs typeface="Calibri" pitchFamily="34" charset="-120"/>
              </a:rPr>
              <a:t>Staff</a:t>
            </a:r>
            <a:endParaRPr lang="en-US" sz="1250" dirty="0"/>
          </a:p>
        </p:txBody>
      </p:sp>
      <p:sp>
        <p:nvSpPr>
          <p:cNvPr id="21" name="Text 18"/>
          <p:cNvSpPr/>
          <p:nvPr/>
        </p:nvSpPr>
        <p:spPr>
          <a:xfrm>
            <a:off x="9173718" y="1984248"/>
            <a:ext cx="2402586" cy="573786"/>
          </a:xfrm>
          <a:prstGeom prst="rect">
            <a:avLst/>
          </a:prstGeom>
          <a:noFill/>
          <a:ln/>
        </p:spPr>
        <p:txBody>
          <a:bodyPr wrap="square" rtlCol="0" anchor="t"/>
          <a:lstStyle/>
          <a:p>
            <a:pPr indent="0" marL="0">
              <a:lnSpc>
                <a:spcPct val="112000"/>
              </a:lnSpc>
              <a:buNone/>
            </a:pPr>
            <a:r>
              <a:rPr lang="en-US" sz="960" dirty="0">
                <a:solidFill>
                  <a:srgbClr val="5B6B6E"/>
                </a:solidFill>
                <a:latin typeface="Calibri" pitchFamily="34" charset="0"/>
                <a:ea typeface="Calibri" pitchFamily="34" charset="-122"/>
                <a:cs typeface="Calibri" pitchFamily="34" charset="-120"/>
              </a:rPr>
              <a:t>Employees who perform services</a:t>
            </a:r>
            <a:endParaRPr lang="en-US" sz="960" dirty="0"/>
          </a:p>
        </p:txBody>
      </p:sp>
      <p:sp>
        <p:nvSpPr>
          <p:cNvPr id="22" name="Shape 19"/>
          <p:cNvSpPr/>
          <p:nvPr/>
        </p:nvSpPr>
        <p:spPr>
          <a:xfrm>
            <a:off x="502920" y="2795778"/>
            <a:ext cx="2676906" cy="1030986"/>
          </a:xfrm>
          <a:prstGeom prst="roundRect">
            <a:avLst>
              <a:gd name="adj" fmla="val 6208"/>
            </a:avLst>
          </a:prstGeom>
          <a:solidFill>
            <a:srgbClr val="FFFFFF"/>
          </a:solidFill>
          <a:ln w="12700">
            <a:solidFill>
              <a:srgbClr val="84B59F"/>
            </a:solidFill>
            <a:prstDash val="solid"/>
          </a:ln>
        </p:spPr>
      </p:sp>
      <p:sp>
        <p:nvSpPr>
          <p:cNvPr id="23" name="Shape 20"/>
          <p:cNvSpPr/>
          <p:nvPr/>
        </p:nvSpPr>
        <p:spPr>
          <a:xfrm>
            <a:off x="502920" y="2795778"/>
            <a:ext cx="82296" cy="1030986"/>
          </a:xfrm>
          <a:prstGeom prst="rect">
            <a:avLst/>
          </a:prstGeom>
          <a:solidFill>
            <a:srgbClr val="FFFFFF"/>
          </a:solidFill>
          <a:ln/>
        </p:spPr>
      </p:sp>
      <p:sp>
        <p:nvSpPr>
          <p:cNvPr id="24" name="Text 21"/>
          <p:cNvSpPr/>
          <p:nvPr/>
        </p:nvSpPr>
        <p:spPr>
          <a:xfrm>
            <a:off x="649224" y="2868930"/>
            <a:ext cx="2402586" cy="310896"/>
          </a:xfrm>
          <a:prstGeom prst="rect">
            <a:avLst/>
          </a:prstGeom>
          <a:noFill/>
          <a:ln/>
        </p:spPr>
        <p:txBody>
          <a:bodyPr wrap="square" rtlCol="0" anchor="t"/>
          <a:lstStyle/>
          <a:p>
            <a:pPr indent="0" marL="0">
              <a:buNone/>
            </a:pPr>
            <a:r>
              <a:rPr lang="en-US" sz="1250" b="1" dirty="0">
                <a:solidFill>
                  <a:srgbClr val="50808E"/>
                </a:solidFill>
                <a:latin typeface="Calibri" pitchFamily="34" charset="0"/>
                <a:ea typeface="Calibri" pitchFamily="34" charset="-122"/>
                <a:cs typeface="Calibri" pitchFamily="34" charset="-120"/>
              </a:rPr>
              <a:t>Skill</a:t>
            </a:r>
            <a:endParaRPr lang="en-US" sz="1250" dirty="0"/>
          </a:p>
        </p:txBody>
      </p:sp>
      <p:sp>
        <p:nvSpPr>
          <p:cNvPr id="25" name="Text 22"/>
          <p:cNvSpPr/>
          <p:nvPr/>
        </p:nvSpPr>
        <p:spPr>
          <a:xfrm>
            <a:off x="649224" y="3179826"/>
            <a:ext cx="2402586" cy="573786"/>
          </a:xfrm>
          <a:prstGeom prst="rect">
            <a:avLst/>
          </a:prstGeom>
          <a:noFill/>
          <a:ln/>
        </p:spPr>
        <p:txBody>
          <a:bodyPr wrap="square" rtlCol="0" anchor="t"/>
          <a:lstStyle/>
          <a:p>
            <a:pPr indent="0" marL="0">
              <a:lnSpc>
                <a:spcPct val="112000"/>
              </a:lnSpc>
              <a:buNone/>
            </a:pPr>
            <a:r>
              <a:rPr lang="en-US" sz="960" dirty="0">
                <a:solidFill>
                  <a:srgbClr val="5B6B6E"/>
                </a:solidFill>
                <a:latin typeface="Calibri" pitchFamily="34" charset="0"/>
                <a:ea typeface="Calibri" pitchFamily="34" charset="-122"/>
                <a:cs typeface="Calibri" pitchFamily="34" charset="-120"/>
              </a:rPr>
              <a:t>Competencies required to perform a service</a:t>
            </a:r>
            <a:endParaRPr lang="en-US" sz="960" dirty="0"/>
          </a:p>
        </p:txBody>
      </p:sp>
      <p:sp>
        <p:nvSpPr>
          <p:cNvPr id="26" name="Shape 23"/>
          <p:cNvSpPr/>
          <p:nvPr/>
        </p:nvSpPr>
        <p:spPr>
          <a:xfrm>
            <a:off x="3344418" y="2795778"/>
            <a:ext cx="2676906" cy="1030986"/>
          </a:xfrm>
          <a:prstGeom prst="roundRect">
            <a:avLst>
              <a:gd name="adj" fmla="val 6208"/>
            </a:avLst>
          </a:prstGeom>
          <a:solidFill>
            <a:srgbClr val="FFFFFF"/>
          </a:solidFill>
          <a:ln w="12700">
            <a:solidFill>
              <a:srgbClr val="84B59F"/>
            </a:solidFill>
            <a:prstDash val="solid"/>
          </a:ln>
        </p:spPr>
      </p:sp>
      <p:sp>
        <p:nvSpPr>
          <p:cNvPr id="27" name="Shape 24"/>
          <p:cNvSpPr/>
          <p:nvPr/>
        </p:nvSpPr>
        <p:spPr>
          <a:xfrm>
            <a:off x="3344418" y="2795778"/>
            <a:ext cx="82296" cy="1030986"/>
          </a:xfrm>
          <a:prstGeom prst="rect">
            <a:avLst/>
          </a:prstGeom>
          <a:solidFill>
            <a:srgbClr val="FFFFFF"/>
          </a:solidFill>
          <a:ln/>
        </p:spPr>
      </p:sp>
      <p:sp>
        <p:nvSpPr>
          <p:cNvPr id="28" name="Text 25"/>
          <p:cNvSpPr/>
          <p:nvPr/>
        </p:nvSpPr>
        <p:spPr>
          <a:xfrm>
            <a:off x="3490722" y="2868930"/>
            <a:ext cx="2402586" cy="310896"/>
          </a:xfrm>
          <a:prstGeom prst="rect">
            <a:avLst/>
          </a:prstGeom>
          <a:noFill/>
          <a:ln/>
        </p:spPr>
        <p:txBody>
          <a:bodyPr wrap="square" rtlCol="0" anchor="t"/>
          <a:lstStyle/>
          <a:p>
            <a:pPr indent="0" marL="0">
              <a:buNone/>
            </a:pPr>
            <a:r>
              <a:rPr lang="en-US" sz="1250" b="1" dirty="0">
                <a:solidFill>
                  <a:srgbClr val="50808E"/>
                </a:solidFill>
                <a:latin typeface="Calibri" pitchFamily="34" charset="0"/>
                <a:ea typeface="Calibri" pitchFamily="34" charset="-122"/>
                <a:cs typeface="Calibri" pitchFamily="34" charset="-120"/>
              </a:rPr>
              <a:t>Schedule</a:t>
            </a:r>
            <a:endParaRPr lang="en-US" sz="1250" dirty="0"/>
          </a:p>
        </p:txBody>
      </p:sp>
      <p:sp>
        <p:nvSpPr>
          <p:cNvPr id="29" name="Text 26"/>
          <p:cNvSpPr/>
          <p:nvPr/>
        </p:nvSpPr>
        <p:spPr>
          <a:xfrm>
            <a:off x="3490722" y="3179826"/>
            <a:ext cx="2402586" cy="573786"/>
          </a:xfrm>
          <a:prstGeom prst="rect">
            <a:avLst/>
          </a:prstGeom>
          <a:noFill/>
          <a:ln/>
        </p:spPr>
        <p:txBody>
          <a:bodyPr wrap="square" rtlCol="0" anchor="t"/>
          <a:lstStyle/>
          <a:p>
            <a:pPr indent="0" marL="0">
              <a:lnSpc>
                <a:spcPct val="112000"/>
              </a:lnSpc>
              <a:buNone/>
            </a:pPr>
            <a:r>
              <a:rPr lang="en-US" sz="960" dirty="0">
                <a:solidFill>
                  <a:srgbClr val="5B6B6E"/>
                </a:solidFill>
                <a:latin typeface="Calibri" pitchFamily="34" charset="0"/>
                <a:ea typeface="Calibri" pitchFamily="34" charset="-122"/>
                <a:cs typeface="Calibri" pitchFamily="34" charset="-120"/>
              </a:rPr>
              <a:t>Staff availability by day &amp; time</a:t>
            </a:r>
            <a:endParaRPr lang="en-US" sz="960" dirty="0"/>
          </a:p>
        </p:txBody>
      </p:sp>
      <p:sp>
        <p:nvSpPr>
          <p:cNvPr id="30" name="Shape 27"/>
          <p:cNvSpPr/>
          <p:nvPr/>
        </p:nvSpPr>
        <p:spPr>
          <a:xfrm>
            <a:off x="6185916" y="2795778"/>
            <a:ext cx="2676906" cy="1030986"/>
          </a:xfrm>
          <a:prstGeom prst="roundRect">
            <a:avLst>
              <a:gd name="adj" fmla="val 6208"/>
            </a:avLst>
          </a:prstGeom>
          <a:solidFill>
            <a:srgbClr val="FFFFFF"/>
          </a:solidFill>
          <a:ln w="12700">
            <a:solidFill>
              <a:srgbClr val="84B59F"/>
            </a:solidFill>
            <a:prstDash val="solid"/>
          </a:ln>
        </p:spPr>
      </p:sp>
      <p:sp>
        <p:nvSpPr>
          <p:cNvPr id="31" name="Shape 28"/>
          <p:cNvSpPr/>
          <p:nvPr/>
        </p:nvSpPr>
        <p:spPr>
          <a:xfrm>
            <a:off x="6185916" y="2795778"/>
            <a:ext cx="82296" cy="1030986"/>
          </a:xfrm>
          <a:prstGeom prst="rect">
            <a:avLst/>
          </a:prstGeom>
          <a:solidFill>
            <a:srgbClr val="FFFFFF"/>
          </a:solidFill>
          <a:ln/>
        </p:spPr>
      </p:sp>
      <p:sp>
        <p:nvSpPr>
          <p:cNvPr id="32" name="Text 29"/>
          <p:cNvSpPr/>
          <p:nvPr/>
        </p:nvSpPr>
        <p:spPr>
          <a:xfrm>
            <a:off x="6332220" y="2868930"/>
            <a:ext cx="2402586" cy="310896"/>
          </a:xfrm>
          <a:prstGeom prst="rect">
            <a:avLst/>
          </a:prstGeom>
          <a:noFill/>
          <a:ln/>
        </p:spPr>
        <p:txBody>
          <a:bodyPr wrap="square" rtlCol="0" anchor="t"/>
          <a:lstStyle/>
          <a:p>
            <a:pPr indent="0" marL="0">
              <a:buNone/>
            </a:pPr>
            <a:r>
              <a:rPr lang="en-US" sz="1250" b="1" dirty="0">
                <a:solidFill>
                  <a:srgbClr val="50808E"/>
                </a:solidFill>
                <a:latin typeface="Calibri" pitchFamily="34" charset="0"/>
                <a:ea typeface="Calibri" pitchFamily="34" charset="-122"/>
                <a:cs typeface="Calibri" pitchFamily="34" charset="-120"/>
              </a:rPr>
              <a:t>Appointment</a:t>
            </a:r>
            <a:endParaRPr lang="en-US" sz="1250" dirty="0"/>
          </a:p>
        </p:txBody>
      </p:sp>
      <p:sp>
        <p:nvSpPr>
          <p:cNvPr id="33" name="Text 30"/>
          <p:cNvSpPr/>
          <p:nvPr/>
        </p:nvSpPr>
        <p:spPr>
          <a:xfrm>
            <a:off x="6332220" y="3179826"/>
            <a:ext cx="2402586" cy="573786"/>
          </a:xfrm>
          <a:prstGeom prst="rect">
            <a:avLst/>
          </a:prstGeom>
          <a:noFill/>
          <a:ln/>
        </p:spPr>
        <p:txBody>
          <a:bodyPr wrap="square" rtlCol="0" anchor="t"/>
          <a:lstStyle/>
          <a:p>
            <a:pPr indent="0" marL="0">
              <a:lnSpc>
                <a:spcPct val="112000"/>
              </a:lnSpc>
              <a:buNone/>
            </a:pPr>
            <a:r>
              <a:rPr lang="en-US" sz="960" dirty="0">
                <a:solidFill>
                  <a:srgbClr val="5B6B6E"/>
                </a:solidFill>
                <a:latin typeface="Calibri" pitchFamily="34" charset="0"/>
                <a:ea typeface="Calibri" pitchFamily="34" charset="-122"/>
                <a:cs typeface="Calibri" pitchFamily="34" charset="-120"/>
              </a:rPr>
              <a:t>A booked service slot (central transaction entity)</a:t>
            </a:r>
            <a:endParaRPr lang="en-US" sz="960" dirty="0"/>
          </a:p>
        </p:txBody>
      </p:sp>
      <p:sp>
        <p:nvSpPr>
          <p:cNvPr id="34" name="Shape 31"/>
          <p:cNvSpPr/>
          <p:nvPr/>
        </p:nvSpPr>
        <p:spPr>
          <a:xfrm>
            <a:off x="9027414" y="2795778"/>
            <a:ext cx="2676906" cy="1030986"/>
          </a:xfrm>
          <a:prstGeom prst="roundRect">
            <a:avLst>
              <a:gd name="adj" fmla="val 6208"/>
            </a:avLst>
          </a:prstGeom>
          <a:solidFill>
            <a:srgbClr val="FFFFFF"/>
          </a:solidFill>
          <a:ln w="12700">
            <a:solidFill>
              <a:srgbClr val="84B59F"/>
            </a:solidFill>
            <a:prstDash val="solid"/>
          </a:ln>
        </p:spPr>
      </p:sp>
      <p:sp>
        <p:nvSpPr>
          <p:cNvPr id="35" name="Shape 32"/>
          <p:cNvSpPr/>
          <p:nvPr/>
        </p:nvSpPr>
        <p:spPr>
          <a:xfrm>
            <a:off x="9027414" y="2795778"/>
            <a:ext cx="82296" cy="1030986"/>
          </a:xfrm>
          <a:prstGeom prst="rect">
            <a:avLst/>
          </a:prstGeom>
          <a:solidFill>
            <a:srgbClr val="FFFFFF"/>
          </a:solidFill>
          <a:ln/>
        </p:spPr>
      </p:sp>
      <p:sp>
        <p:nvSpPr>
          <p:cNvPr id="36" name="Text 33"/>
          <p:cNvSpPr/>
          <p:nvPr/>
        </p:nvSpPr>
        <p:spPr>
          <a:xfrm>
            <a:off x="9173718" y="2868930"/>
            <a:ext cx="2402586" cy="310896"/>
          </a:xfrm>
          <a:prstGeom prst="rect">
            <a:avLst/>
          </a:prstGeom>
          <a:noFill/>
          <a:ln/>
        </p:spPr>
        <p:txBody>
          <a:bodyPr wrap="square" rtlCol="0" anchor="t"/>
          <a:lstStyle/>
          <a:p>
            <a:pPr indent="0" marL="0">
              <a:buNone/>
            </a:pPr>
            <a:r>
              <a:rPr lang="en-US" sz="1250" b="1" dirty="0">
                <a:solidFill>
                  <a:srgbClr val="50808E"/>
                </a:solidFill>
                <a:latin typeface="Calibri" pitchFamily="34" charset="0"/>
                <a:ea typeface="Calibri" pitchFamily="34" charset="-122"/>
                <a:cs typeface="Calibri" pitchFamily="34" charset="-120"/>
              </a:rPr>
              <a:t>Package</a:t>
            </a:r>
            <a:endParaRPr lang="en-US" sz="1250" dirty="0"/>
          </a:p>
        </p:txBody>
      </p:sp>
      <p:sp>
        <p:nvSpPr>
          <p:cNvPr id="37" name="Text 34"/>
          <p:cNvSpPr/>
          <p:nvPr/>
        </p:nvSpPr>
        <p:spPr>
          <a:xfrm>
            <a:off x="9173718" y="3179826"/>
            <a:ext cx="2402586" cy="573786"/>
          </a:xfrm>
          <a:prstGeom prst="rect">
            <a:avLst/>
          </a:prstGeom>
          <a:noFill/>
          <a:ln/>
        </p:spPr>
        <p:txBody>
          <a:bodyPr wrap="square" rtlCol="0" anchor="t"/>
          <a:lstStyle/>
          <a:p>
            <a:pPr indent="0" marL="0">
              <a:lnSpc>
                <a:spcPct val="112000"/>
              </a:lnSpc>
              <a:buNone/>
            </a:pPr>
            <a:r>
              <a:rPr lang="en-US" sz="960" dirty="0">
                <a:solidFill>
                  <a:srgbClr val="5B6B6E"/>
                </a:solidFill>
                <a:latin typeface="Calibri" pitchFamily="34" charset="0"/>
                <a:ea typeface="Calibri" pitchFamily="34" charset="-122"/>
                <a:cs typeface="Calibri" pitchFamily="34" charset="-120"/>
              </a:rPr>
              <a:t>Bundled sessions sold at a fixed price</a:t>
            </a:r>
            <a:endParaRPr lang="en-US" sz="960" dirty="0"/>
          </a:p>
        </p:txBody>
      </p:sp>
      <p:sp>
        <p:nvSpPr>
          <p:cNvPr id="38" name="Shape 35"/>
          <p:cNvSpPr/>
          <p:nvPr/>
        </p:nvSpPr>
        <p:spPr>
          <a:xfrm>
            <a:off x="502920" y="3991356"/>
            <a:ext cx="2676906" cy="1030986"/>
          </a:xfrm>
          <a:prstGeom prst="roundRect">
            <a:avLst>
              <a:gd name="adj" fmla="val 6208"/>
            </a:avLst>
          </a:prstGeom>
          <a:solidFill>
            <a:srgbClr val="FFFFFF"/>
          </a:solidFill>
          <a:ln w="12700">
            <a:solidFill>
              <a:srgbClr val="84B59F"/>
            </a:solidFill>
            <a:prstDash val="solid"/>
          </a:ln>
        </p:spPr>
      </p:sp>
      <p:sp>
        <p:nvSpPr>
          <p:cNvPr id="39" name="Shape 36"/>
          <p:cNvSpPr/>
          <p:nvPr/>
        </p:nvSpPr>
        <p:spPr>
          <a:xfrm>
            <a:off x="502920" y="3991356"/>
            <a:ext cx="82296" cy="1030986"/>
          </a:xfrm>
          <a:prstGeom prst="rect">
            <a:avLst/>
          </a:prstGeom>
          <a:solidFill>
            <a:srgbClr val="FFFFFF"/>
          </a:solidFill>
          <a:ln/>
        </p:spPr>
      </p:sp>
      <p:sp>
        <p:nvSpPr>
          <p:cNvPr id="40" name="Text 37"/>
          <p:cNvSpPr/>
          <p:nvPr/>
        </p:nvSpPr>
        <p:spPr>
          <a:xfrm>
            <a:off x="649224" y="4064508"/>
            <a:ext cx="2402586" cy="310896"/>
          </a:xfrm>
          <a:prstGeom prst="rect">
            <a:avLst/>
          </a:prstGeom>
          <a:noFill/>
          <a:ln/>
        </p:spPr>
        <p:txBody>
          <a:bodyPr wrap="square" rtlCol="0" anchor="t"/>
          <a:lstStyle/>
          <a:p>
            <a:pPr indent="0" marL="0">
              <a:buNone/>
            </a:pPr>
            <a:r>
              <a:rPr lang="en-US" sz="1250" b="1" dirty="0">
                <a:solidFill>
                  <a:srgbClr val="50808E"/>
                </a:solidFill>
                <a:latin typeface="Calibri" pitchFamily="34" charset="0"/>
                <a:ea typeface="Calibri" pitchFamily="34" charset="-122"/>
                <a:cs typeface="Calibri" pitchFamily="34" charset="-120"/>
              </a:rPr>
              <a:t>Membership</a:t>
            </a:r>
            <a:endParaRPr lang="en-US" sz="1250" dirty="0"/>
          </a:p>
        </p:txBody>
      </p:sp>
      <p:sp>
        <p:nvSpPr>
          <p:cNvPr id="41" name="Text 38"/>
          <p:cNvSpPr/>
          <p:nvPr/>
        </p:nvSpPr>
        <p:spPr>
          <a:xfrm>
            <a:off x="649224" y="4375404"/>
            <a:ext cx="2402586" cy="573786"/>
          </a:xfrm>
          <a:prstGeom prst="rect">
            <a:avLst/>
          </a:prstGeom>
          <a:noFill/>
          <a:ln/>
        </p:spPr>
        <p:txBody>
          <a:bodyPr wrap="square" rtlCol="0" anchor="t"/>
          <a:lstStyle/>
          <a:p>
            <a:pPr indent="0" marL="0">
              <a:lnSpc>
                <a:spcPct val="112000"/>
              </a:lnSpc>
              <a:buNone/>
            </a:pPr>
            <a:r>
              <a:rPr lang="en-US" sz="960" dirty="0">
                <a:solidFill>
                  <a:srgbClr val="5B6B6E"/>
                </a:solidFill>
                <a:latin typeface="Calibri" pitchFamily="34" charset="0"/>
                <a:ea typeface="Calibri" pitchFamily="34" charset="-122"/>
                <a:cs typeface="Calibri" pitchFamily="34" charset="-120"/>
              </a:rPr>
              <a:t>A customer's purchase of a package</a:t>
            </a:r>
            <a:endParaRPr lang="en-US" sz="960" dirty="0"/>
          </a:p>
        </p:txBody>
      </p:sp>
      <p:sp>
        <p:nvSpPr>
          <p:cNvPr id="42" name="Shape 39"/>
          <p:cNvSpPr/>
          <p:nvPr/>
        </p:nvSpPr>
        <p:spPr>
          <a:xfrm>
            <a:off x="3344418" y="3991356"/>
            <a:ext cx="2676906" cy="1030986"/>
          </a:xfrm>
          <a:prstGeom prst="roundRect">
            <a:avLst>
              <a:gd name="adj" fmla="val 6208"/>
            </a:avLst>
          </a:prstGeom>
          <a:solidFill>
            <a:srgbClr val="FFFFFF"/>
          </a:solidFill>
          <a:ln w="12700">
            <a:solidFill>
              <a:srgbClr val="84B59F"/>
            </a:solidFill>
            <a:prstDash val="solid"/>
          </a:ln>
        </p:spPr>
      </p:sp>
      <p:sp>
        <p:nvSpPr>
          <p:cNvPr id="43" name="Shape 40"/>
          <p:cNvSpPr/>
          <p:nvPr/>
        </p:nvSpPr>
        <p:spPr>
          <a:xfrm>
            <a:off x="3344418" y="3991356"/>
            <a:ext cx="82296" cy="1030986"/>
          </a:xfrm>
          <a:prstGeom prst="rect">
            <a:avLst/>
          </a:prstGeom>
          <a:solidFill>
            <a:srgbClr val="FFFFFF"/>
          </a:solidFill>
          <a:ln/>
        </p:spPr>
      </p:sp>
      <p:sp>
        <p:nvSpPr>
          <p:cNvPr id="44" name="Text 41"/>
          <p:cNvSpPr/>
          <p:nvPr/>
        </p:nvSpPr>
        <p:spPr>
          <a:xfrm>
            <a:off x="3490722" y="4064508"/>
            <a:ext cx="2402586" cy="310896"/>
          </a:xfrm>
          <a:prstGeom prst="rect">
            <a:avLst/>
          </a:prstGeom>
          <a:noFill/>
          <a:ln/>
        </p:spPr>
        <p:txBody>
          <a:bodyPr wrap="square" rtlCol="0" anchor="t"/>
          <a:lstStyle/>
          <a:p>
            <a:pPr indent="0" marL="0">
              <a:buNone/>
            </a:pPr>
            <a:r>
              <a:rPr lang="en-US" sz="1250" b="1" dirty="0">
                <a:solidFill>
                  <a:srgbClr val="50808E"/>
                </a:solidFill>
                <a:latin typeface="Calibri" pitchFamily="34" charset="0"/>
                <a:ea typeface="Calibri" pitchFamily="34" charset="-122"/>
                <a:cs typeface="Calibri" pitchFamily="34" charset="-120"/>
              </a:rPr>
              <a:t>Product</a:t>
            </a:r>
            <a:endParaRPr lang="en-US" sz="1250" dirty="0"/>
          </a:p>
        </p:txBody>
      </p:sp>
      <p:sp>
        <p:nvSpPr>
          <p:cNvPr id="45" name="Text 42"/>
          <p:cNvSpPr/>
          <p:nvPr/>
        </p:nvSpPr>
        <p:spPr>
          <a:xfrm>
            <a:off x="3490722" y="4375404"/>
            <a:ext cx="2402586" cy="573786"/>
          </a:xfrm>
          <a:prstGeom prst="rect">
            <a:avLst/>
          </a:prstGeom>
          <a:noFill/>
          <a:ln/>
        </p:spPr>
        <p:txBody>
          <a:bodyPr wrap="square" rtlCol="0" anchor="t"/>
          <a:lstStyle/>
          <a:p>
            <a:pPr indent="0" marL="0">
              <a:lnSpc>
                <a:spcPct val="112000"/>
              </a:lnSpc>
              <a:buNone/>
            </a:pPr>
            <a:r>
              <a:rPr lang="en-US" sz="960" dirty="0">
                <a:solidFill>
                  <a:srgbClr val="5B6B6E"/>
                </a:solidFill>
                <a:latin typeface="Calibri" pitchFamily="34" charset="0"/>
                <a:ea typeface="Calibri" pitchFamily="34" charset="-122"/>
                <a:cs typeface="Calibri" pitchFamily="34" charset="-120"/>
              </a:rPr>
              <a:t>Consumables used during services</a:t>
            </a:r>
            <a:endParaRPr lang="en-US" sz="960" dirty="0"/>
          </a:p>
        </p:txBody>
      </p:sp>
      <p:sp>
        <p:nvSpPr>
          <p:cNvPr id="46" name="Shape 43"/>
          <p:cNvSpPr/>
          <p:nvPr/>
        </p:nvSpPr>
        <p:spPr>
          <a:xfrm>
            <a:off x="6185916" y="3991356"/>
            <a:ext cx="2676906" cy="1030986"/>
          </a:xfrm>
          <a:prstGeom prst="roundRect">
            <a:avLst>
              <a:gd name="adj" fmla="val 6208"/>
            </a:avLst>
          </a:prstGeom>
          <a:solidFill>
            <a:srgbClr val="FFFFFF"/>
          </a:solidFill>
          <a:ln w="12700">
            <a:solidFill>
              <a:srgbClr val="84B59F"/>
            </a:solidFill>
            <a:prstDash val="solid"/>
          </a:ln>
        </p:spPr>
      </p:sp>
      <p:sp>
        <p:nvSpPr>
          <p:cNvPr id="47" name="Shape 44"/>
          <p:cNvSpPr/>
          <p:nvPr/>
        </p:nvSpPr>
        <p:spPr>
          <a:xfrm>
            <a:off x="6185916" y="3991356"/>
            <a:ext cx="82296" cy="1030986"/>
          </a:xfrm>
          <a:prstGeom prst="rect">
            <a:avLst/>
          </a:prstGeom>
          <a:solidFill>
            <a:srgbClr val="FFFFFF"/>
          </a:solidFill>
          <a:ln/>
        </p:spPr>
      </p:sp>
      <p:sp>
        <p:nvSpPr>
          <p:cNvPr id="48" name="Text 45"/>
          <p:cNvSpPr/>
          <p:nvPr/>
        </p:nvSpPr>
        <p:spPr>
          <a:xfrm>
            <a:off x="6332220" y="4064508"/>
            <a:ext cx="2402586" cy="310896"/>
          </a:xfrm>
          <a:prstGeom prst="rect">
            <a:avLst/>
          </a:prstGeom>
          <a:noFill/>
          <a:ln/>
        </p:spPr>
        <p:txBody>
          <a:bodyPr wrap="square" rtlCol="0" anchor="t"/>
          <a:lstStyle/>
          <a:p>
            <a:pPr indent="0" marL="0">
              <a:buNone/>
            </a:pPr>
            <a:r>
              <a:rPr lang="en-US" sz="1250" b="1" dirty="0">
                <a:solidFill>
                  <a:srgbClr val="50808E"/>
                </a:solidFill>
                <a:latin typeface="Calibri" pitchFamily="34" charset="0"/>
                <a:ea typeface="Calibri" pitchFamily="34" charset="-122"/>
                <a:cs typeface="Calibri" pitchFamily="34" charset="-120"/>
              </a:rPr>
              <a:t>Product Usage</a:t>
            </a:r>
            <a:endParaRPr lang="en-US" sz="1250" dirty="0"/>
          </a:p>
        </p:txBody>
      </p:sp>
      <p:sp>
        <p:nvSpPr>
          <p:cNvPr id="49" name="Text 46"/>
          <p:cNvSpPr/>
          <p:nvPr/>
        </p:nvSpPr>
        <p:spPr>
          <a:xfrm>
            <a:off x="6332220" y="4375404"/>
            <a:ext cx="2402586" cy="573786"/>
          </a:xfrm>
          <a:prstGeom prst="rect">
            <a:avLst/>
          </a:prstGeom>
          <a:noFill/>
          <a:ln/>
        </p:spPr>
        <p:txBody>
          <a:bodyPr wrap="square" rtlCol="0" anchor="t"/>
          <a:lstStyle/>
          <a:p>
            <a:pPr indent="0" marL="0">
              <a:lnSpc>
                <a:spcPct val="112000"/>
              </a:lnSpc>
              <a:buNone/>
            </a:pPr>
            <a:r>
              <a:rPr lang="en-US" sz="960" dirty="0">
                <a:solidFill>
                  <a:srgbClr val="5B6B6E"/>
                </a:solidFill>
                <a:latin typeface="Calibri" pitchFamily="34" charset="0"/>
                <a:ea typeface="Calibri" pitchFamily="34" charset="-122"/>
                <a:cs typeface="Calibri" pitchFamily="34" charset="-120"/>
              </a:rPr>
              <a:t>Products consumed in an appointment</a:t>
            </a:r>
            <a:endParaRPr lang="en-US" sz="960" dirty="0"/>
          </a:p>
        </p:txBody>
      </p:sp>
      <p:sp>
        <p:nvSpPr>
          <p:cNvPr id="50" name="Shape 47"/>
          <p:cNvSpPr/>
          <p:nvPr/>
        </p:nvSpPr>
        <p:spPr>
          <a:xfrm>
            <a:off x="9027414" y="3991356"/>
            <a:ext cx="2676906" cy="1030986"/>
          </a:xfrm>
          <a:prstGeom prst="roundRect">
            <a:avLst>
              <a:gd name="adj" fmla="val 6208"/>
            </a:avLst>
          </a:prstGeom>
          <a:solidFill>
            <a:srgbClr val="FFFFFF"/>
          </a:solidFill>
          <a:ln w="12700">
            <a:solidFill>
              <a:srgbClr val="84B59F"/>
            </a:solidFill>
            <a:prstDash val="solid"/>
          </a:ln>
        </p:spPr>
      </p:sp>
      <p:sp>
        <p:nvSpPr>
          <p:cNvPr id="51" name="Shape 48"/>
          <p:cNvSpPr/>
          <p:nvPr/>
        </p:nvSpPr>
        <p:spPr>
          <a:xfrm>
            <a:off x="9027414" y="3991356"/>
            <a:ext cx="82296" cy="1030986"/>
          </a:xfrm>
          <a:prstGeom prst="rect">
            <a:avLst/>
          </a:prstGeom>
          <a:solidFill>
            <a:srgbClr val="FFFFFF"/>
          </a:solidFill>
          <a:ln/>
        </p:spPr>
      </p:sp>
      <p:sp>
        <p:nvSpPr>
          <p:cNvPr id="52" name="Text 49"/>
          <p:cNvSpPr/>
          <p:nvPr/>
        </p:nvSpPr>
        <p:spPr>
          <a:xfrm>
            <a:off x="9173718" y="4064508"/>
            <a:ext cx="2402586" cy="310896"/>
          </a:xfrm>
          <a:prstGeom prst="rect">
            <a:avLst/>
          </a:prstGeom>
          <a:noFill/>
          <a:ln/>
        </p:spPr>
        <p:txBody>
          <a:bodyPr wrap="square" rtlCol="0" anchor="t"/>
          <a:lstStyle/>
          <a:p>
            <a:pPr indent="0" marL="0">
              <a:buNone/>
            </a:pPr>
            <a:r>
              <a:rPr lang="en-US" sz="1250" b="1" dirty="0">
                <a:solidFill>
                  <a:srgbClr val="50808E"/>
                </a:solidFill>
                <a:latin typeface="Calibri" pitchFamily="34" charset="0"/>
                <a:ea typeface="Calibri" pitchFamily="34" charset="-122"/>
                <a:cs typeface="Calibri" pitchFamily="34" charset="-120"/>
              </a:rPr>
              <a:t>Bill</a:t>
            </a:r>
            <a:endParaRPr lang="en-US" sz="1250" dirty="0"/>
          </a:p>
        </p:txBody>
      </p:sp>
      <p:sp>
        <p:nvSpPr>
          <p:cNvPr id="53" name="Text 50"/>
          <p:cNvSpPr/>
          <p:nvPr/>
        </p:nvSpPr>
        <p:spPr>
          <a:xfrm>
            <a:off x="9173718" y="4375404"/>
            <a:ext cx="2402586" cy="573786"/>
          </a:xfrm>
          <a:prstGeom prst="rect">
            <a:avLst/>
          </a:prstGeom>
          <a:noFill/>
          <a:ln/>
        </p:spPr>
        <p:txBody>
          <a:bodyPr wrap="square" rtlCol="0" anchor="t"/>
          <a:lstStyle/>
          <a:p>
            <a:pPr indent="0" marL="0">
              <a:lnSpc>
                <a:spcPct val="112000"/>
              </a:lnSpc>
              <a:buNone/>
            </a:pPr>
            <a:r>
              <a:rPr lang="en-US" sz="960" dirty="0">
                <a:solidFill>
                  <a:srgbClr val="5B6B6E"/>
                </a:solidFill>
                <a:latin typeface="Calibri" pitchFamily="34" charset="0"/>
                <a:ea typeface="Calibri" pitchFamily="34" charset="-122"/>
                <a:cs typeface="Calibri" pitchFamily="34" charset="-120"/>
              </a:rPr>
              <a:t>Charges generated for an appointment</a:t>
            </a:r>
            <a:endParaRPr lang="en-US" sz="960" dirty="0"/>
          </a:p>
        </p:txBody>
      </p:sp>
      <p:sp>
        <p:nvSpPr>
          <p:cNvPr id="54" name="Shape 51"/>
          <p:cNvSpPr/>
          <p:nvPr/>
        </p:nvSpPr>
        <p:spPr>
          <a:xfrm>
            <a:off x="502920" y="5186934"/>
            <a:ext cx="2676906" cy="1030986"/>
          </a:xfrm>
          <a:prstGeom prst="roundRect">
            <a:avLst>
              <a:gd name="adj" fmla="val 6208"/>
            </a:avLst>
          </a:prstGeom>
          <a:solidFill>
            <a:srgbClr val="FFFFFF"/>
          </a:solidFill>
          <a:ln w="12700">
            <a:solidFill>
              <a:srgbClr val="84B59F"/>
            </a:solidFill>
            <a:prstDash val="solid"/>
          </a:ln>
        </p:spPr>
      </p:sp>
      <p:sp>
        <p:nvSpPr>
          <p:cNvPr id="55" name="Shape 52"/>
          <p:cNvSpPr/>
          <p:nvPr/>
        </p:nvSpPr>
        <p:spPr>
          <a:xfrm>
            <a:off x="502920" y="5186934"/>
            <a:ext cx="82296" cy="1030986"/>
          </a:xfrm>
          <a:prstGeom prst="rect">
            <a:avLst/>
          </a:prstGeom>
          <a:solidFill>
            <a:srgbClr val="FFFFFF"/>
          </a:solidFill>
          <a:ln/>
        </p:spPr>
      </p:sp>
      <p:sp>
        <p:nvSpPr>
          <p:cNvPr id="56" name="Text 53"/>
          <p:cNvSpPr/>
          <p:nvPr/>
        </p:nvSpPr>
        <p:spPr>
          <a:xfrm>
            <a:off x="649224" y="5260086"/>
            <a:ext cx="2402586" cy="310896"/>
          </a:xfrm>
          <a:prstGeom prst="rect">
            <a:avLst/>
          </a:prstGeom>
          <a:noFill/>
          <a:ln/>
        </p:spPr>
        <p:txBody>
          <a:bodyPr wrap="square" rtlCol="0" anchor="t"/>
          <a:lstStyle/>
          <a:p>
            <a:pPr indent="0" marL="0">
              <a:buNone/>
            </a:pPr>
            <a:r>
              <a:rPr lang="en-US" sz="1250" b="1" dirty="0">
                <a:solidFill>
                  <a:srgbClr val="50808E"/>
                </a:solidFill>
                <a:latin typeface="Calibri" pitchFamily="34" charset="0"/>
                <a:ea typeface="Calibri" pitchFamily="34" charset="-122"/>
                <a:cs typeface="Calibri" pitchFamily="34" charset="-120"/>
              </a:rPr>
              <a:t>Payment</a:t>
            </a:r>
            <a:endParaRPr lang="en-US" sz="1250" dirty="0"/>
          </a:p>
        </p:txBody>
      </p:sp>
      <p:sp>
        <p:nvSpPr>
          <p:cNvPr id="57" name="Text 54"/>
          <p:cNvSpPr/>
          <p:nvPr/>
        </p:nvSpPr>
        <p:spPr>
          <a:xfrm>
            <a:off x="649224" y="5570982"/>
            <a:ext cx="2402586" cy="573786"/>
          </a:xfrm>
          <a:prstGeom prst="rect">
            <a:avLst/>
          </a:prstGeom>
          <a:noFill/>
          <a:ln/>
        </p:spPr>
        <p:txBody>
          <a:bodyPr wrap="square" rtlCol="0" anchor="t"/>
          <a:lstStyle/>
          <a:p>
            <a:pPr indent="0" marL="0">
              <a:lnSpc>
                <a:spcPct val="112000"/>
              </a:lnSpc>
              <a:buNone/>
            </a:pPr>
            <a:r>
              <a:rPr lang="en-US" sz="960" dirty="0">
                <a:solidFill>
                  <a:srgbClr val="5B6B6E"/>
                </a:solidFill>
                <a:latin typeface="Calibri" pitchFamily="34" charset="0"/>
                <a:ea typeface="Calibri" pitchFamily="34" charset="-122"/>
                <a:cs typeface="Calibri" pitchFamily="34" charset="-120"/>
              </a:rPr>
              <a:t>Amount(s) paid against a bill</a:t>
            </a:r>
            <a:endParaRPr lang="en-US" sz="960" dirty="0"/>
          </a:p>
        </p:txBody>
      </p:sp>
      <p:sp>
        <p:nvSpPr>
          <p:cNvPr id="59" name="Text 55"/>
          <p:cNvSpPr/>
          <p:nvPr/>
        </p:nvSpPr>
        <p:spPr>
          <a:xfrm>
            <a:off x="502920" y="6473952"/>
            <a:ext cx="8229600" cy="274320"/>
          </a:xfrm>
          <a:prstGeom prst="rect">
            <a:avLst/>
          </a:prstGeom>
          <a:noFill/>
          <a:ln/>
        </p:spPr>
        <p:txBody>
          <a:bodyPr wrap="square" rtlCol="0" anchor="ctr"/>
          <a:lstStyle/>
          <a:p>
            <a:pPr indent="0" marL="0">
              <a:buNone/>
            </a:pPr>
            <a:r>
              <a:rPr lang="en-US" sz="900" spc="100" kern="0" dirty="0">
                <a:solidFill>
                  <a:srgbClr val="5B6B6E"/>
                </a:solidFill>
                <a:latin typeface="Calibri" pitchFamily="34" charset="0"/>
                <a:ea typeface="Calibri" pitchFamily="34" charset="-122"/>
                <a:cs typeface="Calibri" pitchFamily="34" charset="-120"/>
              </a:rPr>
              <a:t>SALON &amp; SPA APPOINTMENT MANAGEMENT SYSTEM  |  REVIEW 1</a:t>
            </a:r>
            <a:endParaRPr lang="en-US" sz="900" dirty="0"/>
          </a:p>
        </p:txBody>
      </p:sp>
      <p:sp>
        <p:nvSpPr>
          <p:cNvPr id="60" name="Text 56"/>
          <p:cNvSpPr/>
          <p:nvPr/>
        </p:nvSpPr>
        <p:spPr>
          <a:xfrm>
            <a:off x="11228832" y="6473952"/>
            <a:ext cx="457200" cy="274320"/>
          </a:xfrm>
          <a:prstGeom prst="rect">
            <a:avLst/>
          </a:prstGeom>
          <a:noFill/>
          <a:ln/>
        </p:spPr>
        <p:txBody>
          <a:bodyPr wrap="square" rtlCol="0" anchor="ctr"/>
          <a:lstStyle/>
          <a:p>
            <a:pPr algn="r" indent="0" marL="0">
              <a:buNone/>
            </a:pPr>
            <a:r>
              <a:rPr lang="en-US" sz="900" dirty="0">
                <a:solidFill>
                  <a:srgbClr val="5B6B6E"/>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7315200" cy="274320"/>
          </a:xfrm>
          <a:prstGeom prst="rect">
            <a:avLst/>
          </a:prstGeom>
          <a:noFill/>
          <a:ln/>
        </p:spPr>
        <p:txBody>
          <a:bodyPr wrap="square" rtlCol="0" anchor="ctr"/>
          <a:lstStyle/>
          <a:p>
            <a:pPr indent="0" marL="0">
              <a:buNone/>
            </a:pPr>
            <a:r>
              <a:rPr lang="en-US" sz="1200" b="1" spc="200" kern="0" dirty="0">
                <a:solidFill>
                  <a:srgbClr val="6D2E46"/>
                </a:solidFill>
                <a:latin typeface="Calibri" pitchFamily="34" charset="0"/>
                <a:ea typeface="Calibri" pitchFamily="34" charset="-122"/>
                <a:cs typeface="Calibri" pitchFamily="34" charset="-120"/>
              </a:rPr>
              <a:t>CONCEPTUAL DESIGN</a:t>
            </a:r>
            <a:endParaRPr lang="en-US" sz="1200" dirty="0"/>
          </a:p>
        </p:txBody>
      </p:sp>
      <p:sp>
        <p:nvSpPr>
          <p:cNvPr id="3" name="Text 1"/>
          <p:cNvSpPr/>
          <p:nvPr/>
        </p:nvSpPr>
        <p:spPr>
          <a:xfrm>
            <a:off x="457200" y="502920"/>
            <a:ext cx="9144000" cy="502920"/>
          </a:xfrm>
          <a:prstGeom prst="rect">
            <a:avLst/>
          </a:prstGeom>
          <a:noFill/>
          <a:ln/>
        </p:spPr>
        <p:txBody>
          <a:bodyPr wrap="square" rtlCol="0" anchor="ctr"/>
          <a:lstStyle/>
          <a:p>
            <a:pPr indent="0" marL="0">
              <a:buNone/>
            </a:pPr>
            <a:r>
              <a:rPr lang="en-US" sz="2400" b="1" dirty="0">
                <a:solidFill>
                  <a:srgbClr val="27343A"/>
                </a:solidFill>
                <a:latin typeface="Cambria" pitchFamily="34" charset="0"/>
                <a:ea typeface="Cambria" pitchFamily="34" charset="-122"/>
                <a:cs typeface="Cambria" pitchFamily="34" charset="-120"/>
              </a:rPr>
              <a:t>Entity-Relationship Diagram</a:t>
            </a:r>
            <a:endParaRPr lang="en-US" sz="2400" dirty="0"/>
          </a:p>
        </p:txBody>
      </p:sp>
      <p:pic>
        <p:nvPicPr>
          <p:cNvPr id="4" name="Image 0" descr="/tmp/claude-0/-home-claude/12ac4f2c-a806-5c6e-9789-8d976e37a451/scratchpad/salon_ppt/er_diagram.png">    </p:cNvPr>
          <p:cNvPicPr>
            <a:picLocks noChangeAspect="1"/>
          </p:cNvPicPr>
          <p:nvPr/>
        </p:nvPicPr>
        <p:blipFill>
          <a:blip r:embed="rId1"/>
          <a:stretch>
            <a:fillRect/>
          </a:stretch>
        </p:blipFill>
        <p:spPr>
          <a:xfrm>
            <a:off x="1821736" y="1143000"/>
            <a:ext cx="8545480" cy="5212080"/>
          </a:xfrm>
          <a:prstGeom prst="rect">
            <a:avLst/>
          </a:prstGeom>
        </p:spPr>
      </p:pic>
      <p:sp>
        <p:nvSpPr>
          <p:cNvPr id="6" name="Text 2"/>
          <p:cNvSpPr/>
          <p:nvPr/>
        </p:nvSpPr>
        <p:spPr>
          <a:xfrm>
            <a:off x="502920" y="6473952"/>
            <a:ext cx="8229600" cy="274320"/>
          </a:xfrm>
          <a:prstGeom prst="rect">
            <a:avLst/>
          </a:prstGeom>
          <a:noFill/>
          <a:ln/>
        </p:spPr>
        <p:txBody>
          <a:bodyPr wrap="square" rtlCol="0" anchor="ctr"/>
          <a:lstStyle/>
          <a:p>
            <a:pPr indent="0" marL="0">
              <a:buNone/>
            </a:pPr>
            <a:r>
              <a:rPr lang="en-US" sz="900" spc="100" kern="0" dirty="0">
                <a:solidFill>
                  <a:srgbClr val="5B6B6E"/>
                </a:solidFill>
                <a:latin typeface="Calibri" pitchFamily="34" charset="0"/>
                <a:ea typeface="Calibri" pitchFamily="34" charset="-122"/>
                <a:cs typeface="Calibri" pitchFamily="34" charset="-120"/>
              </a:rPr>
              <a:t>SALON &amp; SPA APPOINTMENT MANAGEMENT SYSTEM  |  REVIEW 1</a:t>
            </a:r>
            <a:endParaRPr lang="en-US" sz="900" dirty="0"/>
          </a:p>
        </p:txBody>
      </p:sp>
      <p:sp>
        <p:nvSpPr>
          <p:cNvPr id="7" name="Text 3"/>
          <p:cNvSpPr/>
          <p:nvPr/>
        </p:nvSpPr>
        <p:spPr>
          <a:xfrm>
            <a:off x="11228832" y="6473952"/>
            <a:ext cx="457200" cy="274320"/>
          </a:xfrm>
          <a:prstGeom prst="rect">
            <a:avLst/>
          </a:prstGeom>
          <a:noFill/>
          <a:ln/>
        </p:spPr>
        <p:txBody>
          <a:bodyPr wrap="square" rtlCol="0" anchor="ctr"/>
          <a:lstStyle/>
          <a:p>
            <a:pPr algn="r" indent="0" marL="0">
              <a:buNone/>
            </a:pPr>
            <a:r>
              <a:rPr lang="en-US" sz="900" dirty="0">
                <a:solidFill>
                  <a:srgbClr val="5B6B6E"/>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02920" y="384048"/>
            <a:ext cx="8229600" cy="292608"/>
          </a:xfrm>
          <a:prstGeom prst="rect">
            <a:avLst/>
          </a:prstGeom>
          <a:noFill/>
          <a:ln/>
        </p:spPr>
        <p:txBody>
          <a:bodyPr wrap="square" rtlCol="0" anchor="ctr"/>
          <a:lstStyle/>
          <a:p>
            <a:pPr indent="0" marL="0">
              <a:buNone/>
            </a:pPr>
            <a:r>
              <a:rPr lang="en-US" sz="1200" b="1" spc="200" kern="0" dirty="0">
                <a:solidFill>
                  <a:srgbClr val="6D2E46"/>
                </a:solidFill>
                <a:latin typeface="Calibri" pitchFamily="34" charset="0"/>
                <a:ea typeface="Calibri" pitchFamily="34" charset="-122"/>
                <a:cs typeface="Calibri" pitchFamily="34" charset="-120"/>
              </a:rPr>
              <a:t>CONCEPTUAL DESIGN</a:t>
            </a:r>
            <a:endParaRPr lang="en-US" sz="1200" dirty="0"/>
          </a:p>
        </p:txBody>
      </p:sp>
      <p:sp>
        <p:nvSpPr>
          <p:cNvPr id="3" name="Text 1"/>
          <p:cNvSpPr txBox="1"/>
          <p:nvPr/>
        </p:nvSpPr>
        <p:spPr>
          <a:xfrm>
            <a:off x="502920" y="658368"/>
            <a:ext cx="9692640" cy="685800"/>
          </a:xfrm>
          <a:prstGeom prst="rect">
            <a:avLst/>
          </a:prstGeom>
          <a:noFill/>
          <a:ln/>
        </p:spPr>
        <p:txBody>
          <a:bodyPr wrap="square" rtlCol="0" anchor="ctr"/>
          <a:lstStyle/>
          <a:p>
            <a:pPr indent="0" marL="0">
              <a:buNone/>
            </a:pPr>
            <a:r>
              <a:rPr lang="en-US" sz="3000" b="1" dirty="0">
                <a:solidFill>
                  <a:srgbClr val="27343A"/>
                </a:solidFill>
                <a:latin typeface="Cambria" pitchFamily="34" charset="0"/>
                <a:ea typeface="Cambria" pitchFamily="34" charset="-122"/>
                <a:cs typeface="Cambria" pitchFamily="34" charset="-120"/>
              </a:rPr>
              <a:t>Relationship Summary</a:t>
            </a:r>
            <a:endParaRPr lang="en-US" sz="3000" dirty="0"/>
          </a:p>
        </p:txBody>
      </p:sp>
      <p:sp>
        <p:nvSpPr>
          <p:cNvPr id="4" name="Shape 2"/>
          <p:cNvSpPr/>
          <p:nvPr/>
        </p:nvSpPr>
        <p:spPr>
          <a:xfrm>
            <a:off x="11119104" y="457200"/>
            <a:ext cx="566928" cy="566928"/>
          </a:xfrm>
          <a:prstGeom prst="ellipse">
            <a:avLst/>
          </a:prstGeom>
          <a:solidFill>
            <a:srgbClr val="6D2E46"/>
          </a:solidFill>
          <a:ln/>
        </p:spPr>
      </p:sp>
      <p:pic>
        <p:nvPicPr>
          <p:cNvPr id="5" name="Image 0" descr="/tmp/claude-0/-home-claude/12ac4f2c-a806-5c6e-9789-8d976e37a451/scratchpad/salon_ppt/icons/link.png">    </p:cNvPr>
          <p:cNvPicPr>
            <a:picLocks noChangeAspect="1"/>
          </p:cNvPicPr>
          <p:nvPr/>
        </p:nvPicPr>
        <p:blipFill>
          <a:blip r:embed="rId1"/>
          <a:stretch>
            <a:fillRect/>
          </a:stretch>
        </p:blipFill>
        <p:spPr>
          <a:xfrm>
            <a:off x="11187135" y="525231"/>
            <a:ext cx="430865" cy="430865"/>
          </a:xfrm>
          <a:prstGeom prst="rect">
            <a:avLst/>
          </a:prstGeom>
        </p:spPr>
      </p:pic>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1536192"/>
          <a:ext cx="11201400" cy="4937760"/>
        </p:xfrm>
        <a:graphic>
          <a:graphicData uri="http://schemas.openxmlformats.org/drawingml/2006/table">
            <a:tbl>
              <a:tblPr/>
              <a:tblGrid>
                <a:gridCol w="2331720"/>
                <a:gridCol w="3063240"/>
                <a:gridCol w="1417320"/>
                <a:gridCol w="4389120"/>
              </a:tblGrid>
              <a:tr h="41148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Entity A</a:t>
                      </a:r>
                      <a:endParaRPr lang="en-US" sz="1050" dirty="0">
                        <a:latin typeface="Calibri" charset="0"/>
                        <a:ea typeface="Calibri" charset="0"/>
                        <a:cs typeface="Calibri" charset="0"/>
                      </a:endParaRPr>
                    </a:p>
                  </a:txBody>
                  <a:tcPr marL="101600" marR="101600" marT="50800" marB="50800" anchor="ctr">
                    <a:lnL w="9525" cap="flat" cmpd="sng" algn="ctr">
                      <a:solidFill>
                        <a:srgbClr val="DCE4E1"/>
                      </a:solidFill>
                      <a:prstDash val="solid"/>
                      <a:round/>
                      <a:headEnd type="none" w="med" len="med"/>
                      <a:tailEnd type="none" w="med" len="med"/>
                    </a:lnL>
                    <a:lnR w="9525" cap="flat" cmpd="sng" algn="ctr">
                      <a:solidFill>
                        <a:srgbClr val="DCE4E1"/>
                      </a:solidFill>
                      <a:prstDash val="solid"/>
                      <a:round/>
                      <a:headEnd type="none" w="med" len="med"/>
                      <a:tailEnd type="none" w="med" len="med"/>
                    </a:lnR>
                    <a:lnT w="9525" cap="flat" cmpd="sng" algn="ctr">
                      <a:solidFill>
                        <a:srgbClr val="DCE4E1"/>
                      </a:solidFill>
                      <a:prstDash val="solid"/>
                      <a:round/>
                      <a:headEnd type="none" w="med" len="med"/>
                      <a:tailEnd type="none" w="med" len="med"/>
                    </a:lnT>
                    <a:lnB w="9525" cap="flat" cmpd="sng" algn="ctr">
                      <a:solidFill>
                        <a:srgbClr val="DCE4E1"/>
                      </a:solidFill>
                      <a:prstDash val="solid"/>
                      <a:round/>
                      <a:headEnd type="none" w="med" len="med"/>
                      <a:tailEnd type="none" w="med" len="med"/>
                    </a:lnB>
                    <a:solidFill>
                      <a:srgbClr val="50808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Entity B</a:t>
                      </a:r>
                      <a:endParaRPr lang="en-US" sz="1050" dirty="0">
                        <a:latin typeface="Calibri" charset="0"/>
                        <a:ea typeface="Calibri" charset="0"/>
                        <a:cs typeface="Calibri" charset="0"/>
                      </a:endParaRPr>
                    </a:p>
                  </a:txBody>
                  <a:tcPr marL="101600" marR="101600" marT="50800" marB="50800" anchor="ctr">
                    <a:lnL w="9525" cap="flat" cmpd="sng" algn="ctr">
                      <a:solidFill>
                        <a:srgbClr val="DCE4E1"/>
                      </a:solidFill>
                      <a:prstDash val="solid"/>
                      <a:round/>
                      <a:headEnd type="none" w="med" len="med"/>
                      <a:tailEnd type="none" w="med" len="med"/>
                    </a:lnL>
                    <a:lnR w="9525" cap="flat" cmpd="sng" algn="ctr">
                      <a:solidFill>
                        <a:srgbClr val="DCE4E1"/>
                      </a:solidFill>
                      <a:prstDash val="solid"/>
                      <a:round/>
                      <a:headEnd type="none" w="med" len="med"/>
                      <a:tailEnd type="none" w="med" len="med"/>
                    </a:lnR>
                    <a:lnT w="9525" cap="flat" cmpd="sng" algn="ctr">
                      <a:solidFill>
                        <a:srgbClr val="DCE4E1"/>
                      </a:solidFill>
                      <a:prstDash val="solid"/>
                      <a:round/>
                      <a:headEnd type="none" w="med" len="med"/>
                      <a:tailEnd type="none" w="med" len="med"/>
                    </a:lnT>
                    <a:lnB w="9525" cap="flat" cmpd="sng" algn="ctr">
                      <a:solidFill>
                        <a:srgbClr val="DCE4E1"/>
                      </a:solidFill>
                      <a:prstDash val="solid"/>
                      <a:round/>
                      <a:headEnd type="none" w="med" len="med"/>
                      <a:tailEnd type="none" w="med" len="med"/>
                    </a:lnB>
                    <a:solidFill>
                      <a:srgbClr val="50808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Cardinality</a:t>
                      </a:r>
                      <a:endParaRPr lang="en-US" sz="1050" dirty="0">
                        <a:latin typeface="Calibri" charset="0"/>
                        <a:ea typeface="Calibri" charset="0"/>
                        <a:cs typeface="Calibri" charset="0"/>
                      </a:endParaRPr>
                    </a:p>
                  </a:txBody>
                  <a:tcPr marL="101600" marR="101600" marT="50800" marB="50800" anchor="ctr">
                    <a:lnL w="9525" cap="flat" cmpd="sng" algn="ctr">
                      <a:solidFill>
                        <a:srgbClr val="DCE4E1"/>
                      </a:solidFill>
                      <a:prstDash val="solid"/>
                      <a:round/>
                      <a:headEnd type="none" w="med" len="med"/>
                      <a:tailEnd type="none" w="med" len="med"/>
                    </a:lnL>
                    <a:lnR w="9525" cap="flat" cmpd="sng" algn="ctr">
                      <a:solidFill>
                        <a:srgbClr val="DCE4E1"/>
                      </a:solidFill>
                      <a:prstDash val="solid"/>
                      <a:round/>
                      <a:headEnd type="none" w="med" len="med"/>
                      <a:tailEnd type="none" w="med" len="med"/>
                    </a:lnR>
                    <a:lnT w="9525" cap="flat" cmpd="sng" algn="ctr">
                      <a:solidFill>
                        <a:srgbClr val="DCE4E1"/>
                      </a:solidFill>
                      <a:prstDash val="solid"/>
                      <a:round/>
                      <a:headEnd type="none" w="med" len="med"/>
                      <a:tailEnd type="none" w="med" len="med"/>
                    </a:lnT>
                    <a:lnB w="9525" cap="flat" cmpd="sng" algn="ctr">
                      <a:solidFill>
                        <a:srgbClr val="DCE4E1"/>
                      </a:solidFill>
                      <a:prstDash val="solid"/>
                      <a:round/>
                      <a:headEnd type="none" w="med" len="med"/>
                      <a:tailEnd type="none" w="med" len="med"/>
                    </a:lnB>
                    <a:solidFill>
                      <a:srgbClr val="50808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Business Meaning</a:t>
                      </a:r>
                      <a:endParaRPr lang="en-US" sz="1050" dirty="0">
                        <a:latin typeface="Calibri" charset="0"/>
                        <a:ea typeface="Calibri" charset="0"/>
                        <a:cs typeface="Calibri" charset="0"/>
                      </a:endParaRPr>
                    </a:p>
                  </a:txBody>
                  <a:tcPr marL="101600" marR="101600" marT="50800" marB="50800" anchor="ctr">
                    <a:lnL w="9525" cap="flat" cmpd="sng" algn="ctr">
                      <a:solidFill>
                        <a:srgbClr val="DCE4E1"/>
                      </a:solidFill>
                      <a:prstDash val="solid"/>
                      <a:round/>
                      <a:headEnd type="none" w="med" len="med"/>
                      <a:tailEnd type="none" w="med" len="med"/>
                    </a:lnL>
                    <a:lnR w="9525" cap="flat" cmpd="sng" algn="ctr">
                      <a:solidFill>
                        <a:srgbClr val="DCE4E1"/>
                      </a:solidFill>
                      <a:prstDash val="solid"/>
                      <a:round/>
                      <a:headEnd type="none" w="med" len="med"/>
                      <a:tailEnd type="none" w="med" len="med"/>
                    </a:lnR>
                    <a:lnT w="9525" cap="flat" cmpd="sng" algn="ctr">
                      <a:solidFill>
                        <a:srgbClr val="DCE4E1"/>
                      </a:solidFill>
                      <a:prstDash val="solid"/>
                      <a:round/>
                      <a:headEnd type="none" w="med" len="med"/>
                      <a:tailEnd type="none" w="med" len="med"/>
                    </a:lnT>
                    <a:lnB w="9525" cap="flat" cmpd="sng" algn="ctr">
                      <a:solidFill>
                        <a:srgbClr val="DCE4E1"/>
                      </a:solidFill>
                      <a:prstDash val="solid"/>
                      <a:round/>
                      <a:headEnd type="none" w="med" len="med"/>
                      <a:tailEnd type="none" w="med" len="med"/>
                    </a:lnB>
                    <a:solidFill>
                      <a:srgbClr val="50808E"/>
                    </a:solidFill>
                  </a:tcPr>
                </a:tc>
              </a:tr>
              <a:tr h="411480">
                <a:tc>
                  <a:txBody>
                    <a:bodyPr/>
                    <a:lstStyle/>
                    <a:p>
                      <a:pPr indent="0" marL="0">
                        <a:buNone/>
                      </a:pPr>
                      <a:r>
                        <a:rPr lang="en-US" sz="1050" dirty="0">
                          <a:solidFill>
                            <a:srgbClr val="27343A"/>
                          </a:solidFill>
                          <a:latin typeface="Calibri" pitchFamily="34" charset="0"/>
                          <a:ea typeface="Calibri" pitchFamily="34" charset="-122"/>
                          <a:cs typeface="Calibri" pitchFamily="34" charset="-120"/>
                        </a:rPr>
                        <a:t>Category</a:t>
                      </a:r>
                      <a:endParaRPr lang="en-US" sz="1050" dirty="0">
                        <a:latin typeface="Calibri" charset="0"/>
                        <a:ea typeface="Calibri" charset="0"/>
                        <a:cs typeface="Calibri" charset="0"/>
                      </a:endParaRPr>
                    </a:p>
                  </a:txBody>
                  <a:tcPr marL="101600" marR="101600" marT="50800" marB="50800" anchor="ctr">
                    <a:lnL w="9525" cap="flat" cmpd="sng" algn="ctr">
                      <a:solidFill>
                        <a:srgbClr val="DCE4E1"/>
                      </a:solidFill>
                      <a:prstDash val="solid"/>
                      <a:round/>
                      <a:headEnd type="none" w="med" len="med"/>
                      <a:tailEnd type="none" w="med" len="med"/>
                    </a:lnL>
                    <a:lnR w="9525" cap="flat" cmpd="sng" algn="ctr">
                      <a:solidFill>
                        <a:srgbClr val="DCE4E1"/>
                      </a:solidFill>
                      <a:prstDash val="solid"/>
                      <a:round/>
                      <a:headEnd type="none" w="med" len="med"/>
                      <a:tailEnd type="none" w="med" len="med"/>
                    </a:lnR>
                    <a:lnT w="9525" cap="flat" cmpd="sng" algn="ctr">
                      <a:solidFill>
                        <a:srgbClr val="DCE4E1"/>
                      </a:solidFill>
                      <a:prstDash val="solid"/>
                      <a:round/>
                      <a:headEnd type="none" w="med" len="med"/>
                      <a:tailEnd type="none" w="med" len="med"/>
                    </a:lnT>
                    <a:lnB w="9525" cap="flat" cmpd="sng" algn="ctr">
                      <a:solidFill>
                        <a:srgbClr val="DCE4E1"/>
                      </a:solidFill>
                      <a:prstDash val="solid"/>
                      <a:round/>
                      <a:headEnd type="none" w="med" len="med"/>
                      <a:tailEnd type="none" w="med" len="med"/>
                    </a:lnB>
                    <a:solidFill>
                      <a:srgbClr val="FFFFFF"/>
                    </a:solidFill>
                  </a:tcPr>
                </a:tc>
                <a:tc>
                  <a:txBody>
                    <a:bodyPr/>
                    <a:lstStyle/>
                    <a:p>
                      <a:pPr indent="0" marL="0">
                        <a:buNone/>
                      </a:pPr>
                      <a:r>
                        <a:rPr lang="en-US" sz="1050" dirty="0">
                          <a:solidFill>
                            <a:srgbClr val="27343A"/>
                          </a:solidFill>
                          <a:latin typeface="Calibri" pitchFamily="34" charset="0"/>
                          <a:ea typeface="Calibri" pitchFamily="34" charset="-122"/>
                          <a:cs typeface="Calibri" pitchFamily="34" charset="-120"/>
                        </a:rPr>
                        <a:t>Service</a:t>
                      </a:r>
                      <a:endParaRPr lang="en-US" sz="1050" dirty="0">
                        <a:latin typeface="Calibri" charset="0"/>
                        <a:ea typeface="Calibri" charset="0"/>
                        <a:cs typeface="Calibri" charset="0"/>
                      </a:endParaRPr>
                    </a:p>
                  </a:txBody>
                  <a:tcPr marL="101600" marR="101600" marT="50800" marB="50800" anchor="ctr">
                    <a:lnL w="9525" cap="flat" cmpd="sng" algn="ctr">
                      <a:solidFill>
                        <a:srgbClr val="DCE4E1"/>
                      </a:solidFill>
                      <a:prstDash val="solid"/>
                      <a:round/>
                      <a:headEnd type="none" w="med" len="med"/>
                      <a:tailEnd type="none" w="med" len="med"/>
                    </a:lnL>
                    <a:lnR w="9525" cap="flat" cmpd="sng" algn="ctr">
                      <a:solidFill>
                        <a:srgbClr val="DCE4E1"/>
                      </a:solidFill>
                      <a:prstDash val="solid"/>
                      <a:round/>
                      <a:headEnd type="none" w="med" len="med"/>
                      <a:tailEnd type="none" w="med" len="med"/>
                    </a:lnR>
                    <a:lnT w="9525" cap="flat" cmpd="sng" algn="ctr">
                      <a:solidFill>
                        <a:srgbClr val="DCE4E1"/>
                      </a:solidFill>
                      <a:prstDash val="solid"/>
                      <a:round/>
                      <a:headEnd type="none" w="med" len="med"/>
                      <a:tailEnd type="none" w="med" len="med"/>
                    </a:lnT>
                    <a:lnB w="9525" cap="flat" cmpd="sng" algn="ctr">
                      <a:solidFill>
                        <a:srgbClr val="DCE4E1"/>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6D2E46"/>
                          </a:solidFill>
                          <a:latin typeface="Calibri" pitchFamily="34" charset="0"/>
                          <a:ea typeface="Calibri" pitchFamily="34" charset="-122"/>
                          <a:cs typeface="Calibri" pitchFamily="34" charset="-120"/>
                        </a:rPr>
                        <a:t>1 : N</a:t>
                      </a:r>
                      <a:endParaRPr lang="en-US" sz="1050" dirty="0">
                        <a:latin typeface="Calibri" charset="0"/>
                        <a:ea typeface="Calibri" charset="0"/>
                        <a:cs typeface="Calibri" charset="0"/>
                      </a:endParaRPr>
                    </a:p>
                  </a:txBody>
                  <a:tcPr marL="101600" marR="101600" marT="50800" marB="50800" anchor="ctr">
                    <a:lnL w="9525" cap="flat" cmpd="sng" algn="ctr">
                      <a:solidFill>
                        <a:srgbClr val="DCE4E1"/>
                      </a:solidFill>
                      <a:prstDash val="solid"/>
                      <a:round/>
                      <a:headEnd type="none" w="med" len="med"/>
                      <a:tailEnd type="none" w="med" len="med"/>
                    </a:lnL>
                    <a:lnR w="9525" cap="flat" cmpd="sng" algn="ctr">
                      <a:solidFill>
                        <a:srgbClr val="DCE4E1"/>
                      </a:solidFill>
                      <a:prstDash val="solid"/>
                      <a:round/>
                      <a:headEnd type="none" w="med" len="med"/>
                      <a:tailEnd type="none" w="med" len="med"/>
                    </a:lnR>
                    <a:lnT w="9525" cap="flat" cmpd="sng" algn="ctr">
                      <a:solidFill>
                        <a:srgbClr val="DCE4E1"/>
                      </a:solidFill>
                      <a:prstDash val="solid"/>
                      <a:round/>
                      <a:headEnd type="none" w="med" len="med"/>
                      <a:tailEnd type="none" w="med" len="med"/>
                    </a:lnT>
                    <a:lnB w="9525" cap="flat" cmpd="sng" algn="ctr">
                      <a:solidFill>
                        <a:srgbClr val="DCE4E1"/>
                      </a:solidFill>
                      <a:prstDash val="solid"/>
                      <a:round/>
                      <a:headEnd type="none" w="med" len="med"/>
                      <a:tailEnd type="none" w="med" len="med"/>
                    </a:lnB>
                    <a:solidFill>
                      <a:srgbClr val="FFFFFF"/>
                    </a:solidFill>
                  </a:tcPr>
                </a:tc>
                <a:tc>
                  <a:txBody>
                    <a:bodyPr/>
                    <a:lstStyle/>
                    <a:p>
                      <a:pPr indent="0" marL="0">
                        <a:buNone/>
                      </a:pPr>
                      <a:r>
                        <a:rPr lang="en-US" sz="1050" dirty="0">
                          <a:solidFill>
                            <a:srgbClr val="5B6B6E"/>
                          </a:solidFill>
                          <a:latin typeface="Calibri" pitchFamily="34" charset="0"/>
                          <a:ea typeface="Calibri" pitchFamily="34" charset="-122"/>
                          <a:cs typeface="Calibri" pitchFamily="34" charset="-120"/>
                        </a:rPr>
                        <a:t>A category groups many services</a:t>
                      </a:r>
                      <a:endParaRPr lang="en-US" sz="1050" dirty="0">
                        <a:latin typeface="Calibri" charset="0"/>
                        <a:ea typeface="Calibri" charset="0"/>
                        <a:cs typeface="Calibri" charset="0"/>
                      </a:endParaRPr>
                    </a:p>
                  </a:txBody>
                  <a:tcPr marL="101600" marR="101600" marT="50800" marB="50800" anchor="ctr">
                    <a:lnL w="9525" cap="flat" cmpd="sng" algn="ctr">
                      <a:solidFill>
                        <a:srgbClr val="DCE4E1"/>
                      </a:solidFill>
                      <a:prstDash val="solid"/>
                      <a:round/>
                      <a:headEnd type="none" w="med" len="med"/>
                      <a:tailEnd type="none" w="med" len="med"/>
                    </a:lnL>
                    <a:lnR w="9525" cap="flat" cmpd="sng" algn="ctr">
                      <a:solidFill>
                        <a:srgbClr val="DCE4E1"/>
                      </a:solidFill>
                      <a:prstDash val="solid"/>
                      <a:round/>
                      <a:headEnd type="none" w="med" len="med"/>
                      <a:tailEnd type="none" w="med" len="med"/>
                    </a:lnR>
                    <a:lnT w="9525" cap="flat" cmpd="sng" algn="ctr">
                      <a:solidFill>
                        <a:srgbClr val="DCE4E1"/>
                      </a:solidFill>
                      <a:prstDash val="solid"/>
                      <a:round/>
                      <a:headEnd type="none" w="med" len="med"/>
                      <a:tailEnd type="none" w="med" len="med"/>
                    </a:lnT>
                    <a:lnB w="9525" cap="flat" cmpd="sng" algn="ctr">
                      <a:solidFill>
                        <a:srgbClr val="DCE4E1"/>
                      </a:solidFill>
                      <a:prstDash val="solid"/>
                      <a:round/>
                      <a:headEnd type="none" w="med" len="med"/>
                      <a:tailEnd type="none" w="med" len="med"/>
                    </a:lnB>
                    <a:solidFill>
                      <a:srgbClr val="FFFFFF"/>
                    </a:solidFill>
                  </a:tcPr>
                </a:tc>
              </a:tr>
              <a:tr h="411480">
                <a:tc>
                  <a:txBody>
                    <a:bodyPr/>
                    <a:lstStyle/>
                    <a:p>
                      <a:pPr indent="0" marL="0">
                        <a:buNone/>
                      </a:pPr>
                      <a:r>
                        <a:rPr lang="en-US" sz="1050" dirty="0">
                          <a:solidFill>
                            <a:srgbClr val="27343A"/>
                          </a:solidFill>
                          <a:latin typeface="Calibri" pitchFamily="34" charset="0"/>
                          <a:ea typeface="Calibri" pitchFamily="34" charset="-122"/>
                          <a:cs typeface="Calibri" pitchFamily="34" charset="-120"/>
                        </a:rPr>
                        <a:t>Staff</a:t>
                      </a:r>
                      <a:endParaRPr lang="en-US" sz="1050" dirty="0">
                        <a:latin typeface="Calibri" charset="0"/>
                        <a:ea typeface="Calibri" charset="0"/>
                        <a:cs typeface="Calibri" charset="0"/>
                      </a:endParaRPr>
                    </a:p>
                  </a:txBody>
                  <a:tcPr marL="101600" marR="101600" marT="50800" marB="50800" anchor="ctr">
                    <a:lnL w="9525" cap="flat" cmpd="sng" algn="ctr">
                      <a:solidFill>
                        <a:srgbClr val="DCE4E1"/>
                      </a:solidFill>
                      <a:prstDash val="solid"/>
                      <a:round/>
                      <a:headEnd type="none" w="med" len="med"/>
                      <a:tailEnd type="none" w="med" len="med"/>
                    </a:lnL>
                    <a:lnR w="9525" cap="flat" cmpd="sng" algn="ctr">
                      <a:solidFill>
                        <a:srgbClr val="DCE4E1"/>
                      </a:solidFill>
                      <a:prstDash val="solid"/>
                      <a:round/>
                      <a:headEnd type="none" w="med" len="med"/>
                      <a:tailEnd type="none" w="med" len="med"/>
                    </a:lnR>
                    <a:lnT w="9525" cap="flat" cmpd="sng" algn="ctr">
                      <a:solidFill>
                        <a:srgbClr val="DCE4E1"/>
                      </a:solidFill>
                      <a:prstDash val="solid"/>
                      <a:round/>
                      <a:headEnd type="none" w="med" len="med"/>
                      <a:tailEnd type="none" w="med" len="med"/>
                    </a:lnT>
                    <a:lnB w="9525" cap="flat" cmpd="sng" algn="ctr">
                      <a:solidFill>
                        <a:srgbClr val="DCE4E1"/>
                      </a:solidFill>
                      <a:prstDash val="solid"/>
                      <a:round/>
                      <a:headEnd type="none" w="med" len="med"/>
                      <a:tailEnd type="none" w="med" len="med"/>
                    </a:lnB>
                    <a:solidFill>
                      <a:srgbClr val="F3EFE7"/>
                    </a:solidFill>
                  </a:tcPr>
                </a:tc>
                <a:tc>
                  <a:txBody>
                    <a:bodyPr/>
                    <a:lstStyle/>
                    <a:p>
                      <a:pPr indent="0" marL="0">
                        <a:buNone/>
                      </a:pPr>
                      <a:r>
                        <a:rPr lang="en-US" sz="1050" dirty="0">
                          <a:solidFill>
                            <a:srgbClr val="27343A"/>
                          </a:solidFill>
                          <a:latin typeface="Calibri" pitchFamily="34" charset="0"/>
                          <a:ea typeface="Calibri" pitchFamily="34" charset="-122"/>
                          <a:cs typeface="Calibri" pitchFamily="34" charset="-120"/>
                        </a:rPr>
                        <a:t>Skill (via Staff_Skill)</a:t>
                      </a:r>
                      <a:endParaRPr lang="en-US" sz="1050" dirty="0">
                        <a:latin typeface="Calibri" charset="0"/>
                        <a:ea typeface="Calibri" charset="0"/>
                        <a:cs typeface="Calibri" charset="0"/>
                      </a:endParaRPr>
                    </a:p>
                  </a:txBody>
                  <a:tcPr marL="101600" marR="101600" marT="50800" marB="50800" anchor="ctr">
                    <a:lnL w="9525" cap="flat" cmpd="sng" algn="ctr">
                      <a:solidFill>
                        <a:srgbClr val="DCE4E1"/>
                      </a:solidFill>
                      <a:prstDash val="solid"/>
                      <a:round/>
                      <a:headEnd type="none" w="med" len="med"/>
                      <a:tailEnd type="none" w="med" len="med"/>
                    </a:lnL>
                    <a:lnR w="9525" cap="flat" cmpd="sng" algn="ctr">
                      <a:solidFill>
                        <a:srgbClr val="DCE4E1"/>
                      </a:solidFill>
                      <a:prstDash val="solid"/>
                      <a:round/>
                      <a:headEnd type="none" w="med" len="med"/>
                      <a:tailEnd type="none" w="med" len="med"/>
                    </a:lnR>
                    <a:lnT w="9525" cap="flat" cmpd="sng" algn="ctr">
                      <a:solidFill>
                        <a:srgbClr val="DCE4E1"/>
                      </a:solidFill>
                      <a:prstDash val="solid"/>
                      <a:round/>
                      <a:headEnd type="none" w="med" len="med"/>
                      <a:tailEnd type="none" w="med" len="med"/>
                    </a:lnT>
                    <a:lnB w="9525" cap="flat" cmpd="sng" algn="ctr">
                      <a:solidFill>
                        <a:srgbClr val="DCE4E1"/>
                      </a:solidFill>
                      <a:prstDash val="solid"/>
                      <a:round/>
                      <a:headEnd type="none" w="med" len="med"/>
                      <a:tailEnd type="none" w="med" len="med"/>
                    </a:lnB>
                    <a:solidFill>
                      <a:srgbClr val="F3EFE7"/>
                    </a:solidFill>
                  </a:tcPr>
                </a:tc>
                <a:tc>
                  <a:txBody>
                    <a:bodyPr/>
                    <a:lstStyle/>
                    <a:p>
                      <a:pPr algn="ctr" indent="0" marL="0">
                        <a:buNone/>
                      </a:pPr>
                      <a:r>
                        <a:rPr lang="en-US" sz="1050" b="1" dirty="0">
                          <a:solidFill>
                            <a:srgbClr val="6D2E46"/>
                          </a:solidFill>
                          <a:latin typeface="Calibri" pitchFamily="34" charset="0"/>
                          <a:ea typeface="Calibri" pitchFamily="34" charset="-122"/>
                          <a:cs typeface="Calibri" pitchFamily="34" charset="-120"/>
                        </a:rPr>
                        <a:t>M : N</a:t>
                      </a:r>
                      <a:endParaRPr lang="en-US" sz="1050" dirty="0">
                        <a:latin typeface="Calibri" charset="0"/>
                        <a:ea typeface="Calibri" charset="0"/>
                        <a:cs typeface="Calibri" charset="0"/>
                      </a:endParaRPr>
                    </a:p>
                  </a:txBody>
                  <a:tcPr marL="101600" marR="101600" marT="50800" marB="50800" anchor="ctr">
                    <a:lnL w="9525" cap="flat" cmpd="sng" algn="ctr">
                      <a:solidFill>
                        <a:srgbClr val="DCE4E1"/>
                      </a:solidFill>
                      <a:prstDash val="solid"/>
                      <a:round/>
                      <a:headEnd type="none" w="med" len="med"/>
                      <a:tailEnd type="none" w="med" len="med"/>
                    </a:lnL>
                    <a:lnR w="9525" cap="flat" cmpd="sng" algn="ctr">
                      <a:solidFill>
                        <a:srgbClr val="DCE4E1"/>
                      </a:solidFill>
                      <a:prstDash val="solid"/>
                      <a:round/>
                      <a:headEnd type="none" w="med" len="med"/>
                      <a:tailEnd type="none" w="med" len="med"/>
                    </a:lnR>
                    <a:lnT w="9525" cap="flat" cmpd="sng" algn="ctr">
                      <a:solidFill>
                        <a:srgbClr val="DCE4E1"/>
                      </a:solidFill>
                      <a:prstDash val="solid"/>
                      <a:round/>
                      <a:headEnd type="none" w="med" len="med"/>
                      <a:tailEnd type="none" w="med" len="med"/>
                    </a:lnT>
                    <a:lnB w="9525" cap="flat" cmpd="sng" algn="ctr">
                      <a:solidFill>
                        <a:srgbClr val="DCE4E1"/>
                      </a:solidFill>
                      <a:prstDash val="solid"/>
                      <a:round/>
                      <a:headEnd type="none" w="med" len="med"/>
                      <a:tailEnd type="none" w="med" len="med"/>
                    </a:lnB>
                    <a:solidFill>
                      <a:srgbClr val="F3EFE7"/>
                    </a:solidFill>
                  </a:tcPr>
                </a:tc>
                <a:tc>
                  <a:txBody>
                    <a:bodyPr/>
                    <a:lstStyle/>
                    <a:p>
                      <a:pPr indent="0" marL="0">
                        <a:buNone/>
                      </a:pPr>
                      <a:r>
                        <a:rPr lang="en-US" sz="1050" dirty="0">
                          <a:solidFill>
                            <a:srgbClr val="5B6B6E"/>
                          </a:solidFill>
                          <a:latin typeface="Calibri" pitchFamily="34" charset="0"/>
                          <a:ea typeface="Calibri" pitchFamily="34" charset="-122"/>
                          <a:cs typeface="Calibri" pitchFamily="34" charset="-120"/>
                        </a:rPr>
                        <a:t>A staff member can hold many skills</a:t>
                      </a:r>
                      <a:endParaRPr lang="en-US" sz="1050" dirty="0">
                        <a:latin typeface="Calibri" charset="0"/>
                        <a:ea typeface="Calibri" charset="0"/>
                        <a:cs typeface="Calibri" charset="0"/>
                      </a:endParaRPr>
                    </a:p>
                  </a:txBody>
                  <a:tcPr marL="101600" marR="101600" marT="50800" marB="50800" anchor="ctr">
                    <a:lnL w="9525" cap="flat" cmpd="sng" algn="ctr">
                      <a:solidFill>
                        <a:srgbClr val="DCE4E1"/>
                      </a:solidFill>
                      <a:prstDash val="solid"/>
                      <a:round/>
                      <a:headEnd type="none" w="med" len="med"/>
                      <a:tailEnd type="none" w="med" len="med"/>
                    </a:lnL>
                    <a:lnR w="9525" cap="flat" cmpd="sng" algn="ctr">
                      <a:solidFill>
                        <a:srgbClr val="DCE4E1"/>
                      </a:solidFill>
                      <a:prstDash val="solid"/>
                      <a:round/>
                      <a:headEnd type="none" w="med" len="med"/>
                      <a:tailEnd type="none" w="med" len="med"/>
                    </a:lnR>
                    <a:lnT w="9525" cap="flat" cmpd="sng" algn="ctr">
                      <a:solidFill>
                        <a:srgbClr val="DCE4E1"/>
                      </a:solidFill>
                      <a:prstDash val="solid"/>
                      <a:round/>
                      <a:headEnd type="none" w="med" len="med"/>
                      <a:tailEnd type="none" w="med" len="med"/>
                    </a:lnT>
                    <a:lnB w="9525" cap="flat" cmpd="sng" algn="ctr">
                      <a:solidFill>
                        <a:srgbClr val="DCE4E1"/>
                      </a:solidFill>
                      <a:prstDash val="solid"/>
                      <a:round/>
                      <a:headEnd type="none" w="med" len="med"/>
                      <a:tailEnd type="none" w="med" len="med"/>
                    </a:lnB>
                    <a:solidFill>
                      <a:srgbClr val="F3EFE7"/>
                    </a:solidFill>
                  </a:tcPr>
                </a:tc>
              </a:tr>
              <a:tr h="411480">
                <a:tc>
                  <a:txBody>
                    <a:bodyPr/>
                    <a:lstStyle/>
                    <a:p>
                      <a:pPr indent="0" marL="0">
                        <a:buNone/>
                      </a:pPr>
                      <a:r>
                        <a:rPr lang="en-US" sz="1050" dirty="0">
                          <a:solidFill>
                            <a:srgbClr val="27343A"/>
                          </a:solidFill>
                          <a:latin typeface="Calibri" pitchFamily="34" charset="0"/>
                          <a:ea typeface="Calibri" pitchFamily="34" charset="-122"/>
                          <a:cs typeface="Calibri" pitchFamily="34" charset="-120"/>
                        </a:rPr>
                        <a:t>Staff</a:t>
                      </a:r>
                      <a:endParaRPr lang="en-US" sz="1050" dirty="0">
                        <a:latin typeface="Calibri" charset="0"/>
                        <a:ea typeface="Calibri" charset="0"/>
                        <a:cs typeface="Calibri" charset="0"/>
                      </a:endParaRPr>
                    </a:p>
                  </a:txBody>
                  <a:tcPr marL="101600" marR="101600" marT="50800" marB="50800" anchor="ctr">
                    <a:lnL w="9525" cap="flat" cmpd="sng" algn="ctr">
                      <a:solidFill>
                        <a:srgbClr val="DCE4E1"/>
                      </a:solidFill>
                      <a:prstDash val="solid"/>
                      <a:round/>
                      <a:headEnd type="none" w="med" len="med"/>
                      <a:tailEnd type="none" w="med" len="med"/>
                    </a:lnL>
                    <a:lnR w="9525" cap="flat" cmpd="sng" algn="ctr">
                      <a:solidFill>
                        <a:srgbClr val="DCE4E1"/>
                      </a:solidFill>
                      <a:prstDash val="solid"/>
                      <a:round/>
                      <a:headEnd type="none" w="med" len="med"/>
                      <a:tailEnd type="none" w="med" len="med"/>
                    </a:lnR>
                    <a:lnT w="9525" cap="flat" cmpd="sng" algn="ctr">
                      <a:solidFill>
                        <a:srgbClr val="DCE4E1"/>
                      </a:solidFill>
                      <a:prstDash val="solid"/>
                      <a:round/>
                      <a:headEnd type="none" w="med" len="med"/>
                      <a:tailEnd type="none" w="med" len="med"/>
                    </a:lnT>
                    <a:lnB w="9525" cap="flat" cmpd="sng" algn="ctr">
                      <a:solidFill>
                        <a:srgbClr val="DCE4E1"/>
                      </a:solidFill>
                      <a:prstDash val="solid"/>
                      <a:round/>
                      <a:headEnd type="none" w="med" len="med"/>
                      <a:tailEnd type="none" w="med" len="med"/>
                    </a:lnB>
                    <a:solidFill>
                      <a:srgbClr val="FFFFFF"/>
                    </a:solidFill>
                  </a:tcPr>
                </a:tc>
                <a:tc>
                  <a:txBody>
                    <a:bodyPr/>
                    <a:lstStyle/>
                    <a:p>
                      <a:pPr indent="0" marL="0">
                        <a:buNone/>
                      </a:pPr>
                      <a:r>
                        <a:rPr lang="en-US" sz="1050" dirty="0">
                          <a:solidFill>
                            <a:srgbClr val="27343A"/>
                          </a:solidFill>
                          <a:latin typeface="Calibri" pitchFamily="34" charset="0"/>
                          <a:ea typeface="Calibri" pitchFamily="34" charset="-122"/>
                          <a:cs typeface="Calibri" pitchFamily="34" charset="-120"/>
                        </a:rPr>
                        <a:t>Schedule</a:t>
                      </a:r>
                      <a:endParaRPr lang="en-US" sz="1050" dirty="0">
                        <a:latin typeface="Calibri" charset="0"/>
                        <a:ea typeface="Calibri" charset="0"/>
                        <a:cs typeface="Calibri" charset="0"/>
                      </a:endParaRPr>
                    </a:p>
                  </a:txBody>
                  <a:tcPr marL="101600" marR="101600" marT="50800" marB="50800" anchor="ctr">
                    <a:lnL w="9525" cap="flat" cmpd="sng" algn="ctr">
                      <a:solidFill>
                        <a:srgbClr val="DCE4E1"/>
                      </a:solidFill>
                      <a:prstDash val="solid"/>
                      <a:round/>
                      <a:headEnd type="none" w="med" len="med"/>
                      <a:tailEnd type="none" w="med" len="med"/>
                    </a:lnL>
                    <a:lnR w="9525" cap="flat" cmpd="sng" algn="ctr">
                      <a:solidFill>
                        <a:srgbClr val="DCE4E1"/>
                      </a:solidFill>
                      <a:prstDash val="solid"/>
                      <a:round/>
                      <a:headEnd type="none" w="med" len="med"/>
                      <a:tailEnd type="none" w="med" len="med"/>
                    </a:lnR>
                    <a:lnT w="9525" cap="flat" cmpd="sng" algn="ctr">
                      <a:solidFill>
                        <a:srgbClr val="DCE4E1"/>
                      </a:solidFill>
                      <a:prstDash val="solid"/>
                      <a:round/>
                      <a:headEnd type="none" w="med" len="med"/>
                      <a:tailEnd type="none" w="med" len="med"/>
                    </a:lnT>
                    <a:lnB w="9525" cap="flat" cmpd="sng" algn="ctr">
                      <a:solidFill>
                        <a:srgbClr val="DCE4E1"/>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6D2E46"/>
                          </a:solidFill>
                          <a:latin typeface="Calibri" pitchFamily="34" charset="0"/>
                          <a:ea typeface="Calibri" pitchFamily="34" charset="-122"/>
                          <a:cs typeface="Calibri" pitchFamily="34" charset="-120"/>
                        </a:rPr>
                        <a:t>1 : N</a:t>
                      </a:r>
                      <a:endParaRPr lang="en-US" sz="1050" dirty="0">
                        <a:latin typeface="Calibri" charset="0"/>
                        <a:ea typeface="Calibri" charset="0"/>
                        <a:cs typeface="Calibri" charset="0"/>
                      </a:endParaRPr>
                    </a:p>
                  </a:txBody>
                  <a:tcPr marL="101600" marR="101600" marT="50800" marB="50800" anchor="ctr">
                    <a:lnL w="9525" cap="flat" cmpd="sng" algn="ctr">
                      <a:solidFill>
                        <a:srgbClr val="DCE4E1"/>
                      </a:solidFill>
                      <a:prstDash val="solid"/>
                      <a:round/>
                      <a:headEnd type="none" w="med" len="med"/>
                      <a:tailEnd type="none" w="med" len="med"/>
                    </a:lnL>
                    <a:lnR w="9525" cap="flat" cmpd="sng" algn="ctr">
                      <a:solidFill>
                        <a:srgbClr val="DCE4E1"/>
                      </a:solidFill>
                      <a:prstDash val="solid"/>
                      <a:round/>
                      <a:headEnd type="none" w="med" len="med"/>
                      <a:tailEnd type="none" w="med" len="med"/>
                    </a:lnR>
                    <a:lnT w="9525" cap="flat" cmpd="sng" algn="ctr">
                      <a:solidFill>
                        <a:srgbClr val="DCE4E1"/>
                      </a:solidFill>
                      <a:prstDash val="solid"/>
                      <a:round/>
                      <a:headEnd type="none" w="med" len="med"/>
                      <a:tailEnd type="none" w="med" len="med"/>
                    </a:lnT>
                    <a:lnB w="9525" cap="flat" cmpd="sng" algn="ctr">
                      <a:solidFill>
                        <a:srgbClr val="DCE4E1"/>
                      </a:solidFill>
                      <a:prstDash val="solid"/>
                      <a:round/>
                      <a:headEnd type="none" w="med" len="med"/>
                      <a:tailEnd type="none" w="med" len="med"/>
                    </a:lnB>
                    <a:solidFill>
                      <a:srgbClr val="FFFFFF"/>
                    </a:solidFill>
                  </a:tcPr>
                </a:tc>
                <a:tc>
                  <a:txBody>
                    <a:bodyPr/>
                    <a:lstStyle/>
                    <a:p>
                      <a:pPr indent="0" marL="0">
                        <a:buNone/>
                      </a:pPr>
                      <a:r>
                        <a:rPr lang="en-US" sz="1050" dirty="0">
                          <a:solidFill>
                            <a:srgbClr val="5B6B6E"/>
                          </a:solidFill>
                          <a:latin typeface="Calibri" pitchFamily="34" charset="0"/>
                          <a:ea typeface="Calibri" pitchFamily="34" charset="-122"/>
                          <a:cs typeface="Calibri" pitchFamily="34" charset="-120"/>
                        </a:rPr>
                        <a:t>A staff member has many schedule slots</a:t>
                      </a:r>
                      <a:endParaRPr lang="en-US" sz="1050" dirty="0">
                        <a:latin typeface="Calibri" charset="0"/>
                        <a:ea typeface="Calibri" charset="0"/>
                        <a:cs typeface="Calibri" charset="0"/>
                      </a:endParaRPr>
                    </a:p>
                  </a:txBody>
                  <a:tcPr marL="101600" marR="101600" marT="50800" marB="50800" anchor="ctr">
                    <a:lnL w="9525" cap="flat" cmpd="sng" algn="ctr">
                      <a:solidFill>
                        <a:srgbClr val="DCE4E1"/>
                      </a:solidFill>
                      <a:prstDash val="solid"/>
                      <a:round/>
                      <a:headEnd type="none" w="med" len="med"/>
                      <a:tailEnd type="none" w="med" len="med"/>
                    </a:lnL>
                    <a:lnR w="9525" cap="flat" cmpd="sng" algn="ctr">
                      <a:solidFill>
                        <a:srgbClr val="DCE4E1"/>
                      </a:solidFill>
                      <a:prstDash val="solid"/>
                      <a:round/>
                      <a:headEnd type="none" w="med" len="med"/>
                      <a:tailEnd type="none" w="med" len="med"/>
                    </a:lnR>
                    <a:lnT w="9525" cap="flat" cmpd="sng" algn="ctr">
                      <a:solidFill>
                        <a:srgbClr val="DCE4E1"/>
                      </a:solidFill>
                      <a:prstDash val="solid"/>
                      <a:round/>
                      <a:headEnd type="none" w="med" len="med"/>
                      <a:tailEnd type="none" w="med" len="med"/>
                    </a:lnT>
                    <a:lnB w="9525" cap="flat" cmpd="sng" algn="ctr">
                      <a:solidFill>
                        <a:srgbClr val="DCE4E1"/>
                      </a:solidFill>
                      <a:prstDash val="solid"/>
                      <a:round/>
                      <a:headEnd type="none" w="med" len="med"/>
                      <a:tailEnd type="none" w="med" len="med"/>
                    </a:lnB>
                    <a:solidFill>
                      <a:srgbClr val="FFFFFF"/>
                    </a:solidFill>
                  </a:tcPr>
                </a:tc>
              </a:tr>
              <a:tr h="411480">
                <a:tc>
                  <a:txBody>
                    <a:bodyPr/>
                    <a:lstStyle/>
                    <a:p>
                      <a:pPr indent="0" marL="0">
                        <a:buNone/>
                      </a:pPr>
                      <a:r>
                        <a:rPr lang="en-US" sz="1050" dirty="0">
                          <a:solidFill>
                            <a:srgbClr val="27343A"/>
                          </a:solidFill>
                          <a:latin typeface="Calibri" pitchFamily="34" charset="0"/>
                          <a:ea typeface="Calibri" pitchFamily="34" charset="-122"/>
                          <a:cs typeface="Calibri" pitchFamily="34" charset="-120"/>
                        </a:rPr>
                        <a:t>Customer</a:t>
                      </a:r>
                      <a:endParaRPr lang="en-US" sz="1050" dirty="0">
                        <a:latin typeface="Calibri" charset="0"/>
                        <a:ea typeface="Calibri" charset="0"/>
                        <a:cs typeface="Calibri" charset="0"/>
                      </a:endParaRPr>
                    </a:p>
                  </a:txBody>
                  <a:tcPr marL="101600" marR="101600" marT="50800" marB="50800" anchor="ctr">
                    <a:lnL w="9525" cap="flat" cmpd="sng" algn="ctr">
                      <a:solidFill>
                        <a:srgbClr val="DCE4E1"/>
                      </a:solidFill>
                      <a:prstDash val="solid"/>
                      <a:round/>
                      <a:headEnd type="none" w="med" len="med"/>
                      <a:tailEnd type="none" w="med" len="med"/>
                    </a:lnL>
                    <a:lnR w="9525" cap="flat" cmpd="sng" algn="ctr">
                      <a:solidFill>
                        <a:srgbClr val="DCE4E1"/>
                      </a:solidFill>
                      <a:prstDash val="solid"/>
                      <a:round/>
                      <a:headEnd type="none" w="med" len="med"/>
                      <a:tailEnd type="none" w="med" len="med"/>
                    </a:lnR>
                    <a:lnT w="9525" cap="flat" cmpd="sng" algn="ctr">
                      <a:solidFill>
                        <a:srgbClr val="DCE4E1"/>
                      </a:solidFill>
                      <a:prstDash val="solid"/>
                      <a:round/>
                      <a:headEnd type="none" w="med" len="med"/>
                      <a:tailEnd type="none" w="med" len="med"/>
                    </a:lnT>
                    <a:lnB w="9525" cap="flat" cmpd="sng" algn="ctr">
                      <a:solidFill>
                        <a:srgbClr val="DCE4E1"/>
                      </a:solidFill>
                      <a:prstDash val="solid"/>
                      <a:round/>
                      <a:headEnd type="none" w="med" len="med"/>
                      <a:tailEnd type="none" w="med" len="med"/>
                    </a:lnB>
                    <a:solidFill>
                      <a:srgbClr val="F3EFE7"/>
                    </a:solidFill>
                  </a:tcPr>
                </a:tc>
                <a:tc>
                  <a:txBody>
                    <a:bodyPr/>
                    <a:lstStyle/>
                    <a:p>
                      <a:pPr indent="0" marL="0">
                        <a:buNone/>
                      </a:pPr>
                      <a:r>
                        <a:rPr lang="en-US" sz="1050" dirty="0">
                          <a:solidFill>
                            <a:srgbClr val="27343A"/>
                          </a:solidFill>
                          <a:latin typeface="Calibri" pitchFamily="34" charset="0"/>
                          <a:ea typeface="Calibri" pitchFamily="34" charset="-122"/>
                          <a:cs typeface="Calibri" pitchFamily="34" charset="-120"/>
                        </a:rPr>
                        <a:t>Appointment</a:t>
                      </a:r>
                      <a:endParaRPr lang="en-US" sz="1050" dirty="0">
                        <a:latin typeface="Calibri" charset="0"/>
                        <a:ea typeface="Calibri" charset="0"/>
                        <a:cs typeface="Calibri" charset="0"/>
                      </a:endParaRPr>
                    </a:p>
                  </a:txBody>
                  <a:tcPr marL="101600" marR="101600" marT="50800" marB="50800" anchor="ctr">
                    <a:lnL w="9525" cap="flat" cmpd="sng" algn="ctr">
                      <a:solidFill>
                        <a:srgbClr val="DCE4E1"/>
                      </a:solidFill>
                      <a:prstDash val="solid"/>
                      <a:round/>
                      <a:headEnd type="none" w="med" len="med"/>
                      <a:tailEnd type="none" w="med" len="med"/>
                    </a:lnL>
                    <a:lnR w="9525" cap="flat" cmpd="sng" algn="ctr">
                      <a:solidFill>
                        <a:srgbClr val="DCE4E1"/>
                      </a:solidFill>
                      <a:prstDash val="solid"/>
                      <a:round/>
                      <a:headEnd type="none" w="med" len="med"/>
                      <a:tailEnd type="none" w="med" len="med"/>
                    </a:lnR>
                    <a:lnT w="9525" cap="flat" cmpd="sng" algn="ctr">
                      <a:solidFill>
                        <a:srgbClr val="DCE4E1"/>
                      </a:solidFill>
                      <a:prstDash val="solid"/>
                      <a:round/>
                      <a:headEnd type="none" w="med" len="med"/>
                      <a:tailEnd type="none" w="med" len="med"/>
                    </a:lnT>
                    <a:lnB w="9525" cap="flat" cmpd="sng" algn="ctr">
                      <a:solidFill>
                        <a:srgbClr val="DCE4E1"/>
                      </a:solidFill>
                      <a:prstDash val="solid"/>
                      <a:round/>
                      <a:headEnd type="none" w="med" len="med"/>
                      <a:tailEnd type="none" w="med" len="med"/>
                    </a:lnB>
                    <a:solidFill>
                      <a:srgbClr val="F3EFE7"/>
                    </a:solidFill>
                  </a:tcPr>
                </a:tc>
                <a:tc>
                  <a:txBody>
                    <a:bodyPr/>
                    <a:lstStyle/>
                    <a:p>
                      <a:pPr algn="ctr" indent="0" marL="0">
                        <a:buNone/>
                      </a:pPr>
                      <a:r>
                        <a:rPr lang="en-US" sz="1050" b="1" dirty="0">
                          <a:solidFill>
                            <a:srgbClr val="6D2E46"/>
                          </a:solidFill>
                          <a:latin typeface="Calibri" pitchFamily="34" charset="0"/>
                          <a:ea typeface="Calibri" pitchFamily="34" charset="-122"/>
                          <a:cs typeface="Calibri" pitchFamily="34" charset="-120"/>
                        </a:rPr>
                        <a:t>1 : N</a:t>
                      </a:r>
                      <a:endParaRPr lang="en-US" sz="1050" dirty="0">
                        <a:latin typeface="Calibri" charset="0"/>
                        <a:ea typeface="Calibri" charset="0"/>
                        <a:cs typeface="Calibri" charset="0"/>
                      </a:endParaRPr>
                    </a:p>
                  </a:txBody>
                  <a:tcPr marL="101600" marR="101600" marT="50800" marB="50800" anchor="ctr">
                    <a:lnL w="9525" cap="flat" cmpd="sng" algn="ctr">
                      <a:solidFill>
                        <a:srgbClr val="DCE4E1"/>
                      </a:solidFill>
                      <a:prstDash val="solid"/>
                      <a:round/>
                      <a:headEnd type="none" w="med" len="med"/>
                      <a:tailEnd type="none" w="med" len="med"/>
                    </a:lnL>
                    <a:lnR w="9525" cap="flat" cmpd="sng" algn="ctr">
                      <a:solidFill>
                        <a:srgbClr val="DCE4E1"/>
                      </a:solidFill>
                      <a:prstDash val="solid"/>
                      <a:round/>
                      <a:headEnd type="none" w="med" len="med"/>
                      <a:tailEnd type="none" w="med" len="med"/>
                    </a:lnR>
                    <a:lnT w="9525" cap="flat" cmpd="sng" algn="ctr">
                      <a:solidFill>
                        <a:srgbClr val="DCE4E1"/>
                      </a:solidFill>
                      <a:prstDash val="solid"/>
                      <a:round/>
                      <a:headEnd type="none" w="med" len="med"/>
                      <a:tailEnd type="none" w="med" len="med"/>
                    </a:lnT>
                    <a:lnB w="9525" cap="flat" cmpd="sng" algn="ctr">
                      <a:solidFill>
                        <a:srgbClr val="DCE4E1"/>
                      </a:solidFill>
                      <a:prstDash val="solid"/>
                      <a:round/>
                      <a:headEnd type="none" w="med" len="med"/>
                      <a:tailEnd type="none" w="med" len="med"/>
                    </a:lnB>
                    <a:solidFill>
                      <a:srgbClr val="F3EFE7"/>
                    </a:solidFill>
                  </a:tcPr>
                </a:tc>
                <a:tc>
                  <a:txBody>
                    <a:bodyPr/>
                    <a:lstStyle/>
                    <a:p>
                      <a:pPr indent="0" marL="0">
                        <a:buNone/>
                      </a:pPr>
                      <a:r>
                        <a:rPr lang="en-US" sz="1050" dirty="0">
                          <a:solidFill>
                            <a:srgbClr val="5B6B6E"/>
                          </a:solidFill>
                          <a:latin typeface="Calibri" pitchFamily="34" charset="0"/>
                          <a:ea typeface="Calibri" pitchFamily="34" charset="-122"/>
                          <a:cs typeface="Calibri" pitchFamily="34" charset="-120"/>
                        </a:rPr>
                        <a:t>A customer can book many appointments</a:t>
                      </a:r>
                      <a:endParaRPr lang="en-US" sz="1050" dirty="0">
                        <a:latin typeface="Calibri" charset="0"/>
                        <a:ea typeface="Calibri" charset="0"/>
                        <a:cs typeface="Calibri" charset="0"/>
                      </a:endParaRPr>
                    </a:p>
                  </a:txBody>
                  <a:tcPr marL="101600" marR="101600" marT="50800" marB="50800" anchor="ctr">
                    <a:lnL w="9525" cap="flat" cmpd="sng" algn="ctr">
                      <a:solidFill>
                        <a:srgbClr val="DCE4E1"/>
                      </a:solidFill>
                      <a:prstDash val="solid"/>
                      <a:round/>
                      <a:headEnd type="none" w="med" len="med"/>
                      <a:tailEnd type="none" w="med" len="med"/>
                    </a:lnL>
                    <a:lnR w="9525" cap="flat" cmpd="sng" algn="ctr">
                      <a:solidFill>
                        <a:srgbClr val="DCE4E1"/>
                      </a:solidFill>
                      <a:prstDash val="solid"/>
                      <a:round/>
                      <a:headEnd type="none" w="med" len="med"/>
                      <a:tailEnd type="none" w="med" len="med"/>
                    </a:lnR>
                    <a:lnT w="9525" cap="flat" cmpd="sng" algn="ctr">
                      <a:solidFill>
                        <a:srgbClr val="DCE4E1"/>
                      </a:solidFill>
                      <a:prstDash val="solid"/>
                      <a:round/>
                      <a:headEnd type="none" w="med" len="med"/>
                      <a:tailEnd type="none" w="med" len="med"/>
                    </a:lnT>
                    <a:lnB w="9525" cap="flat" cmpd="sng" algn="ctr">
                      <a:solidFill>
                        <a:srgbClr val="DCE4E1"/>
                      </a:solidFill>
                      <a:prstDash val="solid"/>
                      <a:round/>
                      <a:headEnd type="none" w="med" len="med"/>
                      <a:tailEnd type="none" w="med" len="med"/>
                    </a:lnB>
                    <a:solidFill>
                      <a:srgbClr val="F3EFE7"/>
                    </a:solidFill>
                  </a:tcPr>
                </a:tc>
              </a:tr>
              <a:tr h="411480">
                <a:tc>
                  <a:txBody>
                    <a:bodyPr/>
                    <a:lstStyle/>
                    <a:p>
                      <a:pPr indent="0" marL="0">
                        <a:buNone/>
                      </a:pPr>
                      <a:r>
                        <a:rPr lang="en-US" sz="1050" dirty="0">
                          <a:solidFill>
                            <a:srgbClr val="27343A"/>
                          </a:solidFill>
                          <a:latin typeface="Calibri" pitchFamily="34" charset="0"/>
                          <a:ea typeface="Calibri" pitchFamily="34" charset="-122"/>
                          <a:cs typeface="Calibri" pitchFamily="34" charset="-120"/>
                        </a:rPr>
                        <a:t>Staff</a:t>
                      </a:r>
                      <a:endParaRPr lang="en-US" sz="1050" dirty="0">
                        <a:latin typeface="Calibri" charset="0"/>
                        <a:ea typeface="Calibri" charset="0"/>
                        <a:cs typeface="Calibri" charset="0"/>
                      </a:endParaRPr>
                    </a:p>
                  </a:txBody>
                  <a:tcPr marL="101600" marR="101600" marT="50800" marB="50800" anchor="ctr">
                    <a:lnL w="9525" cap="flat" cmpd="sng" algn="ctr">
                      <a:solidFill>
                        <a:srgbClr val="DCE4E1"/>
                      </a:solidFill>
                      <a:prstDash val="solid"/>
                      <a:round/>
                      <a:headEnd type="none" w="med" len="med"/>
                      <a:tailEnd type="none" w="med" len="med"/>
                    </a:lnL>
                    <a:lnR w="9525" cap="flat" cmpd="sng" algn="ctr">
                      <a:solidFill>
                        <a:srgbClr val="DCE4E1"/>
                      </a:solidFill>
                      <a:prstDash val="solid"/>
                      <a:round/>
                      <a:headEnd type="none" w="med" len="med"/>
                      <a:tailEnd type="none" w="med" len="med"/>
                    </a:lnR>
                    <a:lnT w="9525" cap="flat" cmpd="sng" algn="ctr">
                      <a:solidFill>
                        <a:srgbClr val="DCE4E1"/>
                      </a:solidFill>
                      <a:prstDash val="solid"/>
                      <a:round/>
                      <a:headEnd type="none" w="med" len="med"/>
                      <a:tailEnd type="none" w="med" len="med"/>
                    </a:lnT>
                    <a:lnB w="9525" cap="flat" cmpd="sng" algn="ctr">
                      <a:solidFill>
                        <a:srgbClr val="DCE4E1"/>
                      </a:solidFill>
                      <a:prstDash val="solid"/>
                      <a:round/>
                      <a:headEnd type="none" w="med" len="med"/>
                      <a:tailEnd type="none" w="med" len="med"/>
                    </a:lnB>
                    <a:solidFill>
                      <a:srgbClr val="FFFFFF"/>
                    </a:solidFill>
                  </a:tcPr>
                </a:tc>
                <a:tc>
                  <a:txBody>
                    <a:bodyPr/>
                    <a:lstStyle/>
                    <a:p>
                      <a:pPr indent="0" marL="0">
                        <a:buNone/>
                      </a:pPr>
                      <a:r>
                        <a:rPr lang="en-US" sz="1050" dirty="0">
                          <a:solidFill>
                            <a:srgbClr val="27343A"/>
                          </a:solidFill>
                          <a:latin typeface="Calibri" pitchFamily="34" charset="0"/>
                          <a:ea typeface="Calibri" pitchFamily="34" charset="-122"/>
                          <a:cs typeface="Calibri" pitchFamily="34" charset="-120"/>
                        </a:rPr>
                        <a:t>Appointment</a:t>
                      </a:r>
                      <a:endParaRPr lang="en-US" sz="1050" dirty="0">
                        <a:latin typeface="Calibri" charset="0"/>
                        <a:ea typeface="Calibri" charset="0"/>
                        <a:cs typeface="Calibri" charset="0"/>
                      </a:endParaRPr>
                    </a:p>
                  </a:txBody>
                  <a:tcPr marL="101600" marR="101600" marT="50800" marB="50800" anchor="ctr">
                    <a:lnL w="9525" cap="flat" cmpd="sng" algn="ctr">
                      <a:solidFill>
                        <a:srgbClr val="DCE4E1"/>
                      </a:solidFill>
                      <a:prstDash val="solid"/>
                      <a:round/>
                      <a:headEnd type="none" w="med" len="med"/>
                      <a:tailEnd type="none" w="med" len="med"/>
                    </a:lnL>
                    <a:lnR w="9525" cap="flat" cmpd="sng" algn="ctr">
                      <a:solidFill>
                        <a:srgbClr val="DCE4E1"/>
                      </a:solidFill>
                      <a:prstDash val="solid"/>
                      <a:round/>
                      <a:headEnd type="none" w="med" len="med"/>
                      <a:tailEnd type="none" w="med" len="med"/>
                    </a:lnR>
                    <a:lnT w="9525" cap="flat" cmpd="sng" algn="ctr">
                      <a:solidFill>
                        <a:srgbClr val="DCE4E1"/>
                      </a:solidFill>
                      <a:prstDash val="solid"/>
                      <a:round/>
                      <a:headEnd type="none" w="med" len="med"/>
                      <a:tailEnd type="none" w="med" len="med"/>
                    </a:lnT>
                    <a:lnB w="9525" cap="flat" cmpd="sng" algn="ctr">
                      <a:solidFill>
                        <a:srgbClr val="DCE4E1"/>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6D2E46"/>
                          </a:solidFill>
                          <a:latin typeface="Calibri" pitchFamily="34" charset="0"/>
                          <a:ea typeface="Calibri" pitchFamily="34" charset="-122"/>
                          <a:cs typeface="Calibri" pitchFamily="34" charset="-120"/>
                        </a:rPr>
                        <a:t>1 : N</a:t>
                      </a:r>
                      <a:endParaRPr lang="en-US" sz="1050" dirty="0">
                        <a:latin typeface="Calibri" charset="0"/>
                        <a:ea typeface="Calibri" charset="0"/>
                        <a:cs typeface="Calibri" charset="0"/>
                      </a:endParaRPr>
                    </a:p>
                  </a:txBody>
                  <a:tcPr marL="101600" marR="101600" marT="50800" marB="50800" anchor="ctr">
                    <a:lnL w="9525" cap="flat" cmpd="sng" algn="ctr">
                      <a:solidFill>
                        <a:srgbClr val="DCE4E1"/>
                      </a:solidFill>
                      <a:prstDash val="solid"/>
                      <a:round/>
                      <a:headEnd type="none" w="med" len="med"/>
                      <a:tailEnd type="none" w="med" len="med"/>
                    </a:lnL>
                    <a:lnR w="9525" cap="flat" cmpd="sng" algn="ctr">
                      <a:solidFill>
                        <a:srgbClr val="DCE4E1"/>
                      </a:solidFill>
                      <a:prstDash val="solid"/>
                      <a:round/>
                      <a:headEnd type="none" w="med" len="med"/>
                      <a:tailEnd type="none" w="med" len="med"/>
                    </a:lnR>
                    <a:lnT w="9525" cap="flat" cmpd="sng" algn="ctr">
                      <a:solidFill>
                        <a:srgbClr val="DCE4E1"/>
                      </a:solidFill>
                      <a:prstDash val="solid"/>
                      <a:round/>
                      <a:headEnd type="none" w="med" len="med"/>
                      <a:tailEnd type="none" w="med" len="med"/>
                    </a:lnT>
                    <a:lnB w="9525" cap="flat" cmpd="sng" algn="ctr">
                      <a:solidFill>
                        <a:srgbClr val="DCE4E1"/>
                      </a:solidFill>
                      <a:prstDash val="solid"/>
                      <a:round/>
                      <a:headEnd type="none" w="med" len="med"/>
                      <a:tailEnd type="none" w="med" len="med"/>
                    </a:lnB>
                    <a:solidFill>
                      <a:srgbClr val="FFFFFF"/>
                    </a:solidFill>
                  </a:tcPr>
                </a:tc>
                <a:tc>
                  <a:txBody>
                    <a:bodyPr/>
                    <a:lstStyle/>
                    <a:p>
                      <a:pPr indent="0" marL="0">
                        <a:buNone/>
                      </a:pPr>
                      <a:r>
                        <a:rPr lang="en-US" sz="1050" dirty="0">
                          <a:solidFill>
                            <a:srgbClr val="5B6B6E"/>
                          </a:solidFill>
                          <a:latin typeface="Calibri" pitchFamily="34" charset="0"/>
                          <a:ea typeface="Calibri" pitchFamily="34" charset="-122"/>
                          <a:cs typeface="Calibri" pitchFamily="34" charset="-120"/>
                        </a:rPr>
                        <a:t>A staff member fulfils many appointments</a:t>
                      </a:r>
                      <a:endParaRPr lang="en-US" sz="1050" dirty="0">
                        <a:latin typeface="Calibri" charset="0"/>
                        <a:ea typeface="Calibri" charset="0"/>
                        <a:cs typeface="Calibri" charset="0"/>
                      </a:endParaRPr>
                    </a:p>
                  </a:txBody>
                  <a:tcPr marL="101600" marR="101600" marT="50800" marB="50800" anchor="ctr">
                    <a:lnL w="9525" cap="flat" cmpd="sng" algn="ctr">
                      <a:solidFill>
                        <a:srgbClr val="DCE4E1"/>
                      </a:solidFill>
                      <a:prstDash val="solid"/>
                      <a:round/>
                      <a:headEnd type="none" w="med" len="med"/>
                      <a:tailEnd type="none" w="med" len="med"/>
                    </a:lnL>
                    <a:lnR w="9525" cap="flat" cmpd="sng" algn="ctr">
                      <a:solidFill>
                        <a:srgbClr val="DCE4E1"/>
                      </a:solidFill>
                      <a:prstDash val="solid"/>
                      <a:round/>
                      <a:headEnd type="none" w="med" len="med"/>
                      <a:tailEnd type="none" w="med" len="med"/>
                    </a:lnR>
                    <a:lnT w="9525" cap="flat" cmpd="sng" algn="ctr">
                      <a:solidFill>
                        <a:srgbClr val="DCE4E1"/>
                      </a:solidFill>
                      <a:prstDash val="solid"/>
                      <a:round/>
                      <a:headEnd type="none" w="med" len="med"/>
                      <a:tailEnd type="none" w="med" len="med"/>
                    </a:lnT>
                    <a:lnB w="9525" cap="flat" cmpd="sng" algn="ctr">
                      <a:solidFill>
                        <a:srgbClr val="DCE4E1"/>
                      </a:solidFill>
                      <a:prstDash val="solid"/>
                      <a:round/>
                      <a:headEnd type="none" w="med" len="med"/>
                      <a:tailEnd type="none" w="med" len="med"/>
                    </a:lnB>
                    <a:solidFill>
                      <a:srgbClr val="FFFFFF"/>
                    </a:solidFill>
                  </a:tcPr>
                </a:tc>
              </a:tr>
              <a:tr h="411480">
                <a:tc>
                  <a:txBody>
                    <a:bodyPr/>
                    <a:lstStyle/>
                    <a:p>
                      <a:pPr indent="0" marL="0">
                        <a:buNone/>
                      </a:pPr>
                      <a:r>
                        <a:rPr lang="en-US" sz="1050" dirty="0">
                          <a:solidFill>
                            <a:srgbClr val="27343A"/>
                          </a:solidFill>
                          <a:latin typeface="Calibri" pitchFamily="34" charset="0"/>
                          <a:ea typeface="Calibri" pitchFamily="34" charset="-122"/>
                          <a:cs typeface="Calibri" pitchFamily="34" charset="-120"/>
                        </a:rPr>
                        <a:t>Service</a:t>
                      </a:r>
                      <a:endParaRPr lang="en-US" sz="1050" dirty="0">
                        <a:latin typeface="Calibri" charset="0"/>
                        <a:ea typeface="Calibri" charset="0"/>
                        <a:cs typeface="Calibri" charset="0"/>
                      </a:endParaRPr>
                    </a:p>
                  </a:txBody>
                  <a:tcPr marL="101600" marR="101600" marT="50800" marB="50800" anchor="ctr">
                    <a:lnL w="9525" cap="flat" cmpd="sng" algn="ctr">
                      <a:solidFill>
                        <a:srgbClr val="DCE4E1"/>
                      </a:solidFill>
                      <a:prstDash val="solid"/>
                      <a:round/>
                      <a:headEnd type="none" w="med" len="med"/>
                      <a:tailEnd type="none" w="med" len="med"/>
                    </a:lnL>
                    <a:lnR w="9525" cap="flat" cmpd="sng" algn="ctr">
                      <a:solidFill>
                        <a:srgbClr val="DCE4E1"/>
                      </a:solidFill>
                      <a:prstDash val="solid"/>
                      <a:round/>
                      <a:headEnd type="none" w="med" len="med"/>
                      <a:tailEnd type="none" w="med" len="med"/>
                    </a:lnR>
                    <a:lnT w="9525" cap="flat" cmpd="sng" algn="ctr">
                      <a:solidFill>
                        <a:srgbClr val="DCE4E1"/>
                      </a:solidFill>
                      <a:prstDash val="solid"/>
                      <a:round/>
                      <a:headEnd type="none" w="med" len="med"/>
                      <a:tailEnd type="none" w="med" len="med"/>
                    </a:lnT>
                    <a:lnB w="9525" cap="flat" cmpd="sng" algn="ctr">
                      <a:solidFill>
                        <a:srgbClr val="DCE4E1"/>
                      </a:solidFill>
                      <a:prstDash val="solid"/>
                      <a:round/>
                      <a:headEnd type="none" w="med" len="med"/>
                      <a:tailEnd type="none" w="med" len="med"/>
                    </a:lnB>
                    <a:solidFill>
                      <a:srgbClr val="F3EFE7"/>
                    </a:solidFill>
                  </a:tcPr>
                </a:tc>
                <a:tc>
                  <a:txBody>
                    <a:bodyPr/>
                    <a:lstStyle/>
                    <a:p>
                      <a:pPr indent="0" marL="0">
                        <a:buNone/>
                      </a:pPr>
                      <a:r>
                        <a:rPr lang="en-US" sz="1050" dirty="0">
                          <a:solidFill>
                            <a:srgbClr val="27343A"/>
                          </a:solidFill>
                          <a:latin typeface="Calibri" pitchFamily="34" charset="0"/>
                          <a:ea typeface="Calibri" pitchFamily="34" charset="-122"/>
                          <a:cs typeface="Calibri" pitchFamily="34" charset="-120"/>
                        </a:rPr>
                        <a:t>Appointment</a:t>
                      </a:r>
                      <a:endParaRPr lang="en-US" sz="1050" dirty="0">
                        <a:latin typeface="Calibri" charset="0"/>
                        <a:ea typeface="Calibri" charset="0"/>
                        <a:cs typeface="Calibri" charset="0"/>
                      </a:endParaRPr>
                    </a:p>
                  </a:txBody>
                  <a:tcPr marL="101600" marR="101600" marT="50800" marB="50800" anchor="ctr">
                    <a:lnL w="9525" cap="flat" cmpd="sng" algn="ctr">
                      <a:solidFill>
                        <a:srgbClr val="DCE4E1"/>
                      </a:solidFill>
                      <a:prstDash val="solid"/>
                      <a:round/>
                      <a:headEnd type="none" w="med" len="med"/>
                      <a:tailEnd type="none" w="med" len="med"/>
                    </a:lnL>
                    <a:lnR w="9525" cap="flat" cmpd="sng" algn="ctr">
                      <a:solidFill>
                        <a:srgbClr val="DCE4E1"/>
                      </a:solidFill>
                      <a:prstDash val="solid"/>
                      <a:round/>
                      <a:headEnd type="none" w="med" len="med"/>
                      <a:tailEnd type="none" w="med" len="med"/>
                    </a:lnR>
                    <a:lnT w="9525" cap="flat" cmpd="sng" algn="ctr">
                      <a:solidFill>
                        <a:srgbClr val="DCE4E1"/>
                      </a:solidFill>
                      <a:prstDash val="solid"/>
                      <a:round/>
                      <a:headEnd type="none" w="med" len="med"/>
                      <a:tailEnd type="none" w="med" len="med"/>
                    </a:lnT>
                    <a:lnB w="9525" cap="flat" cmpd="sng" algn="ctr">
                      <a:solidFill>
                        <a:srgbClr val="DCE4E1"/>
                      </a:solidFill>
                      <a:prstDash val="solid"/>
                      <a:round/>
                      <a:headEnd type="none" w="med" len="med"/>
                      <a:tailEnd type="none" w="med" len="med"/>
                    </a:lnB>
                    <a:solidFill>
                      <a:srgbClr val="F3EFE7"/>
                    </a:solidFill>
                  </a:tcPr>
                </a:tc>
                <a:tc>
                  <a:txBody>
                    <a:bodyPr/>
                    <a:lstStyle/>
                    <a:p>
                      <a:pPr algn="ctr" indent="0" marL="0">
                        <a:buNone/>
                      </a:pPr>
                      <a:r>
                        <a:rPr lang="en-US" sz="1050" b="1" dirty="0">
                          <a:solidFill>
                            <a:srgbClr val="6D2E46"/>
                          </a:solidFill>
                          <a:latin typeface="Calibri" pitchFamily="34" charset="0"/>
                          <a:ea typeface="Calibri" pitchFamily="34" charset="-122"/>
                          <a:cs typeface="Calibri" pitchFamily="34" charset="-120"/>
                        </a:rPr>
                        <a:t>1 : N</a:t>
                      </a:r>
                      <a:endParaRPr lang="en-US" sz="1050" dirty="0">
                        <a:latin typeface="Calibri" charset="0"/>
                        <a:ea typeface="Calibri" charset="0"/>
                        <a:cs typeface="Calibri" charset="0"/>
                      </a:endParaRPr>
                    </a:p>
                  </a:txBody>
                  <a:tcPr marL="101600" marR="101600" marT="50800" marB="50800" anchor="ctr">
                    <a:lnL w="9525" cap="flat" cmpd="sng" algn="ctr">
                      <a:solidFill>
                        <a:srgbClr val="DCE4E1"/>
                      </a:solidFill>
                      <a:prstDash val="solid"/>
                      <a:round/>
                      <a:headEnd type="none" w="med" len="med"/>
                      <a:tailEnd type="none" w="med" len="med"/>
                    </a:lnL>
                    <a:lnR w="9525" cap="flat" cmpd="sng" algn="ctr">
                      <a:solidFill>
                        <a:srgbClr val="DCE4E1"/>
                      </a:solidFill>
                      <a:prstDash val="solid"/>
                      <a:round/>
                      <a:headEnd type="none" w="med" len="med"/>
                      <a:tailEnd type="none" w="med" len="med"/>
                    </a:lnR>
                    <a:lnT w="9525" cap="flat" cmpd="sng" algn="ctr">
                      <a:solidFill>
                        <a:srgbClr val="DCE4E1"/>
                      </a:solidFill>
                      <a:prstDash val="solid"/>
                      <a:round/>
                      <a:headEnd type="none" w="med" len="med"/>
                      <a:tailEnd type="none" w="med" len="med"/>
                    </a:lnT>
                    <a:lnB w="9525" cap="flat" cmpd="sng" algn="ctr">
                      <a:solidFill>
                        <a:srgbClr val="DCE4E1"/>
                      </a:solidFill>
                      <a:prstDash val="solid"/>
                      <a:round/>
                      <a:headEnd type="none" w="med" len="med"/>
                      <a:tailEnd type="none" w="med" len="med"/>
                    </a:lnB>
                    <a:solidFill>
                      <a:srgbClr val="F3EFE7"/>
                    </a:solidFill>
                  </a:tcPr>
                </a:tc>
                <a:tc>
                  <a:txBody>
                    <a:bodyPr/>
                    <a:lstStyle/>
                    <a:p>
                      <a:pPr indent="0" marL="0">
                        <a:buNone/>
                      </a:pPr>
                      <a:r>
                        <a:rPr lang="en-US" sz="1050" dirty="0">
                          <a:solidFill>
                            <a:srgbClr val="5B6B6E"/>
                          </a:solidFill>
                          <a:latin typeface="Calibri" pitchFamily="34" charset="0"/>
                          <a:ea typeface="Calibri" pitchFamily="34" charset="-122"/>
                          <a:cs typeface="Calibri" pitchFamily="34" charset="-120"/>
                        </a:rPr>
                        <a:t>A service is booked in many appointments</a:t>
                      </a:r>
                      <a:endParaRPr lang="en-US" sz="1050" dirty="0">
                        <a:latin typeface="Calibri" charset="0"/>
                        <a:ea typeface="Calibri" charset="0"/>
                        <a:cs typeface="Calibri" charset="0"/>
                      </a:endParaRPr>
                    </a:p>
                  </a:txBody>
                  <a:tcPr marL="101600" marR="101600" marT="50800" marB="50800" anchor="ctr">
                    <a:lnL w="9525" cap="flat" cmpd="sng" algn="ctr">
                      <a:solidFill>
                        <a:srgbClr val="DCE4E1"/>
                      </a:solidFill>
                      <a:prstDash val="solid"/>
                      <a:round/>
                      <a:headEnd type="none" w="med" len="med"/>
                      <a:tailEnd type="none" w="med" len="med"/>
                    </a:lnL>
                    <a:lnR w="9525" cap="flat" cmpd="sng" algn="ctr">
                      <a:solidFill>
                        <a:srgbClr val="DCE4E1"/>
                      </a:solidFill>
                      <a:prstDash val="solid"/>
                      <a:round/>
                      <a:headEnd type="none" w="med" len="med"/>
                      <a:tailEnd type="none" w="med" len="med"/>
                    </a:lnR>
                    <a:lnT w="9525" cap="flat" cmpd="sng" algn="ctr">
                      <a:solidFill>
                        <a:srgbClr val="DCE4E1"/>
                      </a:solidFill>
                      <a:prstDash val="solid"/>
                      <a:round/>
                      <a:headEnd type="none" w="med" len="med"/>
                      <a:tailEnd type="none" w="med" len="med"/>
                    </a:lnT>
                    <a:lnB w="9525" cap="flat" cmpd="sng" algn="ctr">
                      <a:solidFill>
                        <a:srgbClr val="DCE4E1"/>
                      </a:solidFill>
                      <a:prstDash val="solid"/>
                      <a:round/>
                      <a:headEnd type="none" w="med" len="med"/>
                      <a:tailEnd type="none" w="med" len="med"/>
                    </a:lnB>
                    <a:solidFill>
                      <a:srgbClr val="F3EFE7"/>
                    </a:solidFill>
                  </a:tcPr>
                </a:tc>
              </a:tr>
              <a:tr h="411480">
                <a:tc>
                  <a:txBody>
                    <a:bodyPr/>
                    <a:lstStyle/>
                    <a:p>
                      <a:pPr indent="0" marL="0">
                        <a:buNone/>
                      </a:pPr>
                      <a:r>
                        <a:rPr lang="en-US" sz="1050" dirty="0">
                          <a:solidFill>
                            <a:srgbClr val="27343A"/>
                          </a:solidFill>
                          <a:latin typeface="Calibri" pitchFamily="34" charset="0"/>
                          <a:ea typeface="Calibri" pitchFamily="34" charset="-122"/>
                          <a:cs typeface="Calibri" pitchFamily="34" charset="-120"/>
                        </a:rPr>
                        <a:t>Customer</a:t>
                      </a:r>
                      <a:endParaRPr lang="en-US" sz="1050" dirty="0">
                        <a:latin typeface="Calibri" charset="0"/>
                        <a:ea typeface="Calibri" charset="0"/>
                        <a:cs typeface="Calibri" charset="0"/>
                      </a:endParaRPr>
                    </a:p>
                  </a:txBody>
                  <a:tcPr marL="101600" marR="101600" marT="50800" marB="50800" anchor="ctr">
                    <a:lnL w="9525" cap="flat" cmpd="sng" algn="ctr">
                      <a:solidFill>
                        <a:srgbClr val="DCE4E1"/>
                      </a:solidFill>
                      <a:prstDash val="solid"/>
                      <a:round/>
                      <a:headEnd type="none" w="med" len="med"/>
                      <a:tailEnd type="none" w="med" len="med"/>
                    </a:lnL>
                    <a:lnR w="9525" cap="flat" cmpd="sng" algn="ctr">
                      <a:solidFill>
                        <a:srgbClr val="DCE4E1"/>
                      </a:solidFill>
                      <a:prstDash val="solid"/>
                      <a:round/>
                      <a:headEnd type="none" w="med" len="med"/>
                      <a:tailEnd type="none" w="med" len="med"/>
                    </a:lnR>
                    <a:lnT w="9525" cap="flat" cmpd="sng" algn="ctr">
                      <a:solidFill>
                        <a:srgbClr val="DCE4E1"/>
                      </a:solidFill>
                      <a:prstDash val="solid"/>
                      <a:round/>
                      <a:headEnd type="none" w="med" len="med"/>
                      <a:tailEnd type="none" w="med" len="med"/>
                    </a:lnT>
                    <a:lnB w="9525" cap="flat" cmpd="sng" algn="ctr">
                      <a:solidFill>
                        <a:srgbClr val="DCE4E1"/>
                      </a:solidFill>
                      <a:prstDash val="solid"/>
                      <a:round/>
                      <a:headEnd type="none" w="med" len="med"/>
                      <a:tailEnd type="none" w="med" len="med"/>
                    </a:lnB>
                    <a:solidFill>
                      <a:srgbClr val="FFFFFF"/>
                    </a:solidFill>
                  </a:tcPr>
                </a:tc>
                <a:tc>
                  <a:txBody>
                    <a:bodyPr/>
                    <a:lstStyle/>
                    <a:p>
                      <a:pPr indent="0" marL="0">
                        <a:buNone/>
                      </a:pPr>
                      <a:r>
                        <a:rPr lang="en-US" sz="1050" dirty="0">
                          <a:solidFill>
                            <a:srgbClr val="27343A"/>
                          </a:solidFill>
                          <a:latin typeface="Calibri" pitchFamily="34" charset="0"/>
                          <a:ea typeface="Calibri" pitchFamily="34" charset="-122"/>
                          <a:cs typeface="Calibri" pitchFamily="34" charset="-120"/>
                        </a:rPr>
                        <a:t>Membership</a:t>
                      </a:r>
                      <a:endParaRPr lang="en-US" sz="1050" dirty="0">
                        <a:latin typeface="Calibri" charset="0"/>
                        <a:ea typeface="Calibri" charset="0"/>
                        <a:cs typeface="Calibri" charset="0"/>
                      </a:endParaRPr>
                    </a:p>
                  </a:txBody>
                  <a:tcPr marL="101600" marR="101600" marT="50800" marB="50800" anchor="ctr">
                    <a:lnL w="9525" cap="flat" cmpd="sng" algn="ctr">
                      <a:solidFill>
                        <a:srgbClr val="DCE4E1"/>
                      </a:solidFill>
                      <a:prstDash val="solid"/>
                      <a:round/>
                      <a:headEnd type="none" w="med" len="med"/>
                      <a:tailEnd type="none" w="med" len="med"/>
                    </a:lnL>
                    <a:lnR w="9525" cap="flat" cmpd="sng" algn="ctr">
                      <a:solidFill>
                        <a:srgbClr val="DCE4E1"/>
                      </a:solidFill>
                      <a:prstDash val="solid"/>
                      <a:round/>
                      <a:headEnd type="none" w="med" len="med"/>
                      <a:tailEnd type="none" w="med" len="med"/>
                    </a:lnR>
                    <a:lnT w="9525" cap="flat" cmpd="sng" algn="ctr">
                      <a:solidFill>
                        <a:srgbClr val="DCE4E1"/>
                      </a:solidFill>
                      <a:prstDash val="solid"/>
                      <a:round/>
                      <a:headEnd type="none" w="med" len="med"/>
                      <a:tailEnd type="none" w="med" len="med"/>
                    </a:lnT>
                    <a:lnB w="9525" cap="flat" cmpd="sng" algn="ctr">
                      <a:solidFill>
                        <a:srgbClr val="DCE4E1"/>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6D2E46"/>
                          </a:solidFill>
                          <a:latin typeface="Calibri" pitchFamily="34" charset="0"/>
                          <a:ea typeface="Calibri" pitchFamily="34" charset="-122"/>
                          <a:cs typeface="Calibri" pitchFamily="34" charset="-120"/>
                        </a:rPr>
                        <a:t>1 : N</a:t>
                      </a:r>
                      <a:endParaRPr lang="en-US" sz="1050" dirty="0">
                        <a:latin typeface="Calibri" charset="0"/>
                        <a:ea typeface="Calibri" charset="0"/>
                        <a:cs typeface="Calibri" charset="0"/>
                      </a:endParaRPr>
                    </a:p>
                  </a:txBody>
                  <a:tcPr marL="101600" marR="101600" marT="50800" marB="50800" anchor="ctr">
                    <a:lnL w="9525" cap="flat" cmpd="sng" algn="ctr">
                      <a:solidFill>
                        <a:srgbClr val="DCE4E1"/>
                      </a:solidFill>
                      <a:prstDash val="solid"/>
                      <a:round/>
                      <a:headEnd type="none" w="med" len="med"/>
                      <a:tailEnd type="none" w="med" len="med"/>
                    </a:lnL>
                    <a:lnR w="9525" cap="flat" cmpd="sng" algn="ctr">
                      <a:solidFill>
                        <a:srgbClr val="DCE4E1"/>
                      </a:solidFill>
                      <a:prstDash val="solid"/>
                      <a:round/>
                      <a:headEnd type="none" w="med" len="med"/>
                      <a:tailEnd type="none" w="med" len="med"/>
                    </a:lnR>
                    <a:lnT w="9525" cap="flat" cmpd="sng" algn="ctr">
                      <a:solidFill>
                        <a:srgbClr val="DCE4E1"/>
                      </a:solidFill>
                      <a:prstDash val="solid"/>
                      <a:round/>
                      <a:headEnd type="none" w="med" len="med"/>
                      <a:tailEnd type="none" w="med" len="med"/>
                    </a:lnT>
                    <a:lnB w="9525" cap="flat" cmpd="sng" algn="ctr">
                      <a:solidFill>
                        <a:srgbClr val="DCE4E1"/>
                      </a:solidFill>
                      <a:prstDash val="solid"/>
                      <a:round/>
                      <a:headEnd type="none" w="med" len="med"/>
                      <a:tailEnd type="none" w="med" len="med"/>
                    </a:lnB>
                    <a:solidFill>
                      <a:srgbClr val="FFFFFF"/>
                    </a:solidFill>
                  </a:tcPr>
                </a:tc>
                <a:tc>
                  <a:txBody>
                    <a:bodyPr/>
                    <a:lstStyle/>
                    <a:p>
                      <a:pPr indent="0" marL="0">
                        <a:buNone/>
                      </a:pPr>
                      <a:r>
                        <a:rPr lang="en-US" sz="1050" dirty="0">
                          <a:solidFill>
                            <a:srgbClr val="5B6B6E"/>
                          </a:solidFill>
                          <a:latin typeface="Calibri" pitchFamily="34" charset="0"/>
                          <a:ea typeface="Calibri" pitchFamily="34" charset="-122"/>
                          <a:cs typeface="Calibri" pitchFamily="34" charset="-120"/>
                        </a:rPr>
                        <a:t>A customer can hold many memberships</a:t>
                      </a:r>
                      <a:endParaRPr lang="en-US" sz="1050" dirty="0">
                        <a:latin typeface="Calibri" charset="0"/>
                        <a:ea typeface="Calibri" charset="0"/>
                        <a:cs typeface="Calibri" charset="0"/>
                      </a:endParaRPr>
                    </a:p>
                  </a:txBody>
                  <a:tcPr marL="101600" marR="101600" marT="50800" marB="50800" anchor="ctr">
                    <a:lnL w="9525" cap="flat" cmpd="sng" algn="ctr">
                      <a:solidFill>
                        <a:srgbClr val="DCE4E1"/>
                      </a:solidFill>
                      <a:prstDash val="solid"/>
                      <a:round/>
                      <a:headEnd type="none" w="med" len="med"/>
                      <a:tailEnd type="none" w="med" len="med"/>
                    </a:lnL>
                    <a:lnR w="9525" cap="flat" cmpd="sng" algn="ctr">
                      <a:solidFill>
                        <a:srgbClr val="DCE4E1"/>
                      </a:solidFill>
                      <a:prstDash val="solid"/>
                      <a:round/>
                      <a:headEnd type="none" w="med" len="med"/>
                      <a:tailEnd type="none" w="med" len="med"/>
                    </a:lnR>
                    <a:lnT w="9525" cap="flat" cmpd="sng" algn="ctr">
                      <a:solidFill>
                        <a:srgbClr val="DCE4E1"/>
                      </a:solidFill>
                      <a:prstDash val="solid"/>
                      <a:round/>
                      <a:headEnd type="none" w="med" len="med"/>
                      <a:tailEnd type="none" w="med" len="med"/>
                    </a:lnT>
                    <a:lnB w="9525" cap="flat" cmpd="sng" algn="ctr">
                      <a:solidFill>
                        <a:srgbClr val="DCE4E1"/>
                      </a:solidFill>
                      <a:prstDash val="solid"/>
                      <a:round/>
                      <a:headEnd type="none" w="med" len="med"/>
                      <a:tailEnd type="none" w="med" len="med"/>
                    </a:lnB>
                    <a:solidFill>
                      <a:srgbClr val="FFFFFF"/>
                    </a:solidFill>
                  </a:tcPr>
                </a:tc>
              </a:tr>
              <a:tr h="411480">
                <a:tc>
                  <a:txBody>
                    <a:bodyPr/>
                    <a:lstStyle/>
                    <a:p>
                      <a:pPr indent="0" marL="0">
                        <a:buNone/>
                      </a:pPr>
                      <a:r>
                        <a:rPr lang="en-US" sz="1050" dirty="0">
                          <a:solidFill>
                            <a:srgbClr val="27343A"/>
                          </a:solidFill>
                          <a:latin typeface="Calibri" pitchFamily="34" charset="0"/>
                          <a:ea typeface="Calibri" pitchFamily="34" charset="-122"/>
                          <a:cs typeface="Calibri" pitchFamily="34" charset="-120"/>
                        </a:rPr>
                        <a:t>Package</a:t>
                      </a:r>
                      <a:endParaRPr lang="en-US" sz="1050" dirty="0">
                        <a:latin typeface="Calibri" charset="0"/>
                        <a:ea typeface="Calibri" charset="0"/>
                        <a:cs typeface="Calibri" charset="0"/>
                      </a:endParaRPr>
                    </a:p>
                  </a:txBody>
                  <a:tcPr marL="101600" marR="101600" marT="50800" marB="50800" anchor="ctr">
                    <a:lnL w="9525" cap="flat" cmpd="sng" algn="ctr">
                      <a:solidFill>
                        <a:srgbClr val="DCE4E1"/>
                      </a:solidFill>
                      <a:prstDash val="solid"/>
                      <a:round/>
                      <a:headEnd type="none" w="med" len="med"/>
                      <a:tailEnd type="none" w="med" len="med"/>
                    </a:lnL>
                    <a:lnR w="9525" cap="flat" cmpd="sng" algn="ctr">
                      <a:solidFill>
                        <a:srgbClr val="DCE4E1"/>
                      </a:solidFill>
                      <a:prstDash val="solid"/>
                      <a:round/>
                      <a:headEnd type="none" w="med" len="med"/>
                      <a:tailEnd type="none" w="med" len="med"/>
                    </a:lnR>
                    <a:lnT w="9525" cap="flat" cmpd="sng" algn="ctr">
                      <a:solidFill>
                        <a:srgbClr val="DCE4E1"/>
                      </a:solidFill>
                      <a:prstDash val="solid"/>
                      <a:round/>
                      <a:headEnd type="none" w="med" len="med"/>
                      <a:tailEnd type="none" w="med" len="med"/>
                    </a:lnT>
                    <a:lnB w="9525" cap="flat" cmpd="sng" algn="ctr">
                      <a:solidFill>
                        <a:srgbClr val="DCE4E1"/>
                      </a:solidFill>
                      <a:prstDash val="solid"/>
                      <a:round/>
                      <a:headEnd type="none" w="med" len="med"/>
                      <a:tailEnd type="none" w="med" len="med"/>
                    </a:lnB>
                    <a:solidFill>
                      <a:srgbClr val="F3EFE7"/>
                    </a:solidFill>
                  </a:tcPr>
                </a:tc>
                <a:tc>
                  <a:txBody>
                    <a:bodyPr/>
                    <a:lstStyle/>
                    <a:p>
                      <a:pPr indent="0" marL="0">
                        <a:buNone/>
                      </a:pPr>
                      <a:r>
                        <a:rPr lang="en-US" sz="1050" dirty="0">
                          <a:solidFill>
                            <a:srgbClr val="27343A"/>
                          </a:solidFill>
                          <a:latin typeface="Calibri" pitchFamily="34" charset="0"/>
                          <a:ea typeface="Calibri" pitchFamily="34" charset="-122"/>
                          <a:cs typeface="Calibri" pitchFamily="34" charset="-120"/>
                        </a:rPr>
                        <a:t>Membership</a:t>
                      </a:r>
                      <a:endParaRPr lang="en-US" sz="1050" dirty="0">
                        <a:latin typeface="Calibri" charset="0"/>
                        <a:ea typeface="Calibri" charset="0"/>
                        <a:cs typeface="Calibri" charset="0"/>
                      </a:endParaRPr>
                    </a:p>
                  </a:txBody>
                  <a:tcPr marL="101600" marR="101600" marT="50800" marB="50800" anchor="ctr">
                    <a:lnL w="9525" cap="flat" cmpd="sng" algn="ctr">
                      <a:solidFill>
                        <a:srgbClr val="DCE4E1"/>
                      </a:solidFill>
                      <a:prstDash val="solid"/>
                      <a:round/>
                      <a:headEnd type="none" w="med" len="med"/>
                      <a:tailEnd type="none" w="med" len="med"/>
                    </a:lnL>
                    <a:lnR w="9525" cap="flat" cmpd="sng" algn="ctr">
                      <a:solidFill>
                        <a:srgbClr val="DCE4E1"/>
                      </a:solidFill>
                      <a:prstDash val="solid"/>
                      <a:round/>
                      <a:headEnd type="none" w="med" len="med"/>
                      <a:tailEnd type="none" w="med" len="med"/>
                    </a:lnR>
                    <a:lnT w="9525" cap="flat" cmpd="sng" algn="ctr">
                      <a:solidFill>
                        <a:srgbClr val="DCE4E1"/>
                      </a:solidFill>
                      <a:prstDash val="solid"/>
                      <a:round/>
                      <a:headEnd type="none" w="med" len="med"/>
                      <a:tailEnd type="none" w="med" len="med"/>
                    </a:lnT>
                    <a:lnB w="9525" cap="flat" cmpd="sng" algn="ctr">
                      <a:solidFill>
                        <a:srgbClr val="DCE4E1"/>
                      </a:solidFill>
                      <a:prstDash val="solid"/>
                      <a:round/>
                      <a:headEnd type="none" w="med" len="med"/>
                      <a:tailEnd type="none" w="med" len="med"/>
                    </a:lnB>
                    <a:solidFill>
                      <a:srgbClr val="F3EFE7"/>
                    </a:solidFill>
                  </a:tcPr>
                </a:tc>
                <a:tc>
                  <a:txBody>
                    <a:bodyPr/>
                    <a:lstStyle/>
                    <a:p>
                      <a:pPr algn="ctr" indent="0" marL="0">
                        <a:buNone/>
                      </a:pPr>
                      <a:r>
                        <a:rPr lang="en-US" sz="1050" b="1" dirty="0">
                          <a:solidFill>
                            <a:srgbClr val="6D2E46"/>
                          </a:solidFill>
                          <a:latin typeface="Calibri" pitchFamily="34" charset="0"/>
                          <a:ea typeface="Calibri" pitchFamily="34" charset="-122"/>
                          <a:cs typeface="Calibri" pitchFamily="34" charset="-120"/>
                        </a:rPr>
                        <a:t>1 : N</a:t>
                      </a:r>
                      <a:endParaRPr lang="en-US" sz="1050" dirty="0">
                        <a:latin typeface="Calibri" charset="0"/>
                        <a:ea typeface="Calibri" charset="0"/>
                        <a:cs typeface="Calibri" charset="0"/>
                      </a:endParaRPr>
                    </a:p>
                  </a:txBody>
                  <a:tcPr marL="101600" marR="101600" marT="50800" marB="50800" anchor="ctr">
                    <a:lnL w="9525" cap="flat" cmpd="sng" algn="ctr">
                      <a:solidFill>
                        <a:srgbClr val="DCE4E1"/>
                      </a:solidFill>
                      <a:prstDash val="solid"/>
                      <a:round/>
                      <a:headEnd type="none" w="med" len="med"/>
                      <a:tailEnd type="none" w="med" len="med"/>
                    </a:lnL>
                    <a:lnR w="9525" cap="flat" cmpd="sng" algn="ctr">
                      <a:solidFill>
                        <a:srgbClr val="DCE4E1"/>
                      </a:solidFill>
                      <a:prstDash val="solid"/>
                      <a:round/>
                      <a:headEnd type="none" w="med" len="med"/>
                      <a:tailEnd type="none" w="med" len="med"/>
                    </a:lnR>
                    <a:lnT w="9525" cap="flat" cmpd="sng" algn="ctr">
                      <a:solidFill>
                        <a:srgbClr val="DCE4E1"/>
                      </a:solidFill>
                      <a:prstDash val="solid"/>
                      <a:round/>
                      <a:headEnd type="none" w="med" len="med"/>
                      <a:tailEnd type="none" w="med" len="med"/>
                    </a:lnT>
                    <a:lnB w="9525" cap="flat" cmpd="sng" algn="ctr">
                      <a:solidFill>
                        <a:srgbClr val="DCE4E1"/>
                      </a:solidFill>
                      <a:prstDash val="solid"/>
                      <a:round/>
                      <a:headEnd type="none" w="med" len="med"/>
                      <a:tailEnd type="none" w="med" len="med"/>
                    </a:lnB>
                    <a:solidFill>
                      <a:srgbClr val="F3EFE7"/>
                    </a:solidFill>
                  </a:tcPr>
                </a:tc>
                <a:tc>
                  <a:txBody>
                    <a:bodyPr/>
                    <a:lstStyle/>
                    <a:p>
                      <a:pPr indent="0" marL="0">
                        <a:buNone/>
                      </a:pPr>
                      <a:r>
                        <a:rPr lang="en-US" sz="1050" dirty="0">
                          <a:solidFill>
                            <a:srgbClr val="5B6B6E"/>
                          </a:solidFill>
                          <a:latin typeface="Calibri" pitchFamily="34" charset="0"/>
                          <a:ea typeface="Calibri" pitchFamily="34" charset="-122"/>
                          <a:cs typeface="Calibri" pitchFamily="34" charset="-120"/>
                        </a:rPr>
                        <a:t>A package can be purchased by many customers</a:t>
                      </a:r>
                      <a:endParaRPr lang="en-US" sz="1050" dirty="0">
                        <a:latin typeface="Calibri" charset="0"/>
                        <a:ea typeface="Calibri" charset="0"/>
                        <a:cs typeface="Calibri" charset="0"/>
                      </a:endParaRPr>
                    </a:p>
                  </a:txBody>
                  <a:tcPr marL="101600" marR="101600" marT="50800" marB="50800" anchor="ctr">
                    <a:lnL w="9525" cap="flat" cmpd="sng" algn="ctr">
                      <a:solidFill>
                        <a:srgbClr val="DCE4E1"/>
                      </a:solidFill>
                      <a:prstDash val="solid"/>
                      <a:round/>
                      <a:headEnd type="none" w="med" len="med"/>
                      <a:tailEnd type="none" w="med" len="med"/>
                    </a:lnL>
                    <a:lnR w="9525" cap="flat" cmpd="sng" algn="ctr">
                      <a:solidFill>
                        <a:srgbClr val="DCE4E1"/>
                      </a:solidFill>
                      <a:prstDash val="solid"/>
                      <a:round/>
                      <a:headEnd type="none" w="med" len="med"/>
                      <a:tailEnd type="none" w="med" len="med"/>
                    </a:lnR>
                    <a:lnT w="9525" cap="flat" cmpd="sng" algn="ctr">
                      <a:solidFill>
                        <a:srgbClr val="DCE4E1"/>
                      </a:solidFill>
                      <a:prstDash val="solid"/>
                      <a:round/>
                      <a:headEnd type="none" w="med" len="med"/>
                      <a:tailEnd type="none" w="med" len="med"/>
                    </a:lnT>
                    <a:lnB w="9525" cap="flat" cmpd="sng" algn="ctr">
                      <a:solidFill>
                        <a:srgbClr val="DCE4E1"/>
                      </a:solidFill>
                      <a:prstDash val="solid"/>
                      <a:round/>
                      <a:headEnd type="none" w="med" len="med"/>
                      <a:tailEnd type="none" w="med" len="med"/>
                    </a:lnB>
                    <a:solidFill>
                      <a:srgbClr val="F3EFE7"/>
                    </a:solidFill>
                  </a:tcPr>
                </a:tc>
              </a:tr>
              <a:tr h="411480">
                <a:tc>
                  <a:txBody>
                    <a:bodyPr/>
                    <a:lstStyle/>
                    <a:p>
                      <a:pPr indent="0" marL="0">
                        <a:buNone/>
                      </a:pPr>
                      <a:r>
                        <a:rPr lang="en-US" sz="1050" dirty="0">
                          <a:solidFill>
                            <a:srgbClr val="27343A"/>
                          </a:solidFill>
                          <a:latin typeface="Calibri" pitchFamily="34" charset="0"/>
                          <a:ea typeface="Calibri" pitchFamily="34" charset="-122"/>
                          <a:cs typeface="Calibri" pitchFamily="34" charset="-120"/>
                        </a:rPr>
                        <a:t>Appointment</a:t>
                      </a:r>
                      <a:endParaRPr lang="en-US" sz="1050" dirty="0">
                        <a:latin typeface="Calibri" charset="0"/>
                        <a:ea typeface="Calibri" charset="0"/>
                        <a:cs typeface="Calibri" charset="0"/>
                      </a:endParaRPr>
                    </a:p>
                  </a:txBody>
                  <a:tcPr marL="101600" marR="101600" marT="50800" marB="50800" anchor="ctr">
                    <a:lnL w="9525" cap="flat" cmpd="sng" algn="ctr">
                      <a:solidFill>
                        <a:srgbClr val="DCE4E1"/>
                      </a:solidFill>
                      <a:prstDash val="solid"/>
                      <a:round/>
                      <a:headEnd type="none" w="med" len="med"/>
                      <a:tailEnd type="none" w="med" len="med"/>
                    </a:lnL>
                    <a:lnR w="9525" cap="flat" cmpd="sng" algn="ctr">
                      <a:solidFill>
                        <a:srgbClr val="DCE4E1"/>
                      </a:solidFill>
                      <a:prstDash val="solid"/>
                      <a:round/>
                      <a:headEnd type="none" w="med" len="med"/>
                      <a:tailEnd type="none" w="med" len="med"/>
                    </a:lnR>
                    <a:lnT w="9525" cap="flat" cmpd="sng" algn="ctr">
                      <a:solidFill>
                        <a:srgbClr val="DCE4E1"/>
                      </a:solidFill>
                      <a:prstDash val="solid"/>
                      <a:round/>
                      <a:headEnd type="none" w="med" len="med"/>
                      <a:tailEnd type="none" w="med" len="med"/>
                    </a:lnT>
                    <a:lnB w="9525" cap="flat" cmpd="sng" algn="ctr">
                      <a:solidFill>
                        <a:srgbClr val="DCE4E1"/>
                      </a:solidFill>
                      <a:prstDash val="solid"/>
                      <a:round/>
                      <a:headEnd type="none" w="med" len="med"/>
                      <a:tailEnd type="none" w="med" len="med"/>
                    </a:lnB>
                    <a:solidFill>
                      <a:srgbClr val="FFFFFF"/>
                    </a:solidFill>
                  </a:tcPr>
                </a:tc>
                <a:tc>
                  <a:txBody>
                    <a:bodyPr/>
                    <a:lstStyle/>
                    <a:p>
                      <a:pPr indent="0" marL="0">
                        <a:buNone/>
                      </a:pPr>
                      <a:r>
                        <a:rPr lang="en-US" sz="1050" dirty="0">
                          <a:solidFill>
                            <a:srgbClr val="27343A"/>
                          </a:solidFill>
                          <a:latin typeface="Calibri" pitchFamily="34" charset="0"/>
                          <a:ea typeface="Calibri" pitchFamily="34" charset="-122"/>
                          <a:cs typeface="Calibri" pitchFamily="34" charset="-120"/>
                        </a:rPr>
                        <a:t>Product Usage</a:t>
                      </a:r>
                      <a:endParaRPr lang="en-US" sz="1050" dirty="0">
                        <a:latin typeface="Calibri" charset="0"/>
                        <a:ea typeface="Calibri" charset="0"/>
                        <a:cs typeface="Calibri" charset="0"/>
                      </a:endParaRPr>
                    </a:p>
                  </a:txBody>
                  <a:tcPr marL="101600" marR="101600" marT="50800" marB="50800" anchor="ctr">
                    <a:lnL w="9525" cap="flat" cmpd="sng" algn="ctr">
                      <a:solidFill>
                        <a:srgbClr val="DCE4E1"/>
                      </a:solidFill>
                      <a:prstDash val="solid"/>
                      <a:round/>
                      <a:headEnd type="none" w="med" len="med"/>
                      <a:tailEnd type="none" w="med" len="med"/>
                    </a:lnL>
                    <a:lnR w="9525" cap="flat" cmpd="sng" algn="ctr">
                      <a:solidFill>
                        <a:srgbClr val="DCE4E1"/>
                      </a:solidFill>
                      <a:prstDash val="solid"/>
                      <a:round/>
                      <a:headEnd type="none" w="med" len="med"/>
                      <a:tailEnd type="none" w="med" len="med"/>
                    </a:lnR>
                    <a:lnT w="9525" cap="flat" cmpd="sng" algn="ctr">
                      <a:solidFill>
                        <a:srgbClr val="DCE4E1"/>
                      </a:solidFill>
                      <a:prstDash val="solid"/>
                      <a:round/>
                      <a:headEnd type="none" w="med" len="med"/>
                      <a:tailEnd type="none" w="med" len="med"/>
                    </a:lnT>
                    <a:lnB w="9525" cap="flat" cmpd="sng" algn="ctr">
                      <a:solidFill>
                        <a:srgbClr val="DCE4E1"/>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6D2E46"/>
                          </a:solidFill>
                          <a:latin typeface="Calibri" pitchFamily="34" charset="0"/>
                          <a:ea typeface="Calibri" pitchFamily="34" charset="-122"/>
                          <a:cs typeface="Calibri" pitchFamily="34" charset="-120"/>
                        </a:rPr>
                        <a:t>1 : N</a:t>
                      </a:r>
                      <a:endParaRPr lang="en-US" sz="1050" dirty="0">
                        <a:latin typeface="Calibri" charset="0"/>
                        <a:ea typeface="Calibri" charset="0"/>
                        <a:cs typeface="Calibri" charset="0"/>
                      </a:endParaRPr>
                    </a:p>
                  </a:txBody>
                  <a:tcPr marL="101600" marR="101600" marT="50800" marB="50800" anchor="ctr">
                    <a:lnL w="9525" cap="flat" cmpd="sng" algn="ctr">
                      <a:solidFill>
                        <a:srgbClr val="DCE4E1"/>
                      </a:solidFill>
                      <a:prstDash val="solid"/>
                      <a:round/>
                      <a:headEnd type="none" w="med" len="med"/>
                      <a:tailEnd type="none" w="med" len="med"/>
                    </a:lnL>
                    <a:lnR w="9525" cap="flat" cmpd="sng" algn="ctr">
                      <a:solidFill>
                        <a:srgbClr val="DCE4E1"/>
                      </a:solidFill>
                      <a:prstDash val="solid"/>
                      <a:round/>
                      <a:headEnd type="none" w="med" len="med"/>
                      <a:tailEnd type="none" w="med" len="med"/>
                    </a:lnR>
                    <a:lnT w="9525" cap="flat" cmpd="sng" algn="ctr">
                      <a:solidFill>
                        <a:srgbClr val="DCE4E1"/>
                      </a:solidFill>
                      <a:prstDash val="solid"/>
                      <a:round/>
                      <a:headEnd type="none" w="med" len="med"/>
                      <a:tailEnd type="none" w="med" len="med"/>
                    </a:lnT>
                    <a:lnB w="9525" cap="flat" cmpd="sng" algn="ctr">
                      <a:solidFill>
                        <a:srgbClr val="DCE4E1"/>
                      </a:solidFill>
                      <a:prstDash val="solid"/>
                      <a:round/>
                      <a:headEnd type="none" w="med" len="med"/>
                      <a:tailEnd type="none" w="med" len="med"/>
                    </a:lnB>
                    <a:solidFill>
                      <a:srgbClr val="FFFFFF"/>
                    </a:solidFill>
                  </a:tcPr>
                </a:tc>
                <a:tc>
                  <a:txBody>
                    <a:bodyPr/>
                    <a:lstStyle/>
                    <a:p>
                      <a:pPr indent="0" marL="0">
                        <a:buNone/>
                      </a:pPr>
                      <a:r>
                        <a:rPr lang="en-US" sz="1050" dirty="0">
                          <a:solidFill>
                            <a:srgbClr val="5B6B6E"/>
                          </a:solidFill>
                          <a:latin typeface="Calibri" pitchFamily="34" charset="0"/>
                          <a:ea typeface="Calibri" pitchFamily="34" charset="-122"/>
                          <a:cs typeface="Calibri" pitchFamily="34" charset="-120"/>
                        </a:rPr>
                        <a:t>Multiple products may be used per appointment</a:t>
                      </a:r>
                      <a:endParaRPr lang="en-US" sz="1050" dirty="0">
                        <a:latin typeface="Calibri" charset="0"/>
                        <a:ea typeface="Calibri" charset="0"/>
                        <a:cs typeface="Calibri" charset="0"/>
                      </a:endParaRPr>
                    </a:p>
                  </a:txBody>
                  <a:tcPr marL="101600" marR="101600" marT="50800" marB="50800" anchor="ctr">
                    <a:lnL w="9525" cap="flat" cmpd="sng" algn="ctr">
                      <a:solidFill>
                        <a:srgbClr val="DCE4E1"/>
                      </a:solidFill>
                      <a:prstDash val="solid"/>
                      <a:round/>
                      <a:headEnd type="none" w="med" len="med"/>
                      <a:tailEnd type="none" w="med" len="med"/>
                    </a:lnL>
                    <a:lnR w="9525" cap="flat" cmpd="sng" algn="ctr">
                      <a:solidFill>
                        <a:srgbClr val="DCE4E1"/>
                      </a:solidFill>
                      <a:prstDash val="solid"/>
                      <a:round/>
                      <a:headEnd type="none" w="med" len="med"/>
                      <a:tailEnd type="none" w="med" len="med"/>
                    </a:lnR>
                    <a:lnT w="9525" cap="flat" cmpd="sng" algn="ctr">
                      <a:solidFill>
                        <a:srgbClr val="DCE4E1"/>
                      </a:solidFill>
                      <a:prstDash val="solid"/>
                      <a:round/>
                      <a:headEnd type="none" w="med" len="med"/>
                      <a:tailEnd type="none" w="med" len="med"/>
                    </a:lnT>
                    <a:lnB w="9525" cap="flat" cmpd="sng" algn="ctr">
                      <a:solidFill>
                        <a:srgbClr val="DCE4E1"/>
                      </a:solidFill>
                      <a:prstDash val="solid"/>
                      <a:round/>
                      <a:headEnd type="none" w="med" len="med"/>
                      <a:tailEnd type="none" w="med" len="med"/>
                    </a:lnB>
                    <a:solidFill>
                      <a:srgbClr val="FFFFFF"/>
                    </a:solidFill>
                  </a:tcPr>
                </a:tc>
              </a:tr>
              <a:tr h="411480">
                <a:tc>
                  <a:txBody>
                    <a:bodyPr/>
                    <a:lstStyle/>
                    <a:p>
                      <a:pPr indent="0" marL="0">
                        <a:buNone/>
                      </a:pPr>
                      <a:r>
                        <a:rPr lang="en-US" sz="1050" dirty="0">
                          <a:solidFill>
                            <a:srgbClr val="27343A"/>
                          </a:solidFill>
                          <a:latin typeface="Calibri" pitchFamily="34" charset="0"/>
                          <a:ea typeface="Calibri" pitchFamily="34" charset="-122"/>
                          <a:cs typeface="Calibri" pitchFamily="34" charset="-120"/>
                        </a:rPr>
                        <a:t>Appointment</a:t>
                      </a:r>
                      <a:endParaRPr lang="en-US" sz="1050" dirty="0">
                        <a:latin typeface="Calibri" charset="0"/>
                        <a:ea typeface="Calibri" charset="0"/>
                        <a:cs typeface="Calibri" charset="0"/>
                      </a:endParaRPr>
                    </a:p>
                  </a:txBody>
                  <a:tcPr marL="101600" marR="101600" marT="50800" marB="50800" anchor="ctr">
                    <a:lnL w="9525" cap="flat" cmpd="sng" algn="ctr">
                      <a:solidFill>
                        <a:srgbClr val="DCE4E1"/>
                      </a:solidFill>
                      <a:prstDash val="solid"/>
                      <a:round/>
                      <a:headEnd type="none" w="med" len="med"/>
                      <a:tailEnd type="none" w="med" len="med"/>
                    </a:lnL>
                    <a:lnR w="9525" cap="flat" cmpd="sng" algn="ctr">
                      <a:solidFill>
                        <a:srgbClr val="DCE4E1"/>
                      </a:solidFill>
                      <a:prstDash val="solid"/>
                      <a:round/>
                      <a:headEnd type="none" w="med" len="med"/>
                      <a:tailEnd type="none" w="med" len="med"/>
                    </a:lnR>
                    <a:lnT w="9525" cap="flat" cmpd="sng" algn="ctr">
                      <a:solidFill>
                        <a:srgbClr val="DCE4E1"/>
                      </a:solidFill>
                      <a:prstDash val="solid"/>
                      <a:round/>
                      <a:headEnd type="none" w="med" len="med"/>
                      <a:tailEnd type="none" w="med" len="med"/>
                    </a:lnT>
                    <a:lnB w="9525" cap="flat" cmpd="sng" algn="ctr">
                      <a:solidFill>
                        <a:srgbClr val="DCE4E1"/>
                      </a:solidFill>
                      <a:prstDash val="solid"/>
                      <a:round/>
                      <a:headEnd type="none" w="med" len="med"/>
                      <a:tailEnd type="none" w="med" len="med"/>
                    </a:lnB>
                    <a:solidFill>
                      <a:srgbClr val="F3EFE7"/>
                    </a:solidFill>
                  </a:tcPr>
                </a:tc>
                <a:tc>
                  <a:txBody>
                    <a:bodyPr/>
                    <a:lstStyle/>
                    <a:p>
                      <a:pPr indent="0" marL="0">
                        <a:buNone/>
                      </a:pPr>
                      <a:r>
                        <a:rPr lang="en-US" sz="1050" dirty="0">
                          <a:solidFill>
                            <a:srgbClr val="27343A"/>
                          </a:solidFill>
                          <a:latin typeface="Calibri" pitchFamily="34" charset="0"/>
                          <a:ea typeface="Calibri" pitchFamily="34" charset="-122"/>
                          <a:cs typeface="Calibri" pitchFamily="34" charset="-120"/>
                        </a:rPr>
                        <a:t>Bill</a:t>
                      </a:r>
                      <a:endParaRPr lang="en-US" sz="1050" dirty="0">
                        <a:latin typeface="Calibri" charset="0"/>
                        <a:ea typeface="Calibri" charset="0"/>
                        <a:cs typeface="Calibri" charset="0"/>
                      </a:endParaRPr>
                    </a:p>
                  </a:txBody>
                  <a:tcPr marL="101600" marR="101600" marT="50800" marB="50800" anchor="ctr">
                    <a:lnL w="9525" cap="flat" cmpd="sng" algn="ctr">
                      <a:solidFill>
                        <a:srgbClr val="DCE4E1"/>
                      </a:solidFill>
                      <a:prstDash val="solid"/>
                      <a:round/>
                      <a:headEnd type="none" w="med" len="med"/>
                      <a:tailEnd type="none" w="med" len="med"/>
                    </a:lnL>
                    <a:lnR w="9525" cap="flat" cmpd="sng" algn="ctr">
                      <a:solidFill>
                        <a:srgbClr val="DCE4E1"/>
                      </a:solidFill>
                      <a:prstDash val="solid"/>
                      <a:round/>
                      <a:headEnd type="none" w="med" len="med"/>
                      <a:tailEnd type="none" w="med" len="med"/>
                    </a:lnR>
                    <a:lnT w="9525" cap="flat" cmpd="sng" algn="ctr">
                      <a:solidFill>
                        <a:srgbClr val="DCE4E1"/>
                      </a:solidFill>
                      <a:prstDash val="solid"/>
                      <a:round/>
                      <a:headEnd type="none" w="med" len="med"/>
                      <a:tailEnd type="none" w="med" len="med"/>
                    </a:lnT>
                    <a:lnB w="9525" cap="flat" cmpd="sng" algn="ctr">
                      <a:solidFill>
                        <a:srgbClr val="DCE4E1"/>
                      </a:solidFill>
                      <a:prstDash val="solid"/>
                      <a:round/>
                      <a:headEnd type="none" w="med" len="med"/>
                      <a:tailEnd type="none" w="med" len="med"/>
                    </a:lnB>
                    <a:solidFill>
                      <a:srgbClr val="F3EFE7"/>
                    </a:solidFill>
                  </a:tcPr>
                </a:tc>
                <a:tc>
                  <a:txBody>
                    <a:bodyPr/>
                    <a:lstStyle/>
                    <a:p>
                      <a:pPr algn="ctr" indent="0" marL="0">
                        <a:buNone/>
                      </a:pPr>
                      <a:r>
                        <a:rPr lang="en-US" sz="1050" b="1" dirty="0">
                          <a:solidFill>
                            <a:srgbClr val="6D2E46"/>
                          </a:solidFill>
                          <a:latin typeface="Calibri" pitchFamily="34" charset="0"/>
                          <a:ea typeface="Calibri" pitchFamily="34" charset="-122"/>
                          <a:cs typeface="Calibri" pitchFamily="34" charset="-120"/>
                        </a:rPr>
                        <a:t>1 : 1</a:t>
                      </a:r>
                      <a:endParaRPr lang="en-US" sz="1050" dirty="0">
                        <a:latin typeface="Calibri" charset="0"/>
                        <a:ea typeface="Calibri" charset="0"/>
                        <a:cs typeface="Calibri" charset="0"/>
                      </a:endParaRPr>
                    </a:p>
                  </a:txBody>
                  <a:tcPr marL="101600" marR="101600" marT="50800" marB="50800" anchor="ctr">
                    <a:lnL w="9525" cap="flat" cmpd="sng" algn="ctr">
                      <a:solidFill>
                        <a:srgbClr val="DCE4E1"/>
                      </a:solidFill>
                      <a:prstDash val="solid"/>
                      <a:round/>
                      <a:headEnd type="none" w="med" len="med"/>
                      <a:tailEnd type="none" w="med" len="med"/>
                    </a:lnL>
                    <a:lnR w="9525" cap="flat" cmpd="sng" algn="ctr">
                      <a:solidFill>
                        <a:srgbClr val="DCE4E1"/>
                      </a:solidFill>
                      <a:prstDash val="solid"/>
                      <a:round/>
                      <a:headEnd type="none" w="med" len="med"/>
                      <a:tailEnd type="none" w="med" len="med"/>
                    </a:lnR>
                    <a:lnT w="9525" cap="flat" cmpd="sng" algn="ctr">
                      <a:solidFill>
                        <a:srgbClr val="DCE4E1"/>
                      </a:solidFill>
                      <a:prstDash val="solid"/>
                      <a:round/>
                      <a:headEnd type="none" w="med" len="med"/>
                      <a:tailEnd type="none" w="med" len="med"/>
                    </a:lnT>
                    <a:lnB w="9525" cap="flat" cmpd="sng" algn="ctr">
                      <a:solidFill>
                        <a:srgbClr val="DCE4E1"/>
                      </a:solidFill>
                      <a:prstDash val="solid"/>
                      <a:round/>
                      <a:headEnd type="none" w="med" len="med"/>
                      <a:tailEnd type="none" w="med" len="med"/>
                    </a:lnB>
                    <a:solidFill>
                      <a:srgbClr val="F3EFE7"/>
                    </a:solidFill>
                  </a:tcPr>
                </a:tc>
                <a:tc>
                  <a:txBody>
                    <a:bodyPr/>
                    <a:lstStyle/>
                    <a:p>
                      <a:pPr indent="0" marL="0">
                        <a:buNone/>
                      </a:pPr>
                      <a:r>
                        <a:rPr lang="en-US" sz="1050" dirty="0">
                          <a:solidFill>
                            <a:srgbClr val="5B6B6E"/>
                          </a:solidFill>
                          <a:latin typeface="Calibri" pitchFamily="34" charset="0"/>
                          <a:ea typeface="Calibri" pitchFamily="34" charset="-122"/>
                          <a:cs typeface="Calibri" pitchFamily="34" charset="-120"/>
                        </a:rPr>
                        <a:t>Each completed appointment generates one bill</a:t>
                      </a:r>
                      <a:endParaRPr lang="en-US" sz="1050" dirty="0">
                        <a:latin typeface="Calibri" charset="0"/>
                        <a:ea typeface="Calibri" charset="0"/>
                        <a:cs typeface="Calibri" charset="0"/>
                      </a:endParaRPr>
                    </a:p>
                  </a:txBody>
                  <a:tcPr marL="101600" marR="101600" marT="50800" marB="50800" anchor="ctr">
                    <a:lnL w="9525" cap="flat" cmpd="sng" algn="ctr">
                      <a:solidFill>
                        <a:srgbClr val="DCE4E1"/>
                      </a:solidFill>
                      <a:prstDash val="solid"/>
                      <a:round/>
                      <a:headEnd type="none" w="med" len="med"/>
                      <a:tailEnd type="none" w="med" len="med"/>
                    </a:lnL>
                    <a:lnR w="9525" cap="flat" cmpd="sng" algn="ctr">
                      <a:solidFill>
                        <a:srgbClr val="DCE4E1"/>
                      </a:solidFill>
                      <a:prstDash val="solid"/>
                      <a:round/>
                      <a:headEnd type="none" w="med" len="med"/>
                      <a:tailEnd type="none" w="med" len="med"/>
                    </a:lnR>
                    <a:lnT w="9525" cap="flat" cmpd="sng" algn="ctr">
                      <a:solidFill>
                        <a:srgbClr val="DCE4E1"/>
                      </a:solidFill>
                      <a:prstDash val="solid"/>
                      <a:round/>
                      <a:headEnd type="none" w="med" len="med"/>
                      <a:tailEnd type="none" w="med" len="med"/>
                    </a:lnT>
                    <a:lnB w="9525" cap="flat" cmpd="sng" algn="ctr">
                      <a:solidFill>
                        <a:srgbClr val="DCE4E1"/>
                      </a:solidFill>
                      <a:prstDash val="solid"/>
                      <a:round/>
                      <a:headEnd type="none" w="med" len="med"/>
                      <a:tailEnd type="none" w="med" len="med"/>
                    </a:lnB>
                    <a:solidFill>
                      <a:srgbClr val="F3EFE7"/>
                    </a:solidFill>
                  </a:tcPr>
                </a:tc>
              </a:tr>
              <a:tr h="411480">
                <a:tc>
                  <a:txBody>
                    <a:bodyPr/>
                    <a:lstStyle/>
                    <a:p>
                      <a:pPr indent="0" marL="0">
                        <a:buNone/>
                      </a:pPr>
                      <a:r>
                        <a:rPr lang="en-US" sz="1050" dirty="0">
                          <a:solidFill>
                            <a:srgbClr val="27343A"/>
                          </a:solidFill>
                          <a:latin typeface="Calibri" pitchFamily="34" charset="0"/>
                          <a:ea typeface="Calibri" pitchFamily="34" charset="-122"/>
                          <a:cs typeface="Calibri" pitchFamily="34" charset="-120"/>
                        </a:rPr>
                        <a:t>Bill</a:t>
                      </a:r>
                      <a:endParaRPr lang="en-US" sz="1050" dirty="0">
                        <a:latin typeface="Calibri" charset="0"/>
                        <a:ea typeface="Calibri" charset="0"/>
                        <a:cs typeface="Calibri" charset="0"/>
                      </a:endParaRPr>
                    </a:p>
                  </a:txBody>
                  <a:tcPr marL="101600" marR="101600" marT="50800" marB="50800" anchor="ctr">
                    <a:lnL w="9525" cap="flat" cmpd="sng" algn="ctr">
                      <a:solidFill>
                        <a:srgbClr val="DCE4E1"/>
                      </a:solidFill>
                      <a:prstDash val="solid"/>
                      <a:round/>
                      <a:headEnd type="none" w="med" len="med"/>
                      <a:tailEnd type="none" w="med" len="med"/>
                    </a:lnL>
                    <a:lnR w="9525" cap="flat" cmpd="sng" algn="ctr">
                      <a:solidFill>
                        <a:srgbClr val="DCE4E1"/>
                      </a:solidFill>
                      <a:prstDash val="solid"/>
                      <a:round/>
                      <a:headEnd type="none" w="med" len="med"/>
                      <a:tailEnd type="none" w="med" len="med"/>
                    </a:lnR>
                    <a:lnT w="9525" cap="flat" cmpd="sng" algn="ctr">
                      <a:solidFill>
                        <a:srgbClr val="DCE4E1"/>
                      </a:solidFill>
                      <a:prstDash val="solid"/>
                      <a:round/>
                      <a:headEnd type="none" w="med" len="med"/>
                      <a:tailEnd type="none" w="med" len="med"/>
                    </a:lnT>
                    <a:lnB w="9525" cap="flat" cmpd="sng" algn="ctr">
                      <a:solidFill>
                        <a:srgbClr val="DCE4E1"/>
                      </a:solidFill>
                      <a:prstDash val="solid"/>
                      <a:round/>
                      <a:headEnd type="none" w="med" len="med"/>
                      <a:tailEnd type="none" w="med" len="med"/>
                    </a:lnB>
                    <a:solidFill>
                      <a:srgbClr val="FFFFFF"/>
                    </a:solidFill>
                  </a:tcPr>
                </a:tc>
                <a:tc>
                  <a:txBody>
                    <a:bodyPr/>
                    <a:lstStyle/>
                    <a:p>
                      <a:pPr indent="0" marL="0">
                        <a:buNone/>
                      </a:pPr>
                      <a:r>
                        <a:rPr lang="en-US" sz="1050" dirty="0">
                          <a:solidFill>
                            <a:srgbClr val="27343A"/>
                          </a:solidFill>
                          <a:latin typeface="Calibri" pitchFamily="34" charset="0"/>
                          <a:ea typeface="Calibri" pitchFamily="34" charset="-122"/>
                          <a:cs typeface="Calibri" pitchFamily="34" charset="-120"/>
                        </a:rPr>
                        <a:t>Payment</a:t>
                      </a:r>
                      <a:endParaRPr lang="en-US" sz="1050" dirty="0">
                        <a:latin typeface="Calibri" charset="0"/>
                        <a:ea typeface="Calibri" charset="0"/>
                        <a:cs typeface="Calibri" charset="0"/>
                      </a:endParaRPr>
                    </a:p>
                  </a:txBody>
                  <a:tcPr marL="101600" marR="101600" marT="50800" marB="50800" anchor="ctr">
                    <a:lnL w="9525" cap="flat" cmpd="sng" algn="ctr">
                      <a:solidFill>
                        <a:srgbClr val="DCE4E1"/>
                      </a:solidFill>
                      <a:prstDash val="solid"/>
                      <a:round/>
                      <a:headEnd type="none" w="med" len="med"/>
                      <a:tailEnd type="none" w="med" len="med"/>
                    </a:lnL>
                    <a:lnR w="9525" cap="flat" cmpd="sng" algn="ctr">
                      <a:solidFill>
                        <a:srgbClr val="DCE4E1"/>
                      </a:solidFill>
                      <a:prstDash val="solid"/>
                      <a:round/>
                      <a:headEnd type="none" w="med" len="med"/>
                      <a:tailEnd type="none" w="med" len="med"/>
                    </a:lnR>
                    <a:lnT w="9525" cap="flat" cmpd="sng" algn="ctr">
                      <a:solidFill>
                        <a:srgbClr val="DCE4E1"/>
                      </a:solidFill>
                      <a:prstDash val="solid"/>
                      <a:round/>
                      <a:headEnd type="none" w="med" len="med"/>
                      <a:tailEnd type="none" w="med" len="med"/>
                    </a:lnT>
                    <a:lnB w="9525" cap="flat" cmpd="sng" algn="ctr">
                      <a:solidFill>
                        <a:srgbClr val="DCE4E1"/>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6D2E46"/>
                          </a:solidFill>
                          <a:latin typeface="Calibri" pitchFamily="34" charset="0"/>
                          <a:ea typeface="Calibri" pitchFamily="34" charset="-122"/>
                          <a:cs typeface="Calibri" pitchFamily="34" charset="-120"/>
                        </a:rPr>
                        <a:t>1 : N</a:t>
                      </a:r>
                      <a:endParaRPr lang="en-US" sz="1050" dirty="0">
                        <a:latin typeface="Calibri" charset="0"/>
                        <a:ea typeface="Calibri" charset="0"/>
                        <a:cs typeface="Calibri" charset="0"/>
                      </a:endParaRPr>
                    </a:p>
                  </a:txBody>
                  <a:tcPr marL="101600" marR="101600" marT="50800" marB="50800" anchor="ctr">
                    <a:lnL w="9525" cap="flat" cmpd="sng" algn="ctr">
                      <a:solidFill>
                        <a:srgbClr val="DCE4E1"/>
                      </a:solidFill>
                      <a:prstDash val="solid"/>
                      <a:round/>
                      <a:headEnd type="none" w="med" len="med"/>
                      <a:tailEnd type="none" w="med" len="med"/>
                    </a:lnL>
                    <a:lnR w="9525" cap="flat" cmpd="sng" algn="ctr">
                      <a:solidFill>
                        <a:srgbClr val="DCE4E1"/>
                      </a:solidFill>
                      <a:prstDash val="solid"/>
                      <a:round/>
                      <a:headEnd type="none" w="med" len="med"/>
                      <a:tailEnd type="none" w="med" len="med"/>
                    </a:lnR>
                    <a:lnT w="9525" cap="flat" cmpd="sng" algn="ctr">
                      <a:solidFill>
                        <a:srgbClr val="DCE4E1"/>
                      </a:solidFill>
                      <a:prstDash val="solid"/>
                      <a:round/>
                      <a:headEnd type="none" w="med" len="med"/>
                      <a:tailEnd type="none" w="med" len="med"/>
                    </a:lnT>
                    <a:lnB w="9525" cap="flat" cmpd="sng" algn="ctr">
                      <a:solidFill>
                        <a:srgbClr val="DCE4E1"/>
                      </a:solidFill>
                      <a:prstDash val="solid"/>
                      <a:round/>
                      <a:headEnd type="none" w="med" len="med"/>
                      <a:tailEnd type="none" w="med" len="med"/>
                    </a:lnB>
                    <a:solidFill>
                      <a:srgbClr val="FFFFFF"/>
                    </a:solidFill>
                  </a:tcPr>
                </a:tc>
                <a:tc>
                  <a:txBody>
                    <a:bodyPr/>
                    <a:lstStyle/>
                    <a:p>
                      <a:pPr indent="0" marL="0">
                        <a:buNone/>
                      </a:pPr>
                      <a:r>
                        <a:rPr lang="en-US" sz="1050" dirty="0">
                          <a:solidFill>
                            <a:srgbClr val="5B6B6E"/>
                          </a:solidFill>
                          <a:latin typeface="Calibri" pitchFamily="34" charset="0"/>
                          <a:ea typeface="Calibri" pitchFamily="34" charset="-122"/>
                          <a:cs typeface="Calibri" pitchFamily="34" charset="-120"/>
                        </a:rPr>
                        <a:t>A bill may be settled via one or more payments</a:t>
                      </a:r>
                      <a:endParaRPr lang="en-US" sz="1050" dirty="0">
                        <a:latin typeface="Calibri" charset="0"/>
                        <a:ea typeface="Calibri" charset="0"/>
                        <a:cs typeface="Calibri" charset="0"/>
                      </a:endParaRPr>
                    </a:p>
                  </a:txBody>
                  <a:tcPr marL="101600" marR="101600" marT="50800" marB="50800" anchor="ctr">
                    <a:lnL w="9525" cap="flat" cmpd="sng" algn="ctr">
                      <a:solidFill>
                        <a:srgbClr val="DCE4E1"/>
                      </a:solidFill>
                      <a:prstDash val="solid"/>
                      <a:round/>
                      <a:headEnd type="none" w="med" len="med"/>
                      <a:tailEnd type="none" w="med" len="med"/>
                    </a:lnL>
                    <a:lnR w="9525" cap="flat" cmpd="sng" algn="ctr">
                      <a:solidFill>
                        <a:srgbClr val="DCE4E1"/>
                      </a:solidFill>
                      <a:prstDash val="solid"/>
                      <a:round/>
                      <a:headEnd type="none" w="med" len="med"/>
                      <a:tailEnd type="none" w="med" len="med"/>
                    </a:lnR>
                    <a:lnT w="9525" cap="flat" cmpd="sng" algn="ctr">
                      <a:solidFill>
                        <a:srgbClr val="DCE4E1"/>
                      </a:solidFill>
                      <a:prstDash val="solid"/>
                      <a:round/>
                      <a:headEnd type="none" w="med" len="med"/>
                      <a:tailEnd type="none" w="med" len="med"/>
                    </a:lnT>
                    <a:lnB w="9525" cap="flat" cmpd="sng" algn="ctr">
                      <a:solidFill>
                        <a:srgbClr val="DCE4E1"/>
                      </a:solidFill>
                      <a:prstDash val="solid"/>
                      <a:round/>
                      <a:headEnd type="none" w="med" len="med"/>
                      <a:tailEnd type="none" w="med" len="med"/>
                    </a:lnB>
                    <a:solidFill>
                      <a:srgbClr val="FFFFFF"/>
                    </a:solidFill>
                  </a:tcPr>
                </a:tc>
              </a:tr>
            </a:tbl>
          </a:graphicData>
        </a:graphic>
      </p:graphicFrame>
      <p:sp>
        <p:nvSpPr>
          <p:cNvPr id="8" name="Text 3"/>
          <p:cNvSpPr/>
          <p:nvPr/>
        </p:nvSpPr>
        <p:spPr>
          <a:xfrm>
            <a:off x="502920" y="6473952"/>
            <a:ext cx="8229600" cy="274320"/>
          </a:xfrm>
          <a:prstGeom prst="rect">
            <a:avLst/>
          </a:prstGeom>
          <a:noFill/>
          <a:ln/>
        </p:spPr>
        <p:txBody>
          <a:bodyPr wrap="square" rtlCol="0" anchor="ctr"/>
          <a:lstStyle/>
          <a:p>
            <a:pPr indent="0" marL="0">
              <a:buNone/>
            </a:pPr>
            <a:r>
              <a:rPr lang="en-US" sz="900" spc="100" kern="0" dirty="0">
                <a:solidFill>
                  <a:srgbClr val="5B6B6E"/>
                </a:solidFill>
                <a:latin typeface="Calibri" pitchFamily="34" charset="0"/>
                <a:ea typeface="Calibri" pitchFamily="34" charset="-122"/>
                <a:cs typeface="Calibri" pitchFamily="34" charset="-120"/>
              </a:rPr>
              <a:t>SALON &amp; SPA APPOINTMENT MANAGEMENT SYSTEM  |  REVIEW 1</a:t>
            </a:r>
            <a:endParaRPr lang="en-US" sz="900" dirty="0"/>
          </a:p>
        </p:txBody>
      </p:sp>
      <p:sp>
        <p:nvSpPr>
          <p:cNvPr id="9" name="Text 4"/>
          <p:cNvSpPr/>
          <p:nvPr/>
        </p:nvSpPr>
        <p:spPr>
          <a:xfrm>
            <a:off x="11228832" y="6473952"/>
            <a:ext cx="457200" cy="274320"/>
          </a:xfrm>
          <a:prstGeom prst="rect">
            <a:avLst/>
          </a:prstGeom>
          <a:noFill/>
          <a:ln/>
        </p:spPr>
        <p:txBody>
          <a:bodyPr wrap="square" rtlCol="0" anchor="ctr"/>
          <a:lstStyle/>
          <a:p>
            <a:pPr algn="r" indent="0" marL="0">
              <a:buNone/>
            </a:pPr>
            <a:r>
              <a:rPr lang="en-US" sz="900" dirty="0">
                <a:solidFill>
                  <a:srgbClr val="5B6B6E"/>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02920" y="384048"/>
            <a:ext cx="8229600" cy="292608"/>
          </a:xfrm>
          <a:prstGeom prst="rect">
            <a:avLst/>
          </a:prstGeom>
          <a:noFill/>
          <a:ln/>
        </p:spPr>
        <p:txBody>
          <a:bodyPr wrap="square" rtlCol="0" anchor="ctr"/>
          <a:lstStyle/>
          <a:p>
            <a:pPr indent="0" marL="0">
              <a:buNone/>
            </a:pPr>
            <a:r>
              <a:rPr lang="en-US" sz="1200" b="1" spc="200" kern="0" dirty="0">
                <a:solidFill>
                  <a:srgbClr val="6D2E46"/>
                </a:solidFill>
                <a:latin typeface="Calibri" pitchFamily="34" charset="0"/>
                <a:ea typeface="Calibri" pitchFamily="34" charset="-122"/>
                <a:cs typeface="Calibri" pitchFamily="34" charset="-120"/>
              </a:rPr>
              <a:t>LOGICAL DESIGN</a:t>
            </a:r>
            <a:endParaRPr lang="en-US" sz="1200" dirty="0"/>
          </a:p>
        </p:txBody>
      </p:sp>
      <p:sp>
        <p:nvSpPr>
          <p:cNvPr id="3" name="Text 1"/>
          <p:cNvSpPr txBox="1"/>
          <p:nvPr/>
        </p:nvSpPr>
        <p:spPr>
          <a:xfrm>
            <a:off x="502920" y="658368"/>
            <a:ext cx="9692640" cy="685800"/>
          </a:xfrm>
          <a:prstGeom prst="rect">
            <a:avLst/>
          </a:prstGeom>
          <a:noFill/>
          <a:ln/>
        </p:spPr>
        <p:txBody>
          <a:bodyPr wrap="square" rtlCol="0" anchor="ctr"/>
          <a:lstStyle/>
          <a:p>
            <a:pPr indent="0" marL="0">
              <a:buNone/>
            </a:pPr>
            <a:r>
              <a:rPr lang="en-US" sz="3000" b="1" dirty="0">
                <a:solidFill>
                  <a:srgbClr val="27343A"/>
                </a:solidFill>
                <a:latin typeface="Cambria" pitchFamily="34" charset="0"/>
                <a:ea typeface="Cambria" pitchFamily="34" charset="-122"/>
                <a:cs typeface="Cambria" pitchFamily="34" charset="-120"/>
              </a:rPr>
              <a:t>Initial Relational Schema — Part 1</a:t>
            </a:r>
            <a:endParaRPr lang="en-US" sz="3000" dirty="0"/>
          </a:p>
        </p:txBody>
      </p:sp>
      <p:sp>
        <p:nvSpPr>
          <p:cNvPr id="4" name="Shape 2"/>
          <p:cNvSpPr/>
          <p:nvPr/>
        </p:nvSpPr>
        <p:spPr>
          <a:xfrm>
            <a:off x="11119104" y="457200"/>
            <a:ext cx="566928" cy="566928"/>
          </a:xfrm>
          <a:prstGeom prst="ellipse">
            <a:avLst/>
          </a:prstGeom>
          <a:solidFill>
            <a:srgbClr val="6D2E46"/>
          </a:solidFill>
          <a:ln/>
        </p:spPr>
      </p:sp>
      <p:pic>
        <p:nvPicPr>
          <p:cNvPr id="5" name="Image 0" descr="/tmp/claude-0/-home-claude/12ac4f2c-a806-5c6e-9789-8d976e37a451/scratchpad/salon_ppt/icons/table.png">    </p:cNvPr>
          <p:cNvPicPr>
            <a:picLocks noChangeAspect="1"/>
          </p:cNvPicPr>
          <p:nvPr/>
        </p:nvPicPr>
        <p:blipFill>
          <a:blip r:embed="rId1"/>
          <a:stretch>
            <a:fillRect/>
          </a:stretch>
        </p:blipFill>
        <p:spPr>
          <a:xfrm>
            <a:off x="11187135" y="525231"/>
            <a:ext cx="430865" cy="430865"/>
          </a:xfrm>
          <a:prstGeom prst="rect">
            <a:avLst/>
          </a:prstGeom>
        </p:spPr>
      </p:pic>
      <p:sp>
        <p:nvSpPr>
          <p:cNvPr id="6" name="Shape 3"/>
          <p:cNvSpPr/>
          <p:nvPr/>
        </p:nvSpPr>
        <p:spPr>
          <a:xfrm>
            <a:off x="502920" y="1444752"/>
            <a:ext cx="5468112" cy="1920240"/>
          </a:xfrm>
          <a:prstGeom prst="roundRect">
            <a:avLst>
              <a:gd name="adj" fmla="val 2857"/>
            </a:avLst>
          </a:prstGeom>
          <a:solidFill>
            <a:srgbClr val="FFFFFF"/>
          </a:solidFill>
          <a:ln w="12700">
            <a:solidFill>
              <a:srgbClr val="ECE6DE"/>
            </a:solidFill>
            <a:prstDash val="solid"/>
          </a:ln>
        </p:spPr>
      </p:sp>
      <p:sp>
        <p:nvSpPr>
          <p:cNvPr id="7" name="Shape 4"/>
          <p:cNvSpPr/>
          <p:nvPr/>
        </p:nvSpPr>
        <p:spPr>
          <a:xfrm>
            <a:off x="502920" y="1444752"/>
            <a:ext cx="5468112" cy="310896"/>
          </a:xfrm>
          <a:prstGeom prst="rect">
            <a:avLst/>
          </a:prstGeom>
          <a:solidFill>
            <a:srgbClr val="50808E"/>
          </a:solidFill>
          <a:ln/>
        </p:spPr>
      </p:sp>
      <p:sp>
        <p:nvSpPr>
          <p:cNvPr id="8" name="Text 5"/>
          <p:cNvSpPr/>
          <p:nvPr/>
        </p:nvSpPr>
        <p:spPr>
          <a:xfrm>
            <a:off x="640080" y="1444752"/>
            <a:ext cx="5193792" cy="310896"/>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CUSTOMER</a:t>
            </a:r>
            <a:endParaRPr lang="en-US" sz="12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12648" y="1755648"/>
          <a:ext cx="5248656" cy="1572768"/>
        </p:xfrm>
        <a:graphic>
          <a:graphicData uri="http://schemas.openxmlformats.org/drawingml/2006/table">
            <a:tbl>
              <a:tblPr/>
              <a:tblGrid>
                <a:gridCol w="3464113"/>
                <a:gridCol w="1784543"/>
              </a:tblGrid>
              <a:tr h="224681">
                <a:tc>
                  <a:txBody>
                    <a:bodyPr/>
                    <a:lstStyle/>
                    <a:p>
                      <a:pPr indent="0" marL="0">
                        <a:buNone/>
                      </a:pPr>
                      <a:r>
                        <a:rPr lang="en-US" sz="950" b="1" dirty="0">
                          <a:solidFill>
                            <a:srgbClr val="5B6B6E"/>
                          </a:solidFill>
                          <a:latin typeface="Calibri" pitchFamily="34" charset="0"/>
                          <a:ea typeface="Calibri" pitchFamily="34" charset="-122"/>
                          <a:cs typeface="Calibri" pitchFamily="34" charset="-120"/>
                        </a:rPr>
                        <a:t>Column</a:t>
                      </a:r>
                      <a:endParaRPr lang="en-US" sz="95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50" b="1" dirty="0">
                          <a:solidFill>
                            <a:srgbClr val="5B6B6E"/>
                          </a:solidFill>
                          <a:latin typeface="Calibri" pitchFamily="34" charset="0"/>
                          <a:ea typeface="Calibri" pitchFamily="34" charset="-122"/>
                          <a:cs typeface="Calibri" pitchFamily="34" charset="-120"/>
                        </a:rPr>
                        <a:t>Key</a:t>
                      </a:r>
                      <a:endParaRPr lang="en-US" sz="95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r>
              <a:tr h="224681">
                <a:tc>
                  <a:txBody>
                    <a:bodyPr/>
                    <a:lstStyle/>
                    <a:p>
                      <a:pPr indent="0" marL="0">
                        <a:buNone/>
                      </a:pPr>
                      <a:r>
                        <a:rPr lang="en-US" sz="960" dirty="0">
                          <a:solidFill>
                            <a:srgbClr val="27343A"/>
                          </a:solidFill>
                          <a:latin typeface="Calibri" pitchFamily="34" charset="0"/>
                          <a:ea typeface="Calibri" pitchFamily="34" charset="-122"/>
                          <a:cs typeface="Calibri" pitchFamily="34" charset="-120"/>
                        </a:rPr>
                        <a:t>customer_id</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60" b="1" dirty="0">
                          <a:solidFill>
                            <a:srgbClr val="6D2E46"/>
                          </a:solidFill>
                          <a:latin typeface="Calibri" pitchFamily="34" charset="0"/>
                          <a:ea typeface="Calibri" pitchFamily="34" charset="-122"/>
                          <a:cs typeface="Calibri" pitchFamily="34" charset="-120"/>
                        </a:rPr>
                        <a:t>PK</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r>
              <a:tr h="224681">
                <a:tc>
                  <a:txBody>
                    <a:bodyPr/>
                    <a:lstStyle/>
                    <a:p>
                      <a:pPr indent="0" marL="0">
                        <a:buNone/>
                      </a:pPr>
                      <a:r>
                        <a:rPr lang="en-US" sz="960" dirty="0">
                          <a:solidFill>
                            <a:srgbClr val="27343A"/>
                          </a:solidFill>
                          <a:latin typeface="Calibri" pitchFamily="34" charset="0"/>
                          <a:ea typeface="Calibri" pitchFamily="34" charset="-122"/>
                          <a:cs typeface="Calibri" pitchFamily="34" charset="-120"/>
                        </a:rPr>
                        <a:t>name</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r>
              <a:tr h="224681">
                <a:tc>
                  <a:txBody>
                    <a:bodyPr/>
                    <a:lstStyle/>
                    <a:p>
                      <a:pPr indent="0" marL="0">
                        <a:buNone/>
                      </a:pPr>
                      <a:r>
                        <a:rPr lang="en-US" sz="960" dirty="0">
                          <a:solidFill>
                            <a:srgbClr val="27343A"/>
                          </a:solidFill>
                          <a:latin typeface="Calibri" pitchFamily="34" charset="0"/>
                          <a:ea typeface="Calibri" pitchFamily="34" charset="-122"/>
                          <a:cs typeface="Calibri" pitchFamily="34" charset="-120"/>
                        </a:rPr>
                        <a:t>phone</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60" b="1" dirty="0">
                          <a:solidFill>
                            <a:srgbClr val="69A297"/>
                          </a:solidFill>
                          <a:latin typeface="Calibri" pitchFamily="34" charset="0"/>
                          <a:ea typeface="Calibri" pitchFamily="34" charset="-122"/>
                          <a:cs typeface="Calibri" pitchFamily="34" charset="-120"/>
                        </a:rPr>
                        <a:t>UNIQUE</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r>
              <a:tr h="224681">
                <a:tc>
                  <a:txBody>
                    <a:bodyPr/>
                    <a:lstStyle/>
                    <a:p>
                      <a:pPr indent="0" marL="0">
                        <a:buNone/>
                      </a:pPr>
                      <a:r>
                        <a:rPr lang="en-US" sz="960" dirty="0">
                          <a:solidFill>
                            <a:srgbClr val="27343A"/>
                          </a:solidFill>
                          <a:latin typeface="Calibri" pitchFamily="34" charset="0"/>
                          <a:ea typeface="Calibri" pitchFamily="34" charset="-122"/>
                          <a:cs typeface="Calibri" pitchFamily="34" charset="-120"/>
                        </a:rPr>
                        <a:t>email</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r>
              <a:tr h="224681">
                <a:tc>
                  <a:txBody>
                    <a:bodyPr/>
                    <a:lstStyle/>
                    <a:p>
                      <a:pPr indent="0" marL="0">
                        <a:buNone/>
                      </a:pPr>
                      <a:r>
                        <a:rPr lang="en-US" sz="960" dirty="0">
                          <a:solidFill>
                            <a:srgbClr val="27343A"/>
                          </a:solidFill>
                          <a:latin typeface="Calibri" pitchFamily="34" charset="0"/>
                          <a:ea typeface="Calibri" pitchFamily="34" charset="-122"/>
                          <a:cs typeface="Calibri" pitchFamily="34" charset="-120"/>
                        </a:rPr>
                        <a:t>gender</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r>
              <a:tr h="224681">
                <a:tc>
                  <a:txBody>
                    <a:bodyPr/>
                    <a:lstStyle/>
                    <a:p>
                      <a:pPr indent="0" marL="0">
                        <a:buNone/>
                      </a:pPr>
                      <a:r>
                        <a:rPr lang="en-US" sz="960" dirty="0">
                          <a:solidFill>
                            <a:srgbClr val="27343A"/>
                          </a:solidFill>
                          <a:latin typeface="Calibri" pitchFamily="34" charset="0"/>
                          <a:ea typeface="Calibri" pitchFamily="34" charset="-122"/>
                          <a:cs typeface="Calibri" pitchFamily="34" charset="-120"/>
                        </a:rPr>
                        <a:t>registration_date</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60" b="1" dirty="0">
                          <a:solidFill>
                            <a:srgbClr val="69A297"/>
                          </a:solidFill>
                          <a:latin typeface="Calibri" pitchFamily="34" charset="0"/>
                          <a:ea typeface="Calibri" pitchFamily="34" charset="-122"/>
                          <a:cs typeface="Calibri" pitchFamily="34" charset="-120"/>
                        </a:rPr>
                        <a:t>DEFAULT</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r>
            </a:tbl>
          </a:graphicData>
        </a:graphic>
      </p:graphicFrame>
      <p:sp>
        <p:nvSpPr>
          <p:cNvPr id="10" name="Shape 6"/>
          <p:cNvSpPr/>
          <p:nvPr/>
        </p:nvSpPr>
        <p:spPr>
          <a:xfrm>
            <a:off x="502920" y="3511296"/>
            <a:ext cx="5468112" cy="1664208"/>
          </a:xfrm>
          <a:prstGeom prst="roundRect">
            <a:avLst>
              <a:gd name="adj" fmla="val 3297"/>
            </a:avLst>
          </a:prstGeom>
          <a:solidFill>
            <a:srgbClr val="FFFFFF"/>
          </a:solidFill>
          <a:ln w="12700">
            <a:solidFill>
              <a:srgbClr val="ECE6DE"/>
            </a:solidFill>
            <a:prstDash val="solid"/>
          </a:ln>
        </p:spPr>
      </p:sp>
      <p:sp>
        <p:nvSpPr>
          <p:cNvPr id="11" name="Shape 7"/>
          <p:cNvSpPr/>
          <p:nvPr/>
        </p:nvSpPr>
        <p:spPr>
          <a:xfrm>
            <a:off x="502920" y="3511296"/>
            <a:ext cx="5468112" cy="310896"/>
          </a:xfrm>
          <a:prstGeom prst="rect">
            <a:avLst/>
          </a:prstGeom>
          <a:solidFill>
            <a:srgbClr val="50808E"/>
          </a:solidFill>
          <a:ln/>
        </p:spPr>
      </p:sp>
      <p:sp>
        <p:nvSpPr>
          <p:cNvPr id="12" name="Text 8"/>
          <p:cNvSpPr/>
          <p:nvPr/>
        </p:nvSpPr>
        <p:spPr>
          <a:xfrm>
            <a:off x="640080" y="3511296"/>
            <a:ext cx="5193792" cy="310896"/>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SERVICE</a:t>
            </a:r>
            <a:endParaRPr lang="en-US" sz="1250" dirty="0"/>
          </a:p>
        </p:txBody>
      </p:sp>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612648" y="3822192"/>
          <a:ext cx="5248656" cy="1316736"/>
        </p:xfrm>
        <a:graphic>
          <a:graphicData uri="http://schemas.openxmlformats.org/drawingml/2006/table">
            <a:tbl>
              <a:tblPr/>
              <a:tblGrid>
                <a:gridCol w="3464113"/>
                <a:gridCol w="1784543"/>
              </a:tblGrid>
              <a:tr h="219456">
                <a:tc>
                  <a:txBody>
                    <a:bodyPr/>
                    <a:lstStyle/>
                    <a:p>
                      <a:pPr indent="0" marL="0">
                        <a:buNone/>
                      </a:pPr>
                      <a:r>
                        <a:rPr lang="en-US" sz="950" b="1" dirty="0">
                          <a:solidFill>
                            <a:srgbClr val="5B6B6E"/>
                          </a:solidFill>
                          <a:latin typeface="Calibri" pitchFamily="34" charset="0"/>
                          <a:ea typeface="Calibri" pitchFamily="34" charset="-122"/>
                          <a:cs typeface="Calibri" pitchFamily="34" charset="-120"/>
                        </a:rPr>
                        <a:t>Column</a:t>
                      </a:r>
                      <a:endParaRPr lang="en-US" sz="95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50" b="1" dirty="0">
                          <a:solidFill>
                            <a:srgbClr val="5B6B6E"/>
                          </a:solidFill>
                          <a:latin typeface="Calibri" pitchFamily="34" charset="0"/>
                          <a:ea typeface="Calibri" pitchFamily="34" charset="-122"/>
                          <a:cs typeface="Calibri" pitchFamily="34" charset="-120"/>
                        </a:rPr>
                        <a:t>Key</a:t>
                      </a:r>
                      <a:endParaRPr lang="en-US" sz="95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r>
              <a:tr h="219456">
                <a:tc>
                  <a:txBody>
                    <a:bodyPr/>
                    <a:lstStyle/>
                    <a:p>
                      <a:pPr indent="0" marL="0">
                        <a:buNone/>
                      </a:pPr>
                      <a:r>
                        <a:rPr lang="en-US" sz="960" dirty="0">
                          <a:solidFill>
                            <a:srgbClr val="27343A"/>
                          </a:solidFill>
                          <a:latin typeface="Calibri" pitchFamily="34" charset="0"/>
                          <a:ea typeface="Calibri" pitchFamily="34" charset="-122"/>
                          <a:cs typeface="Calibri" pitchFamily="34" charset="-120"/>
                        </a:rPr>
                        <a:t>service_id</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60" b="1" dirty="0">
                          <a:solidFill>
                            <a:srgbClr val="6D2E46"/>
                          </a:solidFill>
                          <a:latin typeface="Calibri" pitchFamily="34" charset="0"/>
                          <a:ea typeface="Calibri" pitchFamily="34" charset="-122"/>
                          <a:cs typeface="Calibri" pitchFamily="34" charset="-120"/>
                        </a:rPr>
                        <a:t>PK</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r>
              <a:tr h="219456">
                <a:tc>
                  <a:txBody>
                    <a:bodyPr/>
                    <a:lstStyle/>
                    <a:p>
                      <a:pPr indent="0" marL="0">
                        <a:buNone/>
                      </a:pPr>
                      <a:r>
                        <a:rPr lang="en-US" sz="960" dirty="0">
                          <a:solidFill>
                            <a:srgbClr val="27343A"/>
                          </a:solidFill>
                          <a:latin typeface="Calibri" pitchFamily="34" charset="0"/>
                          <a:ea typeface="Calibri" pitchFamily="34" charset="-122"/>
                          <a:cs typeface="Calibri" pitchFamily="34" charset="-120"/>
                        </a:rPr>
                        <a:t>category_id</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60" b="1" dirty="0">
                          <a:solidFill>
                            <a:srgbClr val="69A297"/>
                          </a:solidFill>
                          <a:latin typeface="Calibri" pitchFamily="34" charset="0"/>
                          <a:ea typeface="Calibri" pitchFamily="34" charset="-122"/>
                          <a:cs typeface="Calibri" pitchFamily="34" charset="-120"/>
                        </a:rPr>
                        <a:t>FK</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r>
              <a:tr h="219456">
                <a:tc>
                  <a:txBody>
                    <a:bodyPr/>
                    <a:lstStyle/>
                    <a:p>
                      <a:pPr indent="0" marL="0">
                        <a:buNone/>
                      </a:pPr>
                      <a:r>
                        <a:rPr lang="en-US" sz="960" dirty="0">
                          <a:solidFill>
                            <a:srgbClr val="27343A"/>
                          </a:solidFill>
                          <a:latin typeface="Calibri" pitchFamily="34" charset="0"/>
                          <a:ea typeface="Calibri" pitchFamily="34" charset="-122"/>
                          <a:cs typeface="Calibri" pitchFamily="34" charset="-120"/>
                        </a:rPr>
                        <a:t>service_name</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r>
              <a:tr h="219456">
                <a:tc>
                  <a:txBody>
                    <a:bodyPr/>
                    <a:lstStyle/>
                    <a:p>
                      <a:pPr indent="0" marL="0">
                        <a:buNone/>
                      </a:pPr>
                      <a:r>
                        <a:rPr lang="en-US" sz="960" dirty="0">
                          <a:solidFill>
                            <a:srgbClr val="27343A"/>
                          </a:solidFill>
                          <a:latin typeface="Calibri" pitchFamily="34" charset="0"/>
                          <a:ea typeface="Calibri" pitchFamily="34" charset="-122"/>
                          <a:cs typeface="Calibri" pitchFamily="34" charset="-120"/>
                        </a:rPr>
                        <a:t>duration_mins</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r>
              <a:tr h="219456">
                <a:tc>
                  <a:txBody>
                    <a:bodyPr/>
                    <a:lstStyle/>
                    <a:p>
                      <a:pPr indent="0" marL="0">
                        <a:buNone/>
                      </a:pPr>
                      <a:r>
                        <a:rPr lang="en-US" sz="960" dirty="0">
                          <a:solidFill>
                            <a:srgbClr val="27343A"/>
                          </a:solidFill>
                          <a:latin typeface="Calibri" pitchFamily="34" charset="0"/>
                          <a:ea typeface="Calibri" pitchFamily="34" charset="-122"/>
                          <a:cs typeface="Calibri" pitchFamily="34" charset="-120"/>
                        </a:rPr>
                        <a:t>price</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60" b="1" dirty="0">
                          <a:solidFill>
                            <a:srgbClr val="69A297"/>
                          </a:solidFill>
                          <a:latin typeface="Calibri" pitchFamily="34" charset="0"/>
                          <a:ea typeface="Calibri" pitchFamily="34" charset="-122"/>
                          <a:cs typeface="Calibri" pitchFamily="34" charset="-120"/>
                        </a:rPr>
                        <a:t>CHECK&gt;0</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r>
            </a:tbl>
          </a:graphicData>
        </a:graphic>
      </p:graphicFrame>
      <p:sp>
        <p:nvSpPr>
          <p:cNvPr id="14" name="Shape 9"/>
          <p:cNvSpPr/>
          <p:nvPr/>
        </p:nvSpPr>
        <p:spPr>
          <a:xfrm>
            <a:off x="6190488" y="1444752"/>
            <a:ext cx="5468112" cy="1152144"/>
          </a:xfrm>
          <a:prstGeom prst="roundRect">
            <a:avLst>
              <a:gd name="adj" fmla="val 4762"/>
            </a:avLst>
          </a:prstGeom>
          <a:solidFill>
            <a:srgbClr val="FFFFFF"/>
          </a:solidFill>
          <a:ln w="12700">
            <a:solidFill>
              <a:srgbClr val="ECE6DE"/>
            </a:solidFill>
            <a:prstDash val="solid"/>
          </a:ln>
        </p:spPr>
      </p:sp>
      <p:sp>
        <p:nvSpPr>
          <p:cNvPr id="15" name="Shape 10"/>
          <p:cNvSpPr/>
          <p:nvPr/>
        </p:nvSpPr>
        <p:spPr>
          <a:xfrm>
            <a:off x="6190488" y="1444752"/>
            <a:ext cx="5468112" cy="310896"/>
          </a:xfrm>
          <a:prstGeom prst="rect">
            <a:avLst/>
          </a:prstGeom>
          <a:solidFill>
            <a:srgbClr val="50808E"/>
          </a:solidFill>
          <a:ln/>
        </p:spPr>
      </p:sp>
      <p:sp>
        <p:nvSpPr>
          <p:cNvPr id="16" name="Text 11"/>
          <p:cNvSpPr/>
          <p:nvPr/>
        </p:nvSpPr>
        <p:spPr>
          <a:xfrm>
            <a:off x="6327648" y="1444752"/>
            <a:ext cx="5193792" cy="310896"/>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CATEGORY</a:t>
            </a:r>
            <a:endParaRPr lang="en-US" sz="1250" dirty="0"/>
          </a:p>
        </p:txBody>
      </p:sp>
      <p:graphicFrame>
        <p:nvGraphicFramePr>
          <p:cNvPr id="34" name="Table 2"/>
          <p:cNvGraphicFramePr>
            <a:graphicFrameLocks noGrp="1"/>
          </p:cNvGraphicFramePr>
          <p:nvPr>
            <p:extLst>
              <p:ext uri="{D42A27DB-BD31-4B8C-83A1-F6EECF244321}">
                <p14:modId xmlns:p14="http://schemas.microsoft.com/office/powerpoint/2010/main" val="1579011935"/>
              </p:ext>
            </p:extLst>
          </p:nvPr>
        </p:nvGraphicFramePr>
        <p:xfrm>
          <a:off x="6300216" y="1755648"/>
          <a:ext cx="5248656" cy="804672"/>
        </p:xfrm>
        <a:graphic>
          <a:graphicData uri="http://schemas.openxmlformats.org/drawingml/2006/table">
            <a:tbl>
              <a:tblPr/>
              <a:tblGrid>
                <a:gridCol w="3464113"/>
                <a:gridCol w="1784543"/>
              </a:tblGrid>
              <a:tr h="201168">
                <a:tc>
                  <a:txBody>
                    <a:bodyPr/>
                    <a:lstStyle/>
                    <a:p>
                      <a:pPr indent="0" marL="0">
                        <a:buNone/>
                      </a:pPr>
                      <a:r>
                        <a:rPr lang="en-US" sz="950" b="1" dirty="0">
                          <a:solidFill>
                            <a:srgbClr val="5B6B6E"/>
                          </a:solidFill>
                          <a:latin typeface="Calibri" pitchFamily="34" charset="0"/>
                          <a:ea typeface="Calibri" pitchFamily="34" charset="-122"/>
                          <a:cs typeface="Calibri" pitchFamily="34" charset="-120"/>
                        </a:rPr>
                        <a:t>Column</a:t>
                      </a:r>
                      <a:endParaRPr lang="en-US" sz="95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50" b="1" dirty="0">
                          <a:solidFill>
                            <a:srgbClr val="5B6B6E"/>
                          </a:solidFill>
                          <a:latin typeface="Calibri" pitchFamily="34" charset="0"/>
                          <a:ea typeface="Calibri" pitchFamily="34" charset="-122"/>
                          <a:cs typeface="Calibri" pitchFamily="34" charset="-120"/>
                        </a:rPr>
                        <a:t>Key</a:t>
                      </a:r>
                      <a:endParaRPr lang="en-US" sz="95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r>
              <a:tr h="201168">
                <a:tc>
                  <a:txBody>
                    <a:bodyPr/>
                    <a:lstStyle/>
                    <a:p>
                      <a:pPr indent="0" marL="0">
                        <a:buNone/>
                      </a:pPr>
                      <a:r>
                        <a:rPr lang="en-US" sz="960" dirty="0">
                          <a:solidFill>
                            <a:srgbClr val="27343A"/>
                          </a:solidFill>
                          <a:latin typeface="Calibri" pitchFamily="34" charset="0"/>
                          <a:ea typeface="Calibri" pitchFamily="34" charset="-122"/>
                          <a:cs typeface="Calibri" pitchFamily="34" charset="-120"/>
                        </a:rPr>
                        <a:t>category_id</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60" b="1" dirty="0">
                          <a:solidFill>
                            <a:srgbClr val="6D2E46"/>
                          </a:solidFill>
                          <a:latin typeface="Calibri" pitchFamily="34" charset="0"/>
                          <a:ea typeface="Calibri" pitchFamily="34" charset="-122"/>
                          <a:cs typeface="Calibri" pitchFamily="34" charset="-120"/>
                        </a:rPr>
                        <a:t>PK</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r>
              <a:tr h="201168">
                <a:tc>
                  <a:txBody>
                    <a:bodyPr/>
                    <a:lstStyle/>
                    <a:p>
                      <a:pPr indent="0" marL="0">
                        <a:buNone/>
                      </a:pPr>
                      <a:r>
                        <a:rPr lang="en-US" sz="960" dirty="0">
                          <a:solidFill>
                            <a:srgbClr val="27343A"/>
                          </a:solidFill>
                          <a:latin typeface="Calibri" pitchFamily="34" charset="0"/>
                          <a:ea typeface="Calibri" pitchFamily="34" charset="-122"/>
                          <a:cs typeface="Calibri" pitchFamily="34" charset="-120"/>
                        </a:rPr>
                        <a:t>category_name</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60" b="1" dirty="0">
                          <a:solidFill>
                            <a:srgbClr val="69A297"/>
                          </a:solidFill>
                          <a:latin typeface="Calibri" pitchFamily="34" charset="0"/>
                          <a:ea typeface="Calibri" pitchFamily="34" charset="-122"/>
                          <a:cs typeface="Calibri" pitchFamily="34" charset="-120"/>
                        </a:rPr>
                        <a:t>UNIQUE</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r>
              <a:tr h="201168">
                <a:tc>
                  <a:txBody>
                    <a:bodyPr/>
                    <a:lstStyle/>
                    <a:p>
                      <a:pPr indent="0" marL="0">
                        <a:buNone/>
                      </a:pPr>
                      <a:r>
                        <a:rPr lang="en-US" sz="960" dirty="0">
                          <a:solidFill>
                            <a:srgbClr val="27343A"/>
                          </a:solidFill>
                          <a:latin typeface="Calibri" pitchFamily="34" charset="0"/>
                          <a:ea typeface="Calibri" pitchFamily="34" charset="-122"/>
                          <a:cs typeface="Calibri" pitchFamily="34" charset="-120"/>
                        </a:rPr>
                        <a:t>description</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r>
            </a:tbl>
          </a:graphicData>
        </a:graphic>
      </p:graphicFrame>
      <p:sp>
        <p:nvSpPr>
          <p:cNvPr id="18" name="Shape 12"/>
          <p:cNvSpPr/>
          <p:nvPr/>
        </p:nvSpPr>
        <p:spPr>
          <a:xfrm>
            <a:off x="6190488" y="2743200"/>
            <a:ext cx="5468112" cy="1664208"/>
          </a:xfrm>
          <a:prstGeom prst="roundRect">
            <a:avLst>
              <a:gd name="adj" fmla="val 3297"/>
            </a:avLst>
          </a:prstGeom>
          <a:solidFill>
            <a:srgbClr val="FFFFFF"/>
          </a:solidFill>
          <a:ln w="12700">
            <a:solidFill>
              <a:srgbClr val="ECE6DE"/>
            </a:solidFill>
            <a:prstDash val="solid"/>
          </a:ln>
        </p:spPr>
      </p:sp>
      <p:sp>
        <p:nvSpPr>
          <p:cNvPr id="19" name="Shape 13"/>
          <p:cNvSpPr/>
          <p:nvPr/>
        </p:nvSpPr>
        <p:spPr>
          <a:xfrm>
            <a:off x="6190488" y="2743200"/>
            <a:ext cx="5468112" cy="310896"/>
          </a:xfrm>
          <a:prstGeom prst="rect">
            <a:avLst/>
          </a:prstGeom>
          <a:solidFill>
            <a:srgbClr val="50808E"/>
          </a:solidFill>
          <a:ln/>
        </p:spPr>
      </p:sp>
      <p:sp>
        <p:nvSpPr>
          <p:cNvPr id="20" name="Text 14"/>
          <p:cNvSpPr/>
          <p:nvPr/>
        </p:nvSpPr>
        <p:spPr>
          <a:xfrm>
            <a:off x="6327648" y="2743200"/>
            <a:ext cx="5193792" cy="310896"/>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STAFF</a:t>
            </a:r>
            <a:endParaRPr lang="en-US" sz="1250" dirty="0"/>
          </a:p>
        </p:txBody>
      </p:sp>
      <p:graphicFrame>
        <p:nvGraphicFramePr>
          <p:cNvPr id="45" name="Table 3"/>
          <p:cNvGraphicFramePr>
            <a:graphicFrameLocks noGrp="1"/>
          </p:cNvGraphicFramePr>
          <p:nvPr>
            <p:extLst>
              <p:ext uri="{D42A27DB-BD31-4B8C-83A1-F6EECF244321}">
                <p14:modId xmlns:p14="http://schemas.microsoft.com/office/powerpoint/2010/main" val="1579011935"/>
              </p:ext>
            </p:extLst>
          </p:nvPr>
        </p:nvGraphicFramePr>
        <p:xfrm>
          <a:off x="6300216" y="3054096"/>
          <a:ext cx="5248656" cy="1316736"/>
        </p:xfrm>
        <a:graphic>
          <a:graphicData uri="http://schemas.openxmlformats.org/drawingml/2006/table">
            <a:tbl>
              <a:tblPr/>
              <a:tblGrid>
                <a:gridCol w="3464113"/>
                <a:gridCol w="1784543"/>
              </a:tblGrid>
              <a:tr h="219456">
                <a:tc>
                  <a:txBody>
                    <a:bodyPr/>
                    <a:lstStyle/>
                    <a:p>
                      <a:pPr indent="0" marL="0">
                        <a:buNone/>
                      </a:pPr>
                      <a:r>
                        <a:rPr lang="en-US" sz="950" b="1" dirty="0">
                          <a:solidFill>
                            <a:srgbClr val="5B6B6E"/>
                          </a:solidFill>
                          <a:latin typeface="Calibri" pitchFamily="34" charset="0"/>
                          <a:ea typeface="Calibri" pitchFamily="34" charset="-122"/>
                          <a:cs typeface="Calibri" pitchFamily="34" charset="-120"/>
                        </a:rPr>
                        <a:t>Column</a:t>
                      </a:r>
                      <a:endParaRPr lang="en-US" sz="95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50" b="1" dirty="0">
                          <a:solidFill>
                            <a:srgbClr val="5B6B6E"/>
                          </a:solidFill>
                          <a:latin typeface="Calibri" pitchFamily="34" charset="0"/>
                          <a:ea typeface="Calibri" pitchFamily="34" charset="-122"/>
                          <a:cs typeface="Calibri" pitchFamily="34" charset="-120"/>
                        </a:rPr>
                        <a:t>Key</a:t>
                      </a:r>
                      <a:endParaRPr lang="en-US" sz="95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r>
              <a:tr h="219456">
                <a:tc>
                  <a:txBody>
                    <a:bodyPr/>
                    <a:lstStyle/>
                    <a:p>
                      <a:pPr indent="0" marL="0">
                        <a:buNone/>
                      </a:pPr>
                      <a:r>
                        <a:rPr lang="en-US" sz="960" dirty="0">
                          <a:solidFill>
                            <a:srgbClr val="27343A"/>
                          </a:solidFill>
                          <a:latin typeface="Calibri" pitchFamily="34" charset="0"/>
                          <a:ea typeface="Calibri" pitchFamily="34" charset="-122"/>
                          <a:cs typeface="Calibri" pitchFamily="34" charset="-120"/>
                        </a:rPr>
                        <a:t>staff_id</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60" b="1" dirty="0">
                          <a:solidFill>
                            <a:srgbClr val="6D2E46"/>
                          </a:solidFill>
                          <a:latin typeface="Calibri" pitchFamily="34" charset="0"/>
                          <a:ea typeface="Calibri" pitchFamily="34" charset="-122"/>
                          <a:cs typeface="Calibri" pitchFamily="34" charset="-120"/>
                        </a:rPr>
                        <a:t>PK</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r>
              <a:tr h="219456">
                <a:tc>
                  <a:txBody>
                    <a:bodyPr/>
                    <a:lstStyle/>
                    <a:p>
                      <a:pPr indent="0" marL="0">
                        <a:buNone/>
                      </a:pPr>
                      <a:r>
                        <a:rPr lang="en-US" sz="960" dirty="0">
                          <a:solidFill>
                            <a:srgbClr val="27343A"/>
                          </a:solidFill>
                          <a:latin typeface="Calibri" pitchFamily="34" charset="0"/>
                          <a:ea typeface="Calibri" pitchFamily="34" charset="-122"/>
                          <a:cs typeface="Calibri" pitchFamily="34" charset="-120"/>
                        </a:rPr>
                        <a:t>name</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r>
              <a:tr h="219456">
                <a:tc>
                  <a:txBody>
                    <a:bodyPr/>
                    <a:lstStyle/>
                    <a:p>
                      <a:pPr indent="0" marL="0">
                        <a:buNone/>
                      </a:pPr>
                      <a:r>
                        <a:rPr lang="en-US" sz="960" dirty="0">
                          <a:solidFill>
                            <a:srgbClr val="27343A"/>
                          </a:solidFill>
                          <a:latin typeface="Calibri" pitchFamily="34" charset="0"/>
                          <a:ea typeface="Calibri" pitchFamily="34" charset="-122"/>
                          <a:cs typeface="Calibri" pitchFamily="34" charset="-120"/>
                        </a:rPr>
                        <a:t>phone</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60" b="1" dirty="0">
                          <a:solidFill>
                            <a:srgbClr val="69A297"/>
                          </a:solidFill>
                          <a:latin typeface="Calibri" pitchFamily="34" charset="0"/>
                          <a:ea typeface="Calibri" pitchFamily="34" charset="-122"/>
                          <a:cs typeface="Calibri" pitchFamily="34" charset="-120"/>
                        </a:rPr>
                        <a:t>UNIQUE</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r>
              <a:tr h="219456">
                <a:tc>
                  <a:txBody>
                    <a:bodyPr/>
                    <a:lstStyle/>
                    <a:p>
                      <a:pPr indent="0" marL="0">
                        <a:buNone/>
                      </a:pPr>
                      <a:r>
                        <a:rPr lang="en-US" sz="960" dirty="0">
                          <a:solidFill>
                            <a:srgbClr val="27343A"/>
                          </a:solidFill>
                          <a:latin typeface="Calibri" pitchFamily="34" charset="0"/>
                          <a:ea typeface="Calibri" pitchFamily="34" charset="-122"/>
                          <a:cs typeface="Calibri" pitchFamily="34" charset="-120"/>
                        </a:rPr>
                        <a:t>designation</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r>
              <a:tr h="219456">
                <a:tc>
                  <a:txBody>
                    <a:bodyPr/>
                    <a:lstStyle/>
                    <a:p>
                      <a:pPr indent="0" marL="0">
                        <a:buNone/>
                      </a:pPr>
                      <a:r>
                        <a:rPr lang="en-US" sz="960" dirty="0">
                          <a:solidFill>
                            <a:srgbClr val="27343A"/>
                          </a:solidFill>
                          <a:latin typeface="Calibri" pitchFamily="34" charset="0"/>
                          <a:ea typeface="Calibri" pitchFamily="34" charset="-122"/>
                          <a:cs typeface="Calibri" pitchFamily="34" charset="-120"/>
                        </a:rPr>
                        <a:t>hire_date</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r>
            </a:tbl>
          </a:graphicData>
        </a:graphic>
      </p:graphicFrame>
      <p:sp>
        <p:nvSpPr>
          <p:cNvPr id="22" name="Shape 15"/>
          <p:cNvSpPr/>
          <p:nvPr/>
        </p:nvSpPr>
        <p:spPr>
          <a:xfrm>
            <a:off x="6190488" y="4553712"/>
            <a:ext cx="5468112" cy="896112"/>
          </a:xfrm>
          <a:prstGeom prst="roundRect">
            <a:avLst>
              <a:gd name="adj" fmla="val 6122"/>
            </a:avLst>
          </a:prstGeom>
          <a:solidFill>
            <a:srgbClr val="FFFFFF"/>
          </a:solidFill>
          <a:ln w="12700">
            <a:solidFill>
              <a:srgbClr val="ECE6DE"/>
            </a:solidFill>
            <a:prstDash val="solid"/>
          </a:ln>
        </p:spPr>
      </p:sp>
      <p:sp>
        <p:nvSpPr>
          <p:cNvPr id="23" name="Shape 16"/>
          <p:cNvSpPr/>
          <p:nvPr/>
        </p:nvSpPr>
        <p:spPr>
          <a:xfrm>
            <a:off x="6190488" y="4553712"/>
            <a:ext cx="5468112" cy="310896"/>
          </a:xfrm>
          <a:prstGeom prst="rect">
            <a:avLst/>
          </a:prstGeom>
          <a:solidFill>
            <a:srgbClr val="50808E"/>
          </a:solidFill>
          <a:ln/>
        </p:spPr>
      </p:sp>
      <p:sp>
        <p:nvSpPr>
          <p:cNvPr id="24" name="Text 17"/>
          <p:cNvSpPr/>
          <p:nvPr/>
        </p:nvSpPr>
        <p:spPr>
          <a:xfrm>
            <a:off x="6327648" y="4553712"/>
            <a:ext cx="5193792" cy="310896"/>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SKILL</a:t>
            </a:r>
            <a:endParaRPr lang="en-US" sz="1250" dirty="0"/>
          </a:p>
        </p:txBody>
      </p:sp>
      <p:graphicFrame>
        <p:nvGraphicFramePr>
          <p:cNvPr id="56" name="Table 4"/>
          <p:cNvGraphicFramePr>
            <a:graphicFrameLocks noGrp="1"/>
          </p:cNvGraphicFramePr>
          <p:nvPr>
            <p:extLst>
              <p:ext uri="{D42A27DB-BD31-4B8C-83A1-F6EECF244321}">
                <p14:modId xmlns:p14="http://schemas.microsoft.com/office/powerpoint/2010/main" val="1579011935"/>
              </p:ext>
            </p:extLst>
          </p:nvPr>
        </p:nvGraphicFramePr>
        <p:xfrm>
          <a:off x="6300216" y="4864608"/>
          <a:ext cx="5248656" cy="548640"/>
        </p:xfrm>
        <a:graphic>
          <a:graphicData uri="http://schemas.openxmlformats.org/drawingml/2006/table">
            <a:tbl>
              <a:tblPr/>
              <a:tblGrid>
                <a:gridCol w="3464113"/>
                <a:gridCol w="1784543"/>
              </a:tblGrid>
              <a:tr h="182880">
                <a:tc>
                  <a:txBody>
                    <a:bodyPr/>
                    <a:lstStyle/>
                    <a:p>
                      <a:pPr indent="0" marL="0">
                        <a:buNone/>
                      </a:pPr>
                      <a:r>
                        <a:rPr lang="en-US" sz="950" b="1" dirty="0">
                          <a:solidFill>
                            <a:srgbClr val="5B6B6E"/>
                          </a:solidFill>
                          <a:latin typeface="Calibri" pitchFamily="34" charset="0"/>
                          <a:ea typeface="Calibri" pitchFamily="34" charset="-122"/>
                          <a:cs typeface="Calibri" pitchFamily="34" charset="-120"/>
                        </a:rPr>
                        <a:t>Column</a:t>
                      </a:r>
                      <a:endParaRPr lang="en-US" sz="95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50" b="1" dirty="0">
                          <a:solidFill>
                            <a:srgbClr val="5B6B6E"/>
                          </a:solidFill>
                          <a:latin typeface="Calibri" pitchFamily="34" charset="0"/>
                          <a:ea typeface="Calibri" pitchFamily="34" charset="-122"/>
                          <a:cs typeface="Calibri" pitchFamily="34" charset="-120"/>
                        </a:rPr>
                        <a:t>Key</a:t>
                      </a:r>
                      <a:endParaRPr lang="en-US" sz="95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r>
              <a:tr h="182880">
                <a:tc>
                  <a:txBody>
                    <a:bodyPr/>
                    <a:lstStyle/>
                    <a:p>
                      <a:pPr indent="0" marL="0">
                        <a:buNone/>
                      </a:pPr>
                      <a:r>
                        <a:rPr lang="en-US" sz="960" dirty="0">
                          <a:solidFill>
                            <a:srgbClr val="27343A"/>
                          </a:solidFill>
                          <a:latin typeface="Calibri" pitchFamily="34" charset="0"/>
                          <a:ea typeface="Calibri" pitchFamily="34" charset="-122"/>
                          <a:cs typeface="Calibri" pitchFamily="34" charset="-120"/>
                        </a:rPr>
                        <a:t>skill_id</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60" b="1" dirty="0">
                          <a:solidFill>
                            <a:srgbClr val="6D2E46"/>
                          </a:solidFill>
                          <a:latin typeface="Calibri" pitchFamily="34" charset="0"/>
                          <a:ea typeface="Calibri" pitchFamily="34" charset="-122"/>
                          <a:cs typeface="Calibri" pitchFamily="34" charset="-120"/>
                        </a:rPr>
                        <a:t>PK</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r>
              <a:tr h="182880">
                <a:tc>
                  <a:txBody>
                    <a:bodyPr/>
                    <a:lstStyle/>
                    <a:p>
                      <a:pPr indent="0" marL="0">
                        <a:buNone/>
                      </a:pPr>
                      <a:r>
                        <a:rPr lang="en-US" sz="960" dirty="0">
                          <a:solidFill>
                            <a:srgbClr val="27343A"/>
                          </a:solidFill>
                          <a:latin typeface="Calibri" pitchFamily="34" charset="0"/>
                          <a:ea typeface="Calibri" pitchFamily="34" charset="-122"/>
                          <a:cs typeface="Calibri" pitchFamily="34" charset="-120"/>
                        </a:rPr>
                        <a:t>skill_name</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60" b="1" dirty="0">
                          <a:solidFill>
                            <a:srgbClr val="69A297"/>
                          </a:solidFill>
                          <a:latin typeface="Calibri" pitchFamily="34" charset="0"/>
                          <a:ea typeface="Calibri" pitchFamily="34" charset="-122"/>
                          <a:cs typeface="Calibri" pitchFamily="34" charset="-120"/>
                        </a:rPr>
                        <a:t>UNIQUE</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r>
            </a:tbl>
          </a:graphicData>
        </a:graphic>
      </p:graphicFrame>
      <p:sp>
        <p:nvSpPr>
          <p:cNvPr id="27" name="Text 18"/>
          <p:cNvSpPr/>
          <p:nvPr/>
        </p:nvSpPr>
        <p:spPr>
          <a:xfrm>
            <a:off x="502920" y="6473952"/>
            <a:ext cx="8229600" cy="274320"/>
          </a:xfrm>
          <a:prstGeom prst="rect">
            <a:avLst/>
          </a:prstGeom>
          <a:noFill/>
          <a:ln/>
        </p:spPr>
        <p:txBody>
          <a:bodyPr wrap="square" rtlCol="0" anchor="ctr"/>
          <a:lstStyle/>
          <a:p>
            <a:pPr indent="0" marL="0">
              <a:buNone/>
            </a:pPr>
            <a:r>
              <a:rPr lang="en-US" sz="900" spc="100" kern="0" dirty="0">
                <a:solidFill>
                  <a:srgbClr val="5B6B6E"/>
                </a:solidFill>
                <a:latin typeface="Calibri" pitchFamily="34" charset="0"/>
                <a:ea typeface="Calibri" pitchFamily="34" charset="-122"/>
                <a:cs typeface="Calibri" pitchFamily="34" charset="-120"/>
              </a:rPr>
              <a:t>SALON &amp; SPA APPOINTMENT MANAGEMENT SYSTEM  |  REVIEW 1</a:t>
            </a:r>
            <a:endParaRPr lang="en-US" sz="900" dirty="0"/>
          </a:p>
        </p:txBody>
      </p:sp>
      <p:sp>
        <p:nvSpPr>
          <p:cNvPr id="28" name="Text 19"/>
          <p:cNvSpPr/>
          <p:nvPr/>
        </p:nvSpPr>
        <p:spPr>
          <a:xfrm>
            <a:off x="11228832" y="6473952"/>
            <a:ext cx="457200" cy="274320"/>
          </a:xfrm>
          <a:prstGeom prst="rect">
            <a:avLst/>
          </a:prstGeom>
          <a:noFill/>
          <a:ln/>
        </p:spPr>
        <p:txBody>
          <a:bodyPr wrap="square" rtlCol="0" anchor="ctr"/>
          <a:lstStyle/>
          <a:p>
            <a:pPr algn="r" indent="0" marL="0">
              <a:buNone/>
            </a:pPr>
            <a:r>
              <a:rPr lang="en-US" sz="900" dirty="0">
                <a:solidFill>
                  <a:srgbClr val="5B6B6E"/>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02920" y="384048"/>
            <a:ext cx="8229600" cy="292608"/>
          </a:xfrm>
          <a:prstGeom prst="rect">
            <a:avLst/>
          </a:prstGeom>
          <a:noFill/>
          <a:ln/>
        </p:spPr>
        <p:txBody>
          <a:bodyPr wrap="square" rtlCol="0" anchor="ctr"/>
          <a:lstStyle/>
          <a:p>
            <a:pPr indent="0" marL="0">
              <a:buNone/>
            </a:pPr>
            <a:r>
              <a:rPr lang="en-US" sz="1200" b="1" spc="200" kern="0" dirty="0">
                <a:solidFill>
                  <a:srgbClr val="6D2E46"/>
                </a:solidFill>
                <a:latin typeface="Calibri" pitchFamily="34" charset="0"/>
                <a:ea typeface="Calibri" pitchFamily="34" charset="-122"/>
                <a:cs typeface="Calibri" pitchFamily="34" charset="-120"/>
              </a:rPr>
              <a:t>LOGICAL DESIGN</a:t>
            </a:r>
            <a:endParaRPr lang="en-US" sz="1200" dirty="0"/>
          </a:p>
        </p:txBody>
      </p:sp>
      <p:sp>
        <p:nvSpPr>
          <p:cNvPr id="3" name="Text 1"/>
          <p:cNvSpPr txBox="1"/>
          <p:nvPr/>
        </p:nvSpPr>
        <p:spPr>
          <a:xfrm>
            <a:off x="502920" y="658368"/>
            <a:ext cx="9692640" cy="685800"/>
          </a:xfrm>
          <a:prstGeom prst="rect">
            <a:avLst/>
          </a:prstGeom>
          <a:noFill/>
          <a:ln/>
        </p:spPr>
        <p:txBody>
          <a:bodyPr wrap="square" rtlCol="0" anchor="ctr"/>
          <a:lstStyle/>
          <a:p>
            <a:pPr indent="0" marL="0">
              <a:buNone/>
            </a:pPr>
            <a:r>
              <a:rPr lang="en-US" sz="3000" b="1" dirty="0">
                <a:solidFill>
                  <a:srgbClr val="27343A"/>
                </a:solidFill>
                <a:latin typeface="Cambria" pitchFamily="34" charset="0"/>
                <a:ea typeface="Cambria" pitchFamily="34" charset="-122"/>
                <a:cs typeface="Cambria" pitchFamily="34" charset="-120"/>
              </a:rPr>
              <a:t>Initial Relational Schema — Part 2</a:t>
            </a:r>
            <a:endParaRPr lang="en-US" sz="3000" dirty="0"/>
          </a:p>
        </p:txBody>
      </p:sp>
      <p:sp>
        <p:nvSpPr>
          <p:cNvPr id="4" name="Shape 2"/>
          <p:cNvSpPr/>
          <p:nvPr/>
        </p:nvSpPr>
        <p:spPr>
          <a:xfrm>
            <a:off x="11119104" y="457200"/>
            <a:ext cx="566928" cy="566928"/>
          </a:xfrm>
          <a:prstGeom prst="ellipse">
            <a:avLst/>
          </a:prstGeom>
          <a:solidFill>
            <a:srgbClr val="6D2E46"/>
          </a:solidFill>
          <a:ln/>
        </p:spPr>
      </p:sp>
      <p:pic>
        <p:nvPicPr>
          <p:cNvPr id="5" name="Image 0" descr="/tmp/claude-0/-home-claude/12ac4f2c-a806-5c6e-9789-8d976e37a451/scratchpad/salon_ppt/icons/table.png">    </p:cNvPr>
          <p:cNvPicPr>
            <a:picLocks noChangeAspect="1"/>
          </p:cNvPicPr>
          <p:nvPr/>
        </p:nvPicPr>
        <p:blipFill>
          <a:blip r:embed="rId1"/>
          <a:stretch>
            <a:fillRect/>
          </a:stretch>
        </p:blipFill>
        <p:spPr>
          <a:xfrm>
            <a:off x="11187135" y="525231"/>
            <a:ext cx="430865" cy="430865"/>
          </a:xfrm>
          <a:prstGeom prst="rect">
            <a:avLst/>
          </a:prstGeom>
        </p:spPr>
      </p:pic>
      <p:sp>
        <p:nvSpPr>
          <p:cNvPr id="6" name="Shape 3"/>
          <p:cNvSpPr/>
          <p:nvPr/>
        </p:nvSpPr>
        <p:spPr>
          <a:xfrm>
            <a:off x="502920" y="1444752"/>
            <a:ext cx="5468112" cy="2176272"/>
          </a:xfrm>
          <a:prstGeom prst="roundRect">
            <a:avLst>
              <a:gd name="adj" fmla="val 2521"/>
            </a:avLst>
          </a:prstGeom>
          <a:solidFill>
            <a:srgbClr val="FFFFFF"/>
          </a:solidFill>
          <a:ln w="12700">
            <a:solidFill>
              <a:srgbClr val="ECE6DE"/>
            </a:solidFill>
            <a:prstDash val="solid"/>
          </a:ln>
        </p:spPr>
      </p:sp>
      <p:sp>
        <p:nvSpPr>
          <p:cNvPr id="7" name="Shape 4"/>
          <p:cNvSpPr/>
          <p:nvPr/>
        </p:nvSpPr>
        <p:spPr>
          <a:xfrm>
            <a:off x="502920" y="1444752"/>
            <a:ext cx="5468112" cy="310896"/>
          </a:xfrm>
          <a:prstGeom prst="rect">
            <a:avLst/>
          </a:prstGeom>
          <a:solidFill>
            <a:srgbClr val="50808E"/>
          </a:solidFill>
          <a:ln/>
        </p:spPr>
      </p:sp>
      <p:sp>
        <p:nvSpPr>
          <p:cNvPr id="8" name="Text 5"/>
          <p:cNvSpPr/>
          <p:nvPr/>
        </p:nvSpPr>
        <p:spPr>
          <a:xfrm>
            <a:off x="640080" y="1444752"/>
            <a:ext cx="5193792" cy="310896"/>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APPOINTMENT</a:t>
            </a:r>
            <a:endParaRPr lang="en-US" sz="12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12648" y="1755648"/>
          <a:ext cx="5248656" cy="1828800"/>
        </p:xfrm>
        <a:graphic>
          <a:graphicData uri="http://schemas.openxmlformats.org/drawingml/2006/table">
            <a:tbl>
              <a:tblPr/>
              <a:tblGrid>
                <a:gridCol w="3464113"/>
                <a:gridCol w="1784543"/>
              </a:tblGrid>
              <a:tr h="228600">
                <a:tc>
                  <a:txBody>
                    <a:bodyPr/>
                    <a:lstStyle/>
                    <a:p>
                      <a:pPr indent="0" marL="0">
                        <a:buNone/>
                      </a:pPr>
                      <a:r>
                        <a:rPr lang="en-US" sz="950" b="1" dirty="0">
                          <a:solidFill>
                            <a:srgbClr val="5B6B6E"/>
                          </a:solidFill>
                          <a:latin typeface="Calibri" pitchFamily="34" charset="0"/>
                          <a:ea typeface="Calibri" pitchFamily="34" charset="-122"/>
                          <a:cs typeface="Calibri" pitchFamily="34" charset="-120"/>
                        </a:rPr>
                        <a:t>Column</a:t>
                      </a:r>
                      <a:endParaRPr lang="en-US" sz="95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50" b="1" dirty="0">
                          <a:solidFill>
                            <a:srgbClr val="5B6B6E"/>
                          </a:solidFill>
                          <a:latin typeface="Calibri" pitchFamily="34" charset="0"/>
                          <a:ea typeface="Calibri" pitchFamily="34" charset="-122"/>
                          <a:cs typeface="Calibri" pitchFamily="34" charset="-120"/>
                        </a:rPr>
                        <a:t>Key</a:t>
                      </a:r>
                      <a:endParaRPr lang="en-US" sz="95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r>
              <a:tr h="228600">
                <a:tc>
                  <a:txBody>
                    <a:bodyPr/>
                    <a:lstStyle/>
                    <a:p>
                      <a:pPr indent="0" marL="0">
                        <a:buNone/>
                      </a:pPr>
                      <a:r>
                        <a:rPr lang="en-US" sz="960" dirty="0">
                          <a:solidFill>
                            <a:srgbClr val="27343A"/>
                          </a:solidFill>
                          <a:latin typeface="Calibri" pitchFamily="34" charset="0"/>
                          <a:ea typeface="Calibri" pitchFamily="34" charset="-122"/>
                          <a:cs typeface="Calibri" pitchFamily="34" charset="-120"/>
                        </a:rPr>
                        <a:t>appointment_id</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60" b="1" dirty="0">
                          <a:solidFill>
                            <a:srgbClr val="6D2E46"/>
                          </a:solidFill>
                          <a:latin typeface="Calibri" pitchFamily="34" charset="0"/>
                          <a:ea typeface="Calibri" pitchFamily="34" charset="-122"/>
                          <a:cs typeface="Calibri" pitchFamily="34" charset="-120"/>
                        </a:rPr>
                        <a:t>PK</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r>
              <a:tr h="228600">
                <a:tc>
                  <a:txBody>
                    <a:bodyPr/>
                    <a:lstStyle/>
                    <a:p>
                      <a:pPr indent="0" marL="0">
                        <a:buNone/>
                      </a:pPr>
                      <a:r>
                        <a:rPr lang="en-US" sz="960" dirty="0">
                          <a:solidFill>
                            <a:srgbClr val="27343A"/>
                          </a:solidFill>
                          <a:latin typeface="Calibri" pitchFamily="34" charset="0"/>
                          <a:ea typeface="Calibri" pitchFamily="34" charset="-122"/>
                          <a:cs typeface="Calibri" pitchFamily="34" charset="-120"/>
                        </a:rPr>
                        <a:t>customer_id</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60" b="1" dirty="0">
                          <a:solidFill>
                            <a:srgbClr val="69A297"/>
                          </a:solidFill>
                          <a:latin typeface="Calibri" pitchFamily="34" charset="0"/>
                          <a:ea typeface="Calibri" pitchFamily="34" charset="-122"/>
                          <a:cs typeface="Calibri" pitchFamily="34" charset="-120"/>
                        </a:rPr>
                        <a:t>FK</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r>
              <a:tr h="228600">
                <a:tc>
                  <a:txBody>
                    <a:bodyPr/>
                    <a:lstStyle/>
                    <a:p>
                      <a:pPr indent="0" marL="0">
                        <a:buNone/>
                      </a:pPr>
                      <a:r>
                        <a:rPr lang="en-US" sz="960" dirty="0">
                          <a:solidFill>
                            <a:srgbClr val="27343A"/>
                          </a:solidFill>
                          <a:latin typeface="Calibri" pitchFamily="34" charset="0"/>
                          <a:ea typeface="Calibri" pitchFamily="34" charset="-122"/>
                          <a:cs typeface="Calibri" pitchFamily="34" charset="-120"/>
                        </a:rPr>
                        <a:t>staff_id</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60" b="1" dirty="0">
                          <a:solidFill>
                            <a:srgbClr val="69A297"/>
                          </a:solidFill>
                          <a:latin typeface="Calibri" pitchFamily="34" charset="0"/>
                          <a:ea typeface="Calibri" pitchFamily="34" charset="-122"/>
                          <a:cs typeface="Calibri" pitchFamily="34" charset="-120"/>
                        </a:rPr>
                        <a:t>FK</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r>
              <a:tr h="228600">
                <a:tc>
                  <a:txBody>
                    <a:bodyPr/>
                    <a:lstStyle/>
                    <a:p>
                      <a:pPr indent="0" marL="0">
                        <a:buNone/>
                      </a:pPr>
                      <a:r>
                        <a:rPr lang="en-US" sz="960" dirty="0">
                          <a:solidFill>
                            <a:srgbClr val="27343A"/>
                          </a:solidFill>
                          <a:latin typeface="Calibri" pitchFamily="34" charset="0"/>
                          <a:ea typeface="Calibri" pitchFamily="34" charset="-122"/>
                          <a:cs typeface="Calibri" pitchFamily="34" charset="-120"/>
                        </a:rPr>
                        <a:t>service_id</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60" b="1" dirty="0">
                          <a:solidFill>
                            <a:srgbClr val="69A297"/>
                          </a:solidFill>
                          <a:latin typeface="Calibri" pitchFamily="34" charset="0"/>
                          <a:ea typeface="Calibri" pitchFamily="34" charset="-122"/>
                          <a:cs typeface="Calibri" pitchFamily="34" charset="-120"/>
                        </a:rPr>
                        <a:t>FK</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r>
              <a:tr h="228600">
                <a:tc>
                  <a:txBody>
                    <a:bodyPr/>
                    <a:lstStyle/>
                    <a:p>
                      <a:pPr indent="0" marL="0">
                        <a:buNone/>
                      </a:pPr>
                      <a:r>
                        <a:rPr lang="en-US" sz="960" dirty="0">
                          <a:solidFill>
                            <a:srgbClr val="27343A"/>
                          </a:solidFill>
                          <a:latin typeface="Calibri" pitchFamily="34" charset="0"/>
                          <a:ea typeface="Calibri" pitchFamily="34" charset="-122"/>
                          <a:cs typeface="Calibri" pitchFamily="34" charset="-120"/>
                        </a:rPr>
                        <a:t>appt_date</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r>
              <a:tr h="228600">
                <a:tc>
                  <a:txBody>
                    <a:bodyPr/>
                    <a:lstStyle/>
                    <a:p>
                      <a:pPr indent="0" marL="0">
                        <a:buNone/>
                      </a:pPr>
                      <a:r>
                        <a:rPr lang="en-US" sz="960" dirty="0">
                          <a:solidFill>
                            <a:srgbClr val="27343A"/>
                          </a:solidFill>
                          <a:latin typeface="Calibri" pitchFamily="34" charset="0"/>
                          <a:ea typeface="Calibri" pitchFamily="34" charset="-122"/>
                          <a:cs typeface="Calibri" pitchFamily="34" charset="-120"/>
                        </a:rPr>
                        <a:t>start/end_time</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60" b="1" dirty="0">
                          <a:solidFill>
                            <a:srgbClr val="69A297"/>
                          </a:solidFill>
                          <a:latin typeface="Calibri" pitchFamily="34" charset="0"/>
                          <a:ea typeface="Calibri" pitchFamily="34" charset="-122"/>
                          <a:cs typeface="Calibri" pitchFamily="34" charset="-120"/>
                        </a:rPr>
                        <a:t>CHECK</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r>
              <a:tr h="228600">
                <a:tc>
                  <a:txBody>
                    <a:bodyPr/>
                    <a:lstStyle/>
                    <a:p>
                      <a:pPr indent="0" marL="0">
                        <a:buNone/>
                      </a:pPr>
                      <a:r>
                        <a:rPr lang="en-US" sz="960" dirty="0">
                          <a:solidFill>
                            <a:srgbClr val="27343A"/>
                          </a:solidFill>
                          <a:latin typeface="Calibri" pitchFamily="34" charset="0"/>
                          <a:ea typeface="Calibri" pitchFamily="34" charset="-122"/>
                          <a:cs typeface="Calibri" pitchFamily="34" charset="-120"/>
                        </a:rPr>
                        <a:t>status</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60" b="1" dirty="0">
                          <a:solidFill>
                            <a:srgbClr val="69A297"/>
                          </a:solidFill>
                          <a:latin typeface="Calibri" pitchFamily="34" charset="0"/>
                          <a:ea typeface="Calibri" pitchFamily="34" charset="-122"/>
                          <a:cs typeface="Calibri" pitchFamily="34" charset="-120"/>
                        </a:rPr>
                        <a:t>DEFAULT</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r>
            </a:tbl>
          </a:graphicData>
        </a:graphic>
      </p:graphicFrame>
      <p:sp>
        <p:nvSpPr>
          <p:cNvPr id="10" name="Shape 6"/>
          <p:cNvSpPr/>
          <p:nvPr/>
        </p:nvSpPr>
        <p:spPr>
          <a:xfrm>
            <a:off x="502920" y="3767328"/>
            <a:ext cx="5468112" cy="1664208"/>
          </a:xfrm>
          <a:prstGeom prst="roundRect">
            <a:avLst>
              <a:gd name="adj" fmla="val 3297"/>
            </a:avLst>
          </a:prstGeom>
          <a:solidFill>
            <a:srgbClr val="FFFFFF"/>
          </a:solidFill>
          <a:ln w="12700">
            <a:solidFill>
              <a:srgbClr val="ECE6DE"/>
            </a:solidFill>
            <a:prstDash val="solid"/>
          </a:ln>
        </p:spPr>
      </p:sp>
      <p:sp>
        <p:nvSpPr>
          <p:cNvPr id="11" name="Shape 7"/>
          <p:cNvSpPr/>
          <p:nvPr/>
        </p:nvSpPr>
        <p:spPr>
          <a:xfrm>
            <a:off x="502920" y="3767328"/>
            <a:ext cx="5468112" cy="310896"/>
          </a:xfrm>
          <a:prstGeom prst="rect">
            <a:avLst/>
          </a:prstGeom>
          <a:solidFill>
            <a:srgbClr val="50808E"/>
          </a:solidFill>
          <a:ln/>
        </p:spPr>
      </p:sp>
      <p:sp>
        <p:nvSpPr>
          <p:cNvPr id="12" name="Text 8"/>
          <p:cNvSpPr/>
          <p:nvPr/>
        </p:nvSpPr>
        <p:spPr>
          <a:xfrm>
            <a:off x="640080" y="3767328"/>
            <a:ext cx="5193792" cy="310896"/>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SCHEDULE</a:t>
            </a:r>
            <a:endParaRPr lang="en-US" sz="1250" dirty="0"/>
          </a:p>
        </p:txBody>
      </p:sp>
      <p:graphicFrame>
        <p:nvGraphicFramePr>
          <p:cNvPr id="25" name="Table 1"/>
          <p:cNvGraphicFramePr>
            <a:graphicFrameLocks noGrp="1"/>
          </p:cNvGraphicFramePr>
          <p:nvPr>
            <p:extLst>
              <p:ext uri="{D42A27DB-BD31-4B8C-83A1-F6EECF244321}">
                <p14:modId xmlns:p14="http://schemas.microsoft.com/office/powerpoint/2010/main" val="1579011935"/>
              </p:ext>
            </p:extLst>
          </p:nvPr>
        </p:nvGraphicFramePr>
        <p:xfrm>
          <a:off x="612648" y="4078224"/>
          <a:ext cx="5248656" cy="1316736"/>
        </p:xfrm>
        <a:graphic>
          <a:graphicData uri="http://schemas.openxmlformats.org/drawingml/2006/table">
            <a:tbl>
              <a:tblPr/>
              <a:tblGrid>
                <a:gridCol w="3464113"/>
                <a:gridCol w="1784543"/>
              </a:tblGrid>
              <a:tr h="219456">
                <a:tc>
                  <a:txBody>
                    <a:bodyPr/>
                    <a:lstStyle/>
                    <a:p>
                      <a:pPr indent="0" marL="0">
                        <a:buNone/>
                      </a:pPr>
                      <a:r>
                        <a:rPr lang="en-US" sz="950" b="1" dirty="0">
                          <a:solidFill>
                            <a:srgbClr val="5B6B6E"/>
                          </a:solidFill>
                          <a:latin typeface="Calibri" pitchFamily="34" charset="0"/>
                          <a:ea typeface="Calibri" pitchFamily="34" charset="-122"/>
                          <a:cs typeface="Calibri" pitchFamily="34" charset="-120"/>
                        </a:rPr>
                        <a:t>Column</a:t>
                      </a:r>
                      <a:endParaRPr lang="en-US" sz="95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50" b="1" dirty="0">
                          <a:solidFill>
                            <a:srgbClr val="5B6B6E"/>
                          </a:solidFill>
                          <a:latin typeface="Calibri" pitchFamily="34" charset="0"/>
                          <a:ea typeface="Calibri" pitchFamily="34" charset="-122"/>
                          <a:cs typeface="Calibri" pitchFamily="34" charset="-120"/>
                        </a:rPr>
                        <a:t>Key</a:t>
                      </a:r>
                      <a:endParaRPr lang="en-US" sz="95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r>
              <a:tr h="219456">
                <a:tc>
                  <a:txBody>
                    <a:bodyPr/>
                    <a:lstStyle/>
                    <a:p>
                      <a:pPr indent="0" marL="0">
                        <a:buNone/>
                      </a:pPr>
                      <a:r>
                        <a:rPr lang="en-US" sz="960" dirty="0">
                          <a:solidFill>
                            <a:srgbClr val="27343A"/>
                          </a:solidFill>
                          <a:latin typeface="Calibri" pitchFamily="34" charset="0"/>
                          <a:ea typeface="Calibri" pitchFamily="34" charset="-122"/>
                          <a:cs typeface="Calibri" pitchFamily="34" charset="-120"/>
                        </a:rPr>
                        <a:t>schedule_id</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60" b="1" dirty="0">
                          <a:solidFill>
                            <a:srgbClr val="6D2E46"/>
                          </a:solidFill>
                          <a:latin typeface="Calibri" pitchFamily="34" charset="0"/>
                          <a:ea typeface="Calibri" pitchFamily="34" charset="-122"/>
                          <a:cs typeface="Calibri" pitchFamily="34" charset="-120"/>
                        </a:rPr>
                        <a:t>PK</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r>
              <a:tr h="219456">
                <a:tc>
                  <a:txBody>
                    <a:bodyPr/>
                    <a:lstStyle/>
                    <a:p>
                      <a:pPr indent="0" marL="0">
                        <a:buNone/>
                      </a:pPr>
                      <a:r>
                        <a:rPr lang="en-US" sz="960" dirty="0">
                          <a:solidFill>
                            <a:srgbClr val="27343A"/>
                          </a:solidFill>
                          <a:latin typeface="Calibri" pitchFamily="34" charset="0"/>
                          <a:ea typeface="Calibri" pitchFamily="34" charset="-122"/>
                          <a:cs typeface="Calibri" pitchFamily="34" charset="-120"/>
                        </a:rPr>
                        <a:t>staff_id</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60" b="1" dirty="0">
                          <a:solidFill>
                            <a:srgbClr val="69A297"/>
                          </a:solidFill>
                          <a:latin typeface="Calibri" pitchFamily="34" charset="0"/>
                          <a:ea typeface="Calibri" pitchFamily="34" charset="-122"/>
                          <a:cs typeface="Calibri" pitchFamily="34" charset="-120"/>
                        </a:rPr>
                        <a:t>FK</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r>
              <a:tr h="219456">
                <a:tc>
                  <a:txBody>
                    <a:bodyPr/>
                    <a:lstStyle/>
                    <a:p>
                      <a:pPr indent="0" marL="0">
                        <a:buNone/>
                      </a:pPr>
                      <a:r>
                        <a:rPr lang="en-US" sz="960" dirty="0">
                          <a:solidFill>
                            <a:srgbClr val="27343A"/>
                          </a:solidFill>
                          <a:latin typeface="Calibri" pitchFamily="34" charset="0"/>
                          <a:ea typeface="Calibri" pitchFamily="34" charset="-122"/>
                          <a:cs typeface="Calibri" pitchFamily="34" charset="-120"/>
                        </a:rPr>
                        <a:t>day_of_week</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r>
              <a:tr h="219456">
                <a:tc>
                  <a:txBody>
                    <a:bodyPr/>
                    <a:lstStyle/>
                    <a:p>
                      <a:pPr indent="0" marL="0">
                        <a:buNone/>
                      </a:pPr>
                      <a:r>
                        <a:rPr lang="en-US" sz="960" dirty="0">
                          <a:solidFill>
                            <a:srgbClr val="27343A"/>
                          </a:solidFill>
                          <a:latin typeface="Calibri" pitchFamily="34" charset="0"/>
                          <a:ea typeface="Calibri" pitchFamily="34" charset="-122"/>
                          <a:cs typeface="Calibri" pitchFamily="34" charset="-120"/>
                        </a:rPr>
                        <a:t>start_time</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r>
              <a:tr h="219456">
                <a:tc>
                  <a:txBody>
                    <a:bodyPr/>
                    <a:lstStyle/>
                    <a:p>
                      <a:pPr indent="0" marL="0">
                        <a:buNone/>
                      </a:pPr>
                      <a:r>
                        <a:rPr lang="en-US" sz="960" dirty="0">
                          <a:solidFill>
                            <a:srgbClr val="27343A"/>
                          </a:solidFill>
                          <a:latin typeface="Calibri" pitchFamily="34" charset="0"/>
                          <a:ea typeface="Calibri" pitchFamily="34" charset="-122"/>
                          <a:cs typeface="Calibri" pitchFamily="34" charset="-120"/>
                        </a:rPr>
                        <a:t>end_time</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60" b="1" dirty="0">
                          <a:solidFill>
                            <a:srgbClr val="69A297"/>
                          </a:solidFill>
                          <a:latin typeface="Calibri" pitchFamily="34" charset="0"/>
                          <a:ea typeface="Calibri" pitchFamily="34" charset="-122"/>
                          <a:cs typeface="Calibri" pitchFamily="34" charset="-120"/>
                        </a:rPr>
                        <a:t>CHECK</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r>
            </a:tbl>
          </a:graphicData>
        </a:graphic>
      </p:graphicFrame>
      <p:sp>
        <p:nvSpPr>
          <p:cNvPr id="14" name="Shape 9"/>
          <p:cNvSpPr/>
          <p:nvPr/>
        </p:nvSpPr>
        <p:spPr>
          <a:xfrm>
            <a:off x="6190488" y="1444752"/>
            <a:ext cx="5468112" cy="1152144"/>
          </a:xfrm>
          <a:prstGeom prst="roundRect">
            <a:avLst>
              <a:gd name="adj" fmla="val 4762"/>
            </a:avLst>
          </a:prstGeom>
          <a:solidFill>
            <a:srgbClr val="FFFFFF"/>
          </a:solidFill>
          <a:ln w="12700">
            <a:solidFill>
              <a:srgbClr val="ECE6DE"/>
            </a:solidFill>
            <a:prstDash val="solid"/>
          </a:ln>
        </p:spPr>
      </p:sp>
      <p:sp>
        <p:nvSpPr>
          <p:cNvPr id="15" name="Shape 10"/>
          <p:cNvSpPr/>
          <p:nvPr/>
        </p:nvSpPr>
        <p:spPr>
          <a:xfrm>
            <a:off x="6190488" y="1444752"/>
            <a:ext cx="5468112" cy="310896"/>
          </a:xfrm>
          <a:prstGeom prst="rect">
            <a:avLst/>
          </a:prstGeom>
          <a:solidFill>
            <a:srgbClr val="50808E"/>
          </a:solidFill>
          <a:ln/>
        </p:spPr>
      </p:sp>
      <p:sp>
        <p:nvSpPr>
          <p:cNvPr id="16" name="Text 11"/>
          <p:cNvSpPr/>
          <p:nvPr/>
        </p:nvSpPr>
        <p:spPr>
          <a:xfrm>
            <a:off x="6327648" y="1444752"/>
            <a:ext cx="5193792" cy="310896"/>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STAFF_SKILL</a:t>
            </a:r>
            <a:endParaRPr lang="en-US" sz="1250" dirty="0"/>
          </a:p>
        </p:txBody>
      </p:sp>
      <p:graphicFrame>
        <p:nvGraphicFramePr>
          <p:cNvPr id="37" name="Table 2"/>
          <p:cNvGraphicFramePr>
            <a:graphicFrameLocks noGrp="1"/>
          </p:cNvGraphicFramePr>
          <p:nvPr>
            <p:extLst>
              <p:ext uri="{D42A27DB-BD31-4B8C-83A1-F6EECF244321}">
                <p14:modId xmlns:p14="http://schemas.microsoft.com/office/powerpoint/2010/main" val="1579011935"/>
              </p:ext>
            </p:extLst>
          </p:nvPr>
        </p:nvGraphicFramePr>
        <p:xfrm>
          <a:off x="6300216" y="1755648"/>
          <a:ext cx="5248656" cy="804672"/>
        </p:xfrm>
        <a:graphic>
          <a:graphicData uri="http://schemas.openxmlformats.org/drawingml/2006/table">
            <a:tbl>
              <a:tblPr/>
              <a:tblGrid>
                <a:gridCol w="3464113"/>
                <a:gridCol w="1784543"/>
              </a:tblGrid>
              <a:tr h="201168">
                <a:tc>
                  <a:txBody>
                    <a:bodyPr/>
                    <a:lstStyle/>
                    <a:p>
                      <a:pPr indent="0" marL="0">
                        <a:buNone/>
                      </a:pPr>
                      <a:r>
                        <a:rPr lang="en-US" sz="950" b="1" dirty="0">
                          <a:solidFill>
                            <a:srgbClr val="5B6B6E"/>
                          </a:solidFill>
                          <a:latin typeface="Calibri" pitchFamily="34" charset="0"/>
                          <a:ea typeface="Calibri" pitchFamily="34" charset="-122"/>
                          <a:cs typeface="Calibri" pitchFamily="34" charset="-120"/>
                        </a:rPr>
                        <a:t>Column</a:t>
                      </a:r>
                      <a:endParaRPr lang="en-US" sz="95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50" b="1" dirty="0">
                          <a:solidFill>
                            <a:srgbClr val="5B6B6E"/>
                          </a:solidFill>
                          <a:latin typeface="Calibri" pitchFamily="34" charset="0"/>
                          <a:ea typeface="Calibri" pitchFamily="34" charset="-122"/>
                          <a:cs typeface="Calibri" pitchFamily="34" charset="-120"/>
                        </a:rPr>
                        <a:t>Key</a:t>
                      </a:r>
                      <a:endParaRPr lang="en-US" sz="95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r>
              <a:tr h="201168">
                <a:tc>
                  <a:txBody>
                    <a:bodyPr/>
                    <a:lstStyle/>
                    <a:p>
                      <a:pPr indent="0" marL="0">
                        <a:buNone/>
                      </a:pPr>
                      <a:r>
                        <a:rPr lang="en-US" sz="960" dirty="0">
                          <a:solidFill>
                            <a:srgbClr val="27343A"/>
                          </a:solidFill>
                          <a:latin typeface="Calibri" pitchFamily="34" charset="0"/>
                          <a:ea typeface="Calibri" pitchFamily="34" charset="-122"/>
                          <a:cs typeface="Calibri" pitchFamily="34" charset="-120"/>
                        </a:rPr>
                        <a:t>staff_id</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60" b="1" dirty="0">
                          <a:solidFill>
                            <a:srgbClr val="6D2E46"/>
                          </a:solidFill>
                          <a:latin typeface="Calibri" pitchFamily="34" charset="0"/>
                          <a:ea typeface="Calibri" pitchFamily="34" charset="-122"/>
                          <a:cs typeface="Calibri" pitchFamily="34" charset="-120"/>
                        </a:rPr>
                        <a:t>PK, FK</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r>
              <a:tr h="201168">
                <a:tc>
                  <a:txBody>
                    <a:bodyPr/>
                    <a:lstStyle/>
                    <a:p>
                      <a:pPr indent="0" marL="0">
                        <a:buNone/>
                      </a:pPr>
                      <a:r>
                        <a:rPr lang="en-US" sz="960" dirty="0">
                          <a:solidFill>
                            <a:srgbClr val="27343A"/>
                          </a:solidFill>
                          <a:latin typeface="Calibri" pitchFamily="34" charset="0"/>
                          <a:ea typeface="Calibri" pitchFamily="34" charset="-122"/>
                          <a:cs typeface="Calibri" pitchFamily="34" charset="-120"/>
                        </a:rPr>
                        <a:t>skill_id</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60" b="1" dirty="0">
                          <a:solidFill>
                            <a:srgbClr val="6D2E46"/>
                          </a:solidFill>
                          <a:latin typeface="Calibri" pitchFamily="34" charset="0"/>
                          <a:ea typeface="Calibri" pitchFamily="34" charset="-122"/>
                          <a:cs typeface="Calibri" pitchFamily="34" charset="-120"/>
                        </a:rPr>
                        <a:t>PK, FK</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r>
              <a:tr h="201168">
                <a:tc>
                  <a:txBody>
                    <a:bodyPr/>
                    <a:lstStyle/>
                    <a:p>
                      <a:pPr indent="0" marL="0">
                        <a:buNone/>
                      </a:pPr>
                      <a:r>
                        <a:rPr lang="en-US" sz="960" dirty="0">
                          <a:solidFill>
                            <a:srgbClr val="27343A"/>
                          </a:solidFill>
                          <a:latin typeface="Calibri" pitchFamily="34" charset="0"/>
                          <a:ea typeface="Calibri" pitchFamily="34" charset="-122"/>
                          <a:cs typeface="Calibri" pitchFamily="34" charset="-120"/>
                        </a:rPr>
                        <a:t>proficiency_level</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r>
            </a:tbl>
          </a:graphicData>
        </a:graphic>
      </p:graphicFrame>
      <p:sp>
        <p:nvSpPr>
          <p:cNvPr id="18" name="Shape 12"/>
          <p:cNvSpPr/>
          <p:nvPr/>
        </p:nvSpPr>
        <p:spPr>
          <a:xfrm>
            <a:off x="6190488" y="2743200"/>
            <a:ext cx="5468112" cy="1664208"/>
          </a:xfrm>
          <a:prstGeom prst="roundRect">
            <a:avLst>
              <a:gd name="adj" fmla="val 3297"/>
            </a:avLst>
          </a:prstGeom>
          <a:solidFill>
            <a:srgbClr val="FFFFFF"/>
          </a:solidFill>
          <a:ln w="12700">
            <a:solidFill>
              <a:srgbClr val="ECE6DE"/>
            </a:solidFill>
            <a:prstDash val="solid"/>
          </a:ln>
        </p:spPr>
      </p:sp>
      <p:sp>
        <p:nvSpPr>
          <p:cNvPr id="19" name="Shape 13"/>
          <p:cNvSpPr/>
          <p:nvPr/>
        </p:nvSpPr>
        <p:spPr>
          <a:xfrm>
            <a:off x="6190488" y="2743200"/>
            <a:ext cx="5468112" cy="310896"/>
          </a:xfrm>
          <a:prstGeom prst="rect">
            <a:avLst/>
          </a:prstGeom>
          <a:solidFill>
            <a:srgbClr val="50808E"/>
          </a:solidFill>
          <a:ln/>
        </p:spPr>
      </p:sp>
      <p:sp>
        <p:nvSpPr>
          <p:cNvPr id="20" name="Text 14"/>
          <p:cNvSpPr/>
          <p:nvPr/>
        </p:nvSpPr>
        <p:spPr>
          <a:xfrm>
            <a:off x="6327648" y="2743200"/>
            <a:ext cx="5193792" cy="310896"/>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PACKAGE</a:t>
            </a:r>
            <a:endParaRPr lang="en-US" sz="1250" dirty="0"/>
          </a:p>
        </p:txBody>
      </p:sp>
      <p:graphicFrame>
        <p:nvGraphicFramePr>
          <p:cNvPr id="49" name="Table 3"/>
          <p:cNvGraphicFramePr>
            <a:graphicFrameLocks noGrp="1"/>
          </p:cNvGraphicFramePr>
          <p:nvPr>
            <p:extLst>
              <p:ext uri="{D42A27DB-BD31-4B8C-83A1-F6EECF244321}">
                <p14:modId xmlns:p14="http://schemas.microsoft.com/office/powerpoint/2010/main" val="1579011935"/>
              </p:ext>
            </p:extLst>
          </p:nvPr>
        </p:nvGraphicFramePr>
        <p:xfrm>
          <a:off x="6300216" y="3054096"/>
          <a:ext cx="5248656" cy="1316736"/>
        </p:xfrm>
        <a:graphic>
          <a:graphicData uri="http://schemas.openxmlformats.org/drawingml/2006/table">
            <a:tbl>
              <a:tblPr/>
              <a:tblGrid>
                <a:gridCol w="3464113"/>
                <a:gridCol w="1784543"/>
              </a:tblGrid>
              <a:tr h="219456">
                <a:tc>
                  <a:txBody>
                    <a:bodyPr/>
                    <a:lstStyle/>
                    <a:p>
                      <a:pPr indent="0" marL="0">
                        <a:buNone/>
                      </a:pPr>
                      <a:r>
                        <a:rPr lang="en-US" sz="950" b="1" dirty="0">
                          <a:solidFill>
                            <a:srgbClr val="5B6B6E"/>
                          </a:solidFill>
                          <a:latin typeface="Calibri" pitchFamily="34" charset="0"/>
                          <a:ea typeface="Calibri" pitchFamily="34" charset="-122"/>
                          <a:cs typeface="Calibri" pitchFamily="34" charset="-120"/>
                        </a:rPr>
                        <a:t>Column</a:t>
                      </a:r>
                      <a:endParaRPr lang="en-US" sz="95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50" b="1" dirty="0">
                          <a:solidFill>
                            <a:srgbClr val="5B6B6E"/>
                          </a:solidFill>
                          <a:latin typeface="Calibri" pitchFamily="34" charset="0"/>
                          <a:ea typeface="Calibri" pitchFamily="34" charset="-122"/>
                          <a:cs typeface="Calibri" pitchFamily="34" charset="-120"/>
                        </a:rPr>
                        <a:t>Key</a:t>
                      </a:r>
                      <a:endParaRPr lang="en-US" sz="95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r>
              <a:tr h="219456">
                <a:tc>
                  <a:txBody>
                    <a:bodyPr/>
                    <a:lstStyle/>
                    <a:p>
                      <a:pPr indent="0" marL="0">
                        <a:buNone/>
                      </a:pPr>
                      <a:r>
                        <a:rPr lang="en-US" sz="960" dirty="0">
                          <a:solidFill>
                            <a:srgbClr val="27343A"/>
                          </a:solidFill>
                          <a:latin typeface="Calibri" pitchFamily="34" charset="0"/>
                          <a:ea typeface="Calibri" pitchFamily="34" charset="-122"/>
                          <a:cs typeface="Calibri" pitchFamily="34" charset="-120"/>
                        </a:rPr>
                        <a:t>package_id</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60" b="1" dirty="0">
                          <a:solidFill>
                            <a:srgbClr val="6D2E46"/>
                          </a:solidFill>
                          <a:latin typeface="Calibri" pitchFamily="34" charset="0"/>
                          <a:ea typeface="Calibri" pitchFamily="34" charset="-122"/>
                          <a:cs typeface="Calibri" pitchFamily="34" charset="-120"/>
                        </a:rPr>
                        <a:t>PK</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r>
              <a:tr h="219456">
                <a:tc>
                  <a:txBody>
                    <a:bodyPr/>
                    <a:lstStyle/>
                    <a:p>
                      <a:pPr indent="0" marL="0">
                        <a:buNone/>
                      </a:pPr>
                      <a:r>
                        <a:rPr lang="en-US" sz="960" dirty="0">
                          <a:solidFill>
                            <a:srgbClr val="27343A"/>
                          </a:solidFill>
                          <a:latin typeface="Calibri" pitchFamily="34" charset="0"/>
                          <a:ea typeface="Calibri" pitchFamily="34" charset="-122"/>
                          <a:cs typeface="Calibri" pitchFamily="34" charset="-120"/>
                        </a:rPr>
                        <a:t>package_name</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r>
              <a:tr h="219456">
                <a:tc>
                  <a:txBody>
                    <a:bodyPr/>
                    <a:lstStyle/>
                    <a:p>
                      <a:pPr indent="0" marL="0">
                        <a:buNone/>
                      </a:pPr>
                      <a:r>
                        <a:rPr lang="en-US" sz="960" dirty="0">
                          <a:solidFill>
                            <a:srgbClr val="27343A"/>
                          </a:solidFill>
                          <a:latin typeface="Calibri" pitchFamily="34" charset="0"/>
                          <a:ea typeface="Calibri" pitchFamily="34" charset="-122"/>
                          <a:cs typeface="Calibri" pitchFamily="34" charset="-120"/>
                        </a:rPr>
                        <a:t>total_sessions</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60" b="1" dirty="0">
                          <a:solidFill>
                            <a:srgbClr val="69A297"/>
                          </a:solidFill>
                          <a:latin typeface="Calibri" pitchFamily="34" charset="0"/>
                          <a:ea typeface="Calibri" pitchFamily="34" charset="-122"/>
                          <a:cs typeface="Calibri" pitchFamily="34" charset="-120"/>
                        </a:rPr>
                        <a:t>CHECK&gt;0</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r>
              <a:tr h="219456">
                <a:tc>
                  <a:txBody>
                    <a:bodyPr/>
                    <a:lstStyle/>
                    <a:p>
                      <a:pPr indent="0" marL="0">
                        <a:buNone/>
                      </a:pPr>
                      <a:r>
                        <a:rPr lang="en-US" sz="960" dirty="0">
                          <a:solidFill>
                            <a:srgbClr val="27343A"/>
                          </a:solidFill>
                          <a:latin typeface="Calibri" pitchFamily="34" charset="0"/>
                          <a:ea typeface="Calibri" pitchFamily="34" charset="-122"/>
                          <a:cs typeface="Calibri" pitchFamily="34" charset="-120"/>
                        </a:rPr>
                        <a:t>price</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60" b="1" dirty="0">
                          <a:solidFill>
                            <a:srgbClr val="69A297"/>
                          </a:solidFill>
                          <a:latin typeface="Calibri" pitchFamily="34" charset="0"/>
                          <a:ea typeface="Calibri" pitchFamily="34" charset="-122"/>
                          <a:cs typeface="Calibri" pitchFamily="34" charset="-120"/>
                        </a:rPr>
                        <a:t>CHECK&gt;0</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r>
              <a:tr h="219456">
                <a:tc>
                  <a:txBody>
                    <a:bodyPr/>
                    <a:lstStyle/>
                    <a:p>
                      <a:pPr indent="0" marL="0">
                        <a:buNone/>
                      </a:pPr>
                      <a:r>
                        <a:rPr lang="en-US" sz="960" dirty="0">
                          <a:solidFill>
                            <a:srgbClr val="27343A"/>
                          </a:solidFill>
                          <a:latin typeface="Calibri" pitchFamily="34" charset="0"/>
                          <a:ea typeface="Calibri" pitchFamily="34" charset="-122"/>
                          <a:cs typeface="Calibri" pitchFamily="34" charset="-120"/>
                        </a:rPr>
                        <a:t>validity_days</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r>
            </a:tbl>
          </a:graphicData>
        </a:graphic>
      </p:graphicFrame>
      <p:sp>
        <p:nvSpPr>
          <p:cNvPr id="22" name="Shape 15"/>
          <p:cNvSpPr/>
          <p:nvPr/>
        </p:nvSpPr>
        <p:spPr>
          <a:xfrm>
            <a:off x="6190488" y="4553712"/>
            <a:ext cx="5468112" cy="1664208"/>
          </a:xfrm>
          <a:prstGeom prst="roundRect">
            <a:avLst>
              <a:gd name="adj" fmla="val 3297"/>
            </a:avLst>
          </a:prstGeom>
          <a:solidFill>
            <a:srgbClr val="FFFFFF"/>
          </a:solidFill>
          <a:ln w="12700">
            <a:solidFill>
              <a:srgbClr val="ECE6DE"/>
            </a:solidFill>
            <a:prstDash val="solid"/>
          </a:ln>
        </p:spPr>
      </p:sp>
      <p:sp>
        <p:nvSpPr>
          <p:cNvPr id="23" name="Shape 16"/>
          <p:cNvSpPr/>
          <p:nvPr/>
        </p:nvSpPr>
        <p:spPr>
          <a:xfrm>
            <a:off x="6190488" y="4553712"/>
            <a:ext cx="5468112" cy="310896"/>
          </a:xfrm>
          <a:prstGeom prst="rect">
            <a:avLst/>
          </a:prstGeom>
          <a:solidFill>
            <a:srgbClr val="50808E"/>
          </a:solidFill>
          <a:ln/>
        </p:spPr>
      </p:sp>
      <p:sp>
        <p:nvSpPr>
          <p:cNvPr id="24" name="Text 17"/>
          <p:cNvSpPr/>
          <p:nvPr/>
        </p:nvSpPr>
        <p:spPr>
          <a:xfrm>
            <a:off x="6327648" y="4553712"/>
            <a:ext cx="5193792" cy="310896"/>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MEMBERSHIP</a:t>
            </a:r>
            <a:endParaRPr lang="en-US" sz="1250" dirty="0"/>
          </a:p>
        </p:txBody>
      </p:sp>
      <p:graphicFrame>
        <p:nvGraphicFramePr>
          <p:cNvPr id="61" name="Table 4"/>
          <p:cNvGraphicFramePr>
            <a:graphicFrameLocks noGrp="1"/>
          </p:cNvGraphicFramePr>
          <p:nvPr>
            <p:extLst>
              <p:ext uri="{D42A27DB-BD31-4B8C-83A1-F6EECF244321}">
                <p14:modId xmlns:p14="http://schemas.microsoft.com/office/powerpoint/2010/main" val="1579011935"/>
              </p:ext>
            </p:extLst>
          </p:nvPr>
        </p:nvGraphicFramePr>
        <p:xfrm>
          <a:off x="6300216" y="4864608"/>
          <a:ext cx="5248656" cy="1316736"/>
        </p:xfrm>
        <a:graphic>
          <a:graphicData uri="http://schemas.openxmlformats.org/drawingml/2006/table">
            <a:tbl>
              <a:tblPr/>
              <a:tblGrid>
                <a:gridCol w="3464113"/>
                <a:gridCol w="1784543"/>
              </a:tblGrid>
              <a:tr h="219456">
                <a:tc>
                  <a:txBody>
                    <a:bodyPr/>
                    <a:lstStyle/>
                    <a:p>
                      <a:pPr indent="0" marL="0">
                        <a:buNone/>
                      </a:pPr>
                      <a:r>
                        <a:rPr lang="en-US" sz="950" b="1" dirty="0">
                          <a:solidFill>
                            <a:srgbClr val="5B6B6E"/>
                          </a:solidFill>
                          <a:latin typeface="Calibri" pitchFamily="34" charset="0"/>
                          <a:ea typeface="Calibri" pitchFamily="34" charset="-122"/>
                          <a:cs typeface="Calibri" pitchFamily="34" charset="-120"/>
                        </a:rPr>
                        <a:t>Column</a:t>
                      </a:r>
                      <a:endParaRPr lang="en-US" sz="95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50" b="1" dirty="0">
                          <a:solidFill>
                            <a:srgbClr val="5B6B6E"/>
                          </a:solidFill>
                          <a:latin typeface="Calibri" pitchFamily="34" charset="0"/>
                          <a:ea typeface="Calibri" pitchFamily="34" charset="-122"/>
                          <a:cs typeface="Calibri" pitchFamily="34" charset="-120"/>
                        </a:rPr>
                        <a:t>Key</a:t>
                      </a:r>
                      <a:endParaRPr lang="en-US" sz="95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r>
              <a:tr h="219456">
                <a:tc>
                  <a:txBody>
                    <a:bodyPr/>
                    <a:lstStyle/>
                    <a:p>
                      <a:pPr indent="0" marL="0">
                        <a:buNone/>
                      </a:pPr>
                      <a:r>
                        <a:rPr lang="en-US" sz="960" dirty="0">
                          <a:solidFill>
                            <a:srgbClr val="27343A"/>
                          </a:solidFill>
                          <a:latin typeface="Calibri" pitchFamily="34" charset="0"/>
                          <a:ea typeface="Calibri" pitchFamily="34" charset="-122"/>
                          <a:cs typeface="Calibri" pitchFamily="34" charset="-120"/>
                        </a:rPr>
                        <a:t>membership_id</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60" b="1" dirty="0">
                          <a:solidFill>
                            <a:srgbClr val="6D2E46"/>
                          </a:solidFill>
                          <a:latin typeface="Calibri" pitchFamily="34" charset="0"/>
                          <a:ea typeface="Calibri" pitchFamily="34" charset="-122"/>
                          <a:cs typeface="Calibri" pitchFamily="34" charset="-120"/>
                        </a:rPr>
                        <a:t>PK</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r>
              <a:tr h="219456">
                <a:tc>
                  <a:txBody>
                    <a:bodyPr/>
                    <a:lstStyle/>
                    <a:p>
                      <a:pPr indent="0" marL="0">
                        <a:buNone/>
                      </a:pPr>
                      <a:r>
                        <a:rPr lang="en-US" sz="960" dirty="0">
                          <a:solidFill>
                            <a:srgbClr val="27343A"/>
                          </a:solidFill>
                          <a:latin typeface="Calibri" pitchFamily="34" charset="0"/>
                          <a:ea typeface="Calibri" pitchFamily="34" charset="-122"/>
                          <a:cs typeface="Calibri" pitchFamily="34" charset="-120"/>
                        </a:rPr>
                        <a:t>customer_id</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60" b="1" dirty="0">
                          <a:solidFill>
                            <a:srgbClr val="69A297"/>
                          </a:solidFill>
                          <a:latin typeface="Calibri" pitchFamily="34" charset="0"/>
                          <a:ea typeface="Calibri" pitchFamily="34" charset="-122"/>
                          <a:cs typeface="Calibri" pitchFamily="34" charset="-120"/>
                        </a:rPr>
                        <a:t>FK</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r>
              <a:tr h="219456">
                <a:tc>
                  <a:txBody>
                    <a:bodyPr/>
                    <a:lstStyle/>
                    <a:p>
                      <a:pPr indent="0" marL="0">
                        <a:buNone/>
                      </a:pPr>
                      <a:r>
                        <a:rPr lang="en-US" sz="960" dirty="0">
                          <a:solidFill>
                            <a:srgbClr val="27343A"/>
                          </a:solidFill>
                          <a:latin typeface="Calibri" pitchFamily="34" charset="0"/>
                          <a:ea typeface="Calibri" pitchFamily="34" charset="-122"/>
                          <a:cs typeface="Calibri" pitchFamily="34" charset="-120"/>
                        </a:rPr>
                        <a:t>package_id</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60" b="1" dirty="0">
                          <a:solidFill>
                            <a:srgbClr val="69A297"/>
                          </a:solidFill>
                          <a:latin typeface="Calibri" pitchFamily="34" charset="0"/>
                          <a:ea typeface="Calibri" pitchFamily="34" charset="-122"/>
                          <a:cs typeface="Calibri" pitchFamily="34" charset="-120"/>
                        </a:rPr>
                        <a:t>FK</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r>
              <a:tr h="219456">
                <a:tc>
                  <a:txBody>
                    <a:bodyPr/>
                    <a:lstStyle/>
                    <a:p>
                      <a:pPr indent="0" marL="0">
                        <a:buNone/>
                      </a:pPr>
                      <a:r>
                        <a:rPr lang="en-US" sz="960" dirty="0">
                          <a:solidFill>
                            <a:srgbClr val="27343A"/>
                          </a:solidFill>
                          <a:latin typeface="Calibri" pitchFamily="34" charset="0"/>
                          <a:ea typeface="Calibri" pitchFamily="34" charset="-122"/>
                          <a:cs typeface="Calibri" pitchFamily="34" charset="-120"/>
                        </a:rPr>
                        <a:t>sessions_used</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60" b="1" dirty="0">
                          <a:solidFill>
                            <a:srgbClr val="69A297"/>
                          </a:solidFill>
                          <a:latin typeface="Calibri" pitchFamily="34" charset="0"/>
                          <a:ea typeface="Calibri" pitchFamily="34" charset="-122"/>
                          <a:cs typeface="Calibri" pitchFamily="34" charset="-120"/>
                        </a:rPr>
                        <a:t>DEFAULT 0</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r>
              <a:tr h="219456">
                <a:tc>
                  <a:txBody>
                    <a:bodyPr/>
                    <a:lstStyle/>
                    <a:p>
                      <a:pPr indent="0" marL="0">
                        <a:buNone/>
                      </a:pPr>
                      <a:r>
                        <a:rPr lang="en-US" sz="960" dirty="0">
                          <a:solidFill>
                            <a:srgbClr val="27343A"/>
                          </a:solidFill>
                          <a:latin typeface="Calibri" pitchFamily="34" charset="0"/>
                          <a:ea typeface="Calibri" pitchFamily="34" charset="-122"/>
                          <a:cs typeface="Calibri" pitchFamily="34" charset="-120"/>
                        </a:rPr>
                        <a:t>expiry_date</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r>
            </a:tbl>
          </a:graphicData>
        </a:graphic>
      </p:graphicFrame>
      <p:sp>
        <p:nvSpPr>
          <p:cNvPr id="27" name="Text 18"/>
          <p:cNvSpPr/>
          <p:nvPr/>
        </p:nvSpPr>
        <p:spPr>
          <a:xfrm>
            <a:off x="502920" y="6473952"/>
            <a:ext cx="8229600" cy="274320"/>
          </a:xfrm>
          <a:prstGeom prst="rect">
            <a:avLst/>
          </a:prstGeom>
          <a:noFill/>
          <a:ln/>
        </p:spPr>
        <p:txBody>
          <a:bodyPr wrap="square" rtlCol="0" anchor="ctr"/>
          <a:lstStyle/>
          <a:p>
            <a:pPr indent="0" marL="0">
              <a:buNone/>
            </a:pPr>
            <a:r>
              <a:rPr lang="en-US" sz="900" spc="100" kern="0" dirty="0">
                <a:solidFill>
                  <a:srgbClr val="5B6B6E"/>
                </a:solidFill>
                <a:latin typeface="Calibri" pitchFamily="34" charset="0"/>
                <a:ea typeface="Calibri" pitchFamily="34" charset="-122"/>
                <a:cs typeface="Calibri" pitchFamily="34" charset="-120"/>
              </a:rPr>
              <a:t>SALON &amp; SPA APPOINTMENT MANAGEMENT SYSTEM  |  REVIEW 1</a:t>
            </a:r>
            <a:endParaRPr lang="en-US" sz="900" dirty="0"/>
          </a:p>
        </p:txBody>
      </p:sp>
      <p:sp>
        <p:nvSpPr>
          <p:cNvPr id="28" name="Text 19"/>
          <p:cNvSpPr/>
          <p:nvPr/>
        </p:nvSpPr>
        <p:spPr>
          <a:xfrm>
            <a:off x="11228832" y="6473952"/>
            <a:ext cx="457200" cy="274320"/>
          </a:xfrm>
          <a:prstGeom prst="rect">
            <a:avLst/>
          </a:prstGeom>
          <a:noFill/>
          <a:ln/>
        </p:spPr>
        <p:txBody>
          <a:bodyPr wrap="square" rtlCol="0" anchor="ctr"/>
          <a:lstStyle/>
          <a:p>
            <a:pPr algn="r" indent="0" marL="0">
              <a:buNone/>
            </a:pPr>
            <a:r>
              <a:rPr lang="en-US" sz="900" dirty="0">
                <a:solidFill>
                  <a:srgbClr val="5B6B6E"/>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02920" y="384048"/>
            <a:ext cx="8229600" cy="292608"/>
          </a:xfrm>
          <a:prstGeom prst="rect">
            <a:avLst/>
          </a:prstGeom>
          <a:noFill/>
          <a:ln/>
        </p:spPr>
        <p:txBody>
          <a:bodyPr wrap="square" rtlCol="0" anchor="ctr"/>
          <a:lstStyle/>
          <a:p>
            <a:pPr indent="0" marL="0">
              <a:buNone/>
            </a:pPr>
            <a:r>
              <a:rPr lang="en-US" sz="1200" b="1" spc="200" kern="0" dirty="0">
                <a:solidFill>
                  <a:srgbClr val="6D2E46"/>
                </a:solidFill>
                <a:latin typeface="Calibri" pitchFamily="34" charset="0"/>
                <a:ea typeface="Calibri" pitchFamily="34" charset="-122"/>
                <a:cs typeface="Calibri" pitchFamily="34" charset="-120"/>
              </a:rPr>
              <a:t>LOGICAL DESIGN</a:t>
            </a:r>
            <a:endParaRPr lang="en-US" sz="1200" dirty="0"/>
          </a:p>
        </p:txBody>
      </p:sp>
      <p:sp>
        <p:nvSpPr>
          <p:cNvPr id="3" name="Text 1"/>
          <p:cNvSpPr txBox="1"/>
          <p:nvPr/>
        </p:nvSpPr>
        <p:spPr>
          <a:xfrm>
            <a:off x="502920" y="658368"/>
            <a:ext cx="9692640" cy="685800"/>
          </a:xfrm>
          <a:prstGeom prst="rect">
            <a:avLst/>
          </a:prstGeom>
          <a:noFill/>
          <a:ln/>
        </p:spPr>
        <p:txBody>
          <a:bodyPr wrap="square" rtlCol="0" anchor="ctr"/>
          <a:lstStyle/>
          <a:p>
            <a:pPr indent="0" marL="0">
              <a:buNone/>
            </a:pPr>
            <a:r>
              <a:rPr lang="en-US" sz="3000" b="1" dirty="0">
                <a:solidFill>
                  <a:srgbClr val="27343A"/>
                </a:solidFill>
                <a:latin typeface="Cambria" pitchFamily="34" charset="0"/>
                <a:ea typeface="Cambria" pitchFamily="34" charset="-122"/>
                <a:cs typeface="Cambria" pitchFamily="34" charset="-120"/>
              </a:rPr>
              <a:t>Initial Relational Schema — Part 3</a:t>
            </a:r>
            <a:endParaRPr lang="en-US" sz="3000" dirty="0"/>
          </a:p>
        </p:txBody>
      </p:sp>
      <p:sp>
        <p:nvSpPr>
          <p:cNvPr id="4" name="Shape 2"/>
          <p:cNvSpPr/>
          <p:nvPr/>
        </p:nvSpPr>
        <p:spPr>
          <a:xfrm>
            <a:off x="11119104" y="457200"/>
            <a:ext cx="566928" cy="566928"/>
          </a:xfrm>
          <a:prstGeom prst="ellipse">
            <a:avLst/>
          </a:prstGeom>
          <a:solidFill>
            <a:srgbClr val="6D2E46"/>
          </a:solidFill>
          <a:ln/>
        </p:spPr>
      </p:sp>
      <p:pic>
        <p:nvPicPr>
          <p:cNvPr id="5" name="Image 0" descr="/tmp/claude-0/-home-claude/12ac4f2c-a806-5c6e-9789-8d976e37a451/scratchpad/salon_ppt/icons/table.png">    </p:cNvPr>
          <p:cNvPicPr>
            <a:picLocks noChangeAspect="1"/>
          </p:cNvPicPr>
          <p:nvPr/>
        </p:nvPicPr>
        <p:blipFill>
          <a:blip r:embed="rId1"/>
          <a:stretch>
            <a:fillRect/>
          </a:stretch>
        </p:blipFill>
        <p:spPr>
          <a:xfrm>
            <a:off x="11187135" y="525231"/>
            <a:ext cx="430865" cy="430865"/>
          </a:xfrm>
          <a:prstGeom prst="rect">
            <a:avLst/>
          </a:prstGeom>
        </p:spPr>
      </p:pic>
      <p:sp>
        <p:nvSpPr>
          <p:cNvPr id="6" name="Shape 3"/>
          <p:cNvSpPr/>
          <p:nvPr/>
        </p:nvSpPr>
        <p:spPr>
          <a:xfrm>
            <a:off x="502920" y="1444752"/>
            <a:ext cx="5468112" cy="1920240"/>
          </a:xfrm>
          <a:prstGeom prst="roundRect">
            <a:avLst>
              <a:gd name="adj" fmla="val 2857"/>
            </a:avLst>
          </a:prstGeom>
          <a:solidFill>
            <a:srgbClr val="FFFFFF"/>
          </a:solidFill>
          <a:ln w="12700">
            <a:solidFill>
              <a:srgbClr val="ECE6DE"/>
            </a:solidFill>
            <a:prstDash val="solid"/>
          </a:ln>
        </p:spPr>
      </p:sp>
      <p:sp>
        <p:nvSpPr>
          <p:cNvPr id="7" name="Shape 4"/>
          <p:cNvSpPr/>
          <p:nvPr/>
        </p:nvSpPr>
        <p:spPr>
          <a:xfrm>
            <a:off x="502920" y="1444752"/>
            <a:ext cx="5468112" cy="310896"/>
          </a:xfrm>
          <a:prstGeom prst="rect">
            <a:avLst/>
          </a:prstGeom>
          <a:solidFill>
            <a:srgbClr val="50808E"/>
          </a:solidFill>
          <a:ln/>
        </p:spPr>
      </p:sp>
      <p:sp>
        <p:nvSpPr>
          <p:cNvPr id="8" name="Text 5"/>
          <p:cNvSpPr/>
          <p:nvPr/>
        </p:nvSpPr>
        <p:spPr>
          <a:xfrm>
            <a:off x="640080" y="1444752"/>
            <a:ext cx="5193792" cy="310896"/>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BILL</a:t>
            </a:r>
            <a:endParaRPr lang="en-US" sz="12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12648" y="1755648"/>
          <a:ext cx="5248656" cy="1572768"/>
        </p:xfrm>
        <a:graphic>
          <a:graphicData uri="http://schemas.openxmlformats.org/drawingml/2006/table">
            <a:tbl>
              <a:tblPr/>
              <a:tblGrid>
                <a:gridCol w="3464113"/>
                <a:gridCol w="1784543"/>
              </a:tblGrid>
              <a:tr h="224681">
                <a:tc>
                  <a:txBody>
                    <a:bodyPr/>
                    <a:lstStyle/>
                    <a:p>
                      <a:pPr indent="0" marL="0">
                        <a:buNone/>
                      </a:pPr>
                      <a:r>
                        <a:rPr lang="en-US" sz="950" b="1" dirty="0">
                          <a:solidFill>
                            <a:srgbClr val="5B6B6E"/>
                          </a:solidFill>
                          <a:latin typeface="Calibri" pitchFamily="34" charset="0"/>
                          <a:ea typeface="Calibri" pitchFamily="34" charset="-122"/>
                          <a:cs typeface="Calibri" pitchFamily="34" charset="-120"/>
                        </a:rPr>
                        <a:t>Column</a:t>
                      </a:r>
                      <a:endParaRPr lang="en-US" sz="95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50" b="1" dirty="0">
                          <a:solidFill>
                            <a:srgbClr val="5B6B6E"/>
                          </a:solidFill>
                          <a:latin typeface="Calibri" pitchFamily="34" charset="0"/>
                          <a:ea typeface="Calibri" pitchFamily="34" charset="-122"/>
                          <a:cs typeface="Calibri" pitchFamily="34" charset="-120"/>
                        </a:rPr>
                        <a:t>Key</a:t>
                      </a:r>
                      <a:endParaRPr lang="en-US" sz="95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r>
              <a:tr h="224681">
                <a:tc>
                  <a:txBody>
                    <a:bodyPr/>
                    <a:lstStyle/>
                    <a:p>
                      <a:pPr indent="0" marL="0">
                        <a:buNone/>
                      </a:pPr>
                      <a:r>
                        <a:rPr lang="en-US" sz="960" dirty="0">
                          <a:solidFill>
                            <a:srgbClr val="27343A"/>
                          </a:solidFill>
                          <a:latin typeface="Calibri" pitchFamily="34" charset="0"/>
                          <a:ea typeface="Calibri" pitchFamily="34" charset="-122"/>
                          <a:cs typeface="Calibri" pitchFamily="34" charset="-120"/>
                        </a:rPr>
                        <a:t>bill_id</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60" b="1" dirty="0">
                          <a:solidFill>
                            <a:srgbClr val="6D2E46"/>
                          </a:solidFill>
                          <a:latin typeface="Calibri" pitchFamily="34" charset="0"/>
                          <a:ea typeface="Calibri" pitchFamily="34" charset="-122"/>
                          <a:cs typeface="Calibri" pitchFamily="34" charset="-120"/>
                        </a:rPr>
                        <a:t>PK</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r>
              <a:tr h="224681">
                <a:tc>
                  <a:txBody>
                    <a:bodyPr/>
                    <a:lstStyle/>
                    <a:p>
                      <a:pPr indent="0" marL="0">
                        <a:buNone/>
                      </a:pPr>
                      <a:r>
                        <a:rPr lang="en-US" sz="960" dirty="0">
                          <a:solidFill>
                            <a:srgbClr val="27343A"/>
                          </a:solidFill>
                          <a:latin typeface="Calibri" pitchFamily="34" charset="0"/>
                          <a:ea typeface="Calibri" pitchFamily="34" charset="-122"/>
                          <a:cs typeface="Calibri" pitchFamily="34" charset="-120"/>
                        </a:rPr>
                        <a:t>appointment_id</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60" b="1" dirty="0">
                          <a:solidFill>
                            <a:srgbClr val="69A297"/>
                          </a:solidFill>
                          <a:latin typeface="Calibri" pitchFamily="34" charset="0"/>
                          <a:ea typeface="Calibri" pitchFamily="34" charset="-122"/>
                          <a:cs typeface="Calibri" pitchFamily="34" charset="-120"/>
                        </a:rPr>
                        <a:t>FK</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r>
              <a:tr h="224681">
                <a:tc>
                  <a:txBody>
                    <a:bodyPr/>
                    <a:lstStyle/>
                    <a:p>
                      <a:pPr indent="0" marL="0">
                        <a:buNone/>
                      </a:pPr>
                      <a:r>
                        <a:rPr lang="en-US" sz="960" dirty="0">
                          <a:solidFill>
                            <a:srgbClr val="27343A"/>
                          </a:solidFill>
                          <a:latin typeface="Calibri" pitchFamily="34" charset="0"/>
                          <a:ea typeface="Calibri" pitchFamily="34" charset="-122"/>
                          <a:cs typeface="Calibri" pitchFamily="34" charset="-120"/>
                        </a:rPr>
                        <a:t>customer_id</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60" b="1" dirty="0">
                          <a:solidFill>
                            <a:srgbClr val="69A297"/>
                          </a:solidFill>
                          <a:latin typeface="Calibri" pitchFamily="34" charset="0"/>
                          <a:ea typeface="Calibri" pitchFamily="34" charset="-122"/>
                          <a:cs typeface="Calibri" pitchFamily="34" charset="-120"/>
                        </a:rPr>
                        <a:t>FK</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r>
              <a:tr h="224681">
                <a:tc>
                  <a:txBody>
                    <a:bodyPr/>
                    <a:lstStyle/>
                    <a:p>
                      <a:pPr indent="0" marL="0">
                        <a:buNone/>
                      </a:pPr>
                      <a:r>
                        <a:rPr lang="en-US" sz="960" dirty="0">
                          <a:solidFill>
                            <a:srgbClr val="27343A"/>
                          </a:solidFill>
                          <a:latin typeface="Calibri" pitchFamily="34" charset="0"/>
                          <a:ea typeface="Calibri" pitchFamily="34" charset="-122"/>
                          <a:cs typeface="Calibri" pitchFamily="34" charset="-120"/>
                        </a:rPr>
                        <a:t>bill_date</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60" b="1" dirty="0">
                          <a:solidFill>
                            <a:srgbClr val="69A297"/>
                          </a:solidFill>
                          <a:latin typeface="Calibri" pitchFamily="34" charset="0"/>
                          <a:ea typeface="Calibri" pitchFamily="34" charset="-122"/>
                          <a:cs typeface="Calibri" pitchFamily="34" charset="-120"/>
                        </a:rPr>
                        <a:t>DEFAULT</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r>
              <a:tr h="224681">
                <a:tc>
                  <a:txBody>
                    <a:bodyPr/>
                    <a:lstStyle/>
                    <a:p>
                      <a:pPr indent="0" marL="0">
                        <a:buNone/>
                      </a:pPr>
                      <a:r>
                        <a:rPr lang="en-US" sz="960" dirty="0">
                          <a:solidFill>
                            <a:srgbClr val="27343A"/>
                          </a:solidFill>
                          <a:latin typeface="Calibri" pitchFamily="34" charset="0"/>
                          <a:ea typeface="Calibri" pitchFamily="34" charset="-122"/>
                          <a:cs typeface="Calibri" pitchFamily="34" charset="-120"/>
                        </a:rPr>
                        <a:t>total_amount</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60" b="1" dirty="0">
                          <a:solidFill>
                            <a:srgbClr val="69A297"/>
                          </a:solidFill>
                          <a:latin typeface="Calibri" pitchFamily="34" charset="0"/>
                          <a:ea typeface="Calibri" pitchFamily="34" charset="-122"/>
                          <a:cs typeface="Calibri" pitchFamily="34" charset="-120"/>
                        </a:rPr>
                        <a:t>CHECK&gt;0</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r>
              <a:tr h="224681">
                <a:tc>
                  <a:txBody>
                    <a:bodyPr/>
                    <a:lstStyle/>
                    <a:p>
                      <a:pPr indent="0" marL="0">
                        <a:buNone/>
                      </a:pPr>
                      <a:r>
                        <a:rPr lang="en-US" sz="960" dirty="0">
                          <a:solidFill>
                            <a:srgbClr val="27343A"/>
                          </a:solidFill>
                          <a:latin typeface="Calibri" pitchFamily="34" charset="0"/>
                          <a:ea typeface="Calibri" pitchFamily="34" charset="-122"/>
                          <a:cs typeface="Calibri" pitchFamily="34" charset="-120"/>
                        </a:rPr>
                        <a:t>discount, tax</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r>
            </a:tbl>
          </a:graphicData>
        </a:graphic>
      </p:graphicFrame>
      <p:sp>
        <p:nvSpPr>
          <p:cNvPr id="10" name="Shape 6"/>
          <p:cNvSpPr/>
          <p:nvPr/>
        </p:nvSpPr>
        <p:spPr>
          <a:xfrm>
            <a:off x="502920" y="3511296"/>
            <a:ext cx="5468112" cy="1408176"/>
          </a:xfrm>
          <a:prstGeom prst="roundRect">
            <a:avLst>
              <a:gd name="adj" fmla="val 3896"/>
            </a:avLst>
          </a:prstGeom>
          <a:solidFill>
            <a:srgbClr val="FFFFFF"/>
          </a:solidFill>
          <a:ln w="12700">
            <a:solidFill>
              <a:srgbClr val="ECE6DE"/>
            </a:solidFill>
            <a:prstDash val="solid"/>
          </a:ln>
        </p:spPr>
      </p:sp>
      <p:sp>
        <p:nvSpPr>
          <p:cNvPr id="11" name="Shape 7"/>
          <p:cNvSpPr/>
          <p:nvPr/>
        </p:nvSpPr>
        <p:spPr>
          <a:xfrm>
            <a:off x="502920" y="3511296"/>
            <a:ext cx="5468112" cy="310896"/>
          </a:xfrm>
          <a:prstGeom prst="rect">
            <a:avLst/>
          </a:prstGeom>
          <a:solidFill>
            <a:srgbClr val="50808E"/>
          </a:solidFill>
          <a:ln/>
        </p:spPr>
      </p:sp>
      <p:sp>
        <p:nvSpPr>
          <p:cNvPr id="12" name="Text 8"/>
          <p:cNvSpPr/>
          <p:nvPr/>
        </p:nvSpPr>
        <p:spPr>
          <a:xfrm>
            <a:off x="640080" y="3511296"/>
            <a:ext cx="5193792" cy="310896"/>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PRODUCT</a:t>
            </a:r>
            <a:endParaRPr lang="en-US" sz="1250" dirty="0"/>
          </a:p>
        </p:txBody>
      </p:sp>
      <p:graphicFrame>
        <p:nvGraphicFramePr>
          <p:cNvPr id="27" name="Table 1"/>
          <p:cNvGraphicFramePr>
            <a:graphicFrameLocks noGrp="1"/>
          </p:cNvGraphicFramePr>
          <p:nvPr>
            <p:extLst>
              <p:ext uri="{D42A27DB-BD31-4B8C-83A1-F6EECF244321}">
                <p14:modId xmlns:p14="http://schemas.microsoft.com/office/powerpoint/2010/main" val="1579011935"/>
              </p:ext>
            </p:extLst>
          </p:nvPr>
        </p:nvGraphicFramePr>
        <p:xfrm>
          <a:off x="612648" y="3822192"/>
          <a:ext cx="5248656" cy="1060704"/>
        </p:xfrm>
        <a:graphic>
          <a:graphicData uri="http://schemas.openxmlformats.org/drawingml/2006/table">
            <a:tbl>
              <a:tblPr/>
              <a:tblGrid>
                <a:gridCol w="3464113"/>
                <a:gridCol w="1784543"/>
              </a:tblGrid>
              <a:tr h="212141">
                <a:tc>
                  <a:txBody>
                    <a:bodyPr/>
                    <a:lstStyle/>
                    <a:p>
                      <a:pPr indent="0" marL="0">
                        <a:buNone/>
                      </a:pPr>
                      <a:r>
                        <a:rPr lang="en-US" sz="950" b="1" dirty="0">
                          <a:solidFill>
                            <a:srgbClr val="5B6B6E"/>
                          </a:solidFill>
                          <a:latin typeface="Calibri" pitchFamily="34" charset="0"/>
                          <a:ea typeface="Calibri" pitchFamily="34" charset="-122"/>
                          <a:cs typeface="Calibri" pitchFamily="34" charset="-120"/>
                        </a:rPr>
                        <a:t>Column</a:t>
                      </a:r>
                      <a:endParaRPr lang="en-US" sz="95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50" b="1" dirty="0">
                          <a:solidFill>
                            <a:srgbClr val="5B6B6E"/>
                          </a:solidFill>
                          <a:latin typeface="Calibri" pitchFamily="34" charset="0"/>
                          <a:ea typeface="Calibri" pitchFamily="34" charset="-122"/>
                          <a:cs typeface="Calibri" pitchFamily="34" charset="-120"/>
                        </a:rPr>
                        <a:t>Key</a:t>
                      </a:r>
                      <a:endParaRPr lang="en-US" sz="95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r>
              <a:tr h="212141">
                <a:tc>
                  <a:txBody>
                    <a:bodyPr/>
                    <a:lstStyle/>
                    <a:p>
                      <a:pPr indent="0" marL="0">
                        <a:buNone/>
                      </a:pPr>
                      <a:r>
                        <a:rPr lang="en-US" sz="960" dirty="0">
                          <a:solidFill>
                            <a:srgbClr val="27343A"/>
                          </a:solidFill>
                          <a:latin typeface="Calibri" pitchFamily="34" charset="0"/>
                          <a:ea typeface="Calibri" pitchFamily="34" charset="-122"/>
                          <a:cs typeface="Calibri" pitchFamily="34" charset="-120"/>
                        </a:rPr>
                        <a:t>product_id</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60" b="1" dirty="0">
                          <a:solidFill>
                            <a:srgbClr val="6D2E46"/>
                          </a:solidFill>
                          <a:latin typeface="Calibri" pitchFamily="34" charset="0"/>
                          <a:ea typeface="Calibri" pitchFamily="34" charset="-122"/>
                          <a:cs typeface="Calibri" pitchFamily="34" charset="-120"/>
                        </a:rPr>
                        <a:t>PK</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r>
              <a:tr h="212141">
                <a:tc>
                  <a:txBody>
                    <a:bodyPr/>
                    <a:lstStyle/>
                    <a:p>
                      <a:pPr indent="0" marL="0">
                        <a:buNone/>
                      </a:pPr>
                      <a:r>
                        <a:rPr lang="en-US" sz="960" dirty="0">
                          <a:solidFill>
                            <a:srgbClr val="27343A"/>
                          </a:solidFill>
                          <a:latin typeface="Calibri" pitchFamily="34" charset="0"/>
                          <a:ea typeface="Calibri" pitchFamily="34" charset="-122"/>
                          <a:cs typeface="Calibri" pitchFamily="34" charset="-120"/>
                        </a:rPr>
                        <a:t>product_name</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r>
              <a:tr h="212141">
                <a:tc>
                  <a:txBody>
                    <a:bodyPr/>
                    <a:lstStyle/>
                    <a:p>
                      <a:pPr indent="0" marL="0">
                        <a:buNone/>
                      </a:pPr>
                      <a:r>
                        <a:rPr lang="en-US" sz="960" dirty="0">
                          <a:solidFill>
                            <a:srgbClr val="27343A"/>
                          </a:solidFill>
                          <a:latin typeface="Calibri" pitchFamily="34" charset="0"/>
                          <a:ea typeface="Calibri" pitchFamily="34" charset="-122"/>
                          <a:cs typeface="Calibri" pitchFamily="34" charset="-120"/>
                        </a:rPr>
                        <a:t>unit_price</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60" b="1" dirty="0">
                          <a:solidFill>
                            <a:srgbClr val="69A297"/>
                          </a:solidFill>
                          <a:latin typeface="Calibri" pitchFamily="34" charset="0"/>
                          <a:ea typeface="Calibri" pitchFamily="34" charset="-122"/>
                          <a:cs typeface="Calibri" pitchFamily="34" charset="-120"/>
                        </a:rPr>
                        <a:t>CHECK&gt;0</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r>
              <a:tr h="212141">
                <a:tc>
                  <a:txBody>
                    <a:bodyPr/>
                    <a:lstStyle/>
                    <a:p>
                      <a:pPr indent="0" marL="0">
                        <a:buNone/>
                      </a:pPr>
                      <a:r>
                        <a:rPr lang="en-US" sz="960" dirty="0">
                          <a:solidFill>
                            <a:srgbClr val="27343A"/>
                          </a:solidFill>
                          <a:latin typeface="Calibri" pitchFamily="34" charset="0"/>
                          <a:ea typeface="Calibri" pitchFamily="34" charset="-122"/>
                          <a:cs typeface="Calibri" pitchFamily="34" charset="-120"/>
                        </a:rPr>
                        <a:t>stock_qty</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60" b="1" dirty="0">
                          <a:solidFill>
                            <a:srgbClr val="69A297"/>
                          </a:solidFill>
                          <a:latin typeface="Calibri" pitchFamily="34" charset="0"/>
                          <a:ea typeface="Calibri" pitchFamily="34" charset="-122"/>
                          <a:cs typeface="Calibri" pitchFamily="34" charset="-120"/>
                        </a:rPr>
                        <a:t>CHECK&gt;=0</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r>
            </a:tbl>
          </a:graphicData>
        </a:graphic>
      </p:graphicFrame>
      <p:sp>
        <p:nvSpPr>
          <p:cNvPr id="14" name="Shape 9"/>
          <p:cNvSpPr/>
          <p:nvPr/>
        </p:nvSpPr>
        <p:spPr>
          <a:xfrm>
            <a:off x="6190488" y="1444752"/>
            <a:ext cx="5468112" cy="1664208"/>
          </a:xfrm>
          <a:prstGeom prst="roundRect">
            <a:avLst>
              <a:gd name="adj" fmla="val 3297"/>
            </a:avLst>
          </a:prstGeom>
          <a:solidFill>
            <a:srgbClr val="FFFFFF"/>
          </a:solidFill>
          <a:ln w="12700">
            <a:solidFill>
              <a:srgbClr val="ECE6DE"/>
            </a:solidFill>
            <a:prstDash val="solid"/>
          </a:ln>
        </p:spPr>
      </p:sp>
      <p:sp>
        <p:nvSpPr>
          <p:cNvPr id="15" name="Shape 10"/>
          <p:cNvSpPr/>
          <p:nvPr/>
        </p:nvSpPr>
        <p:spPr>
          <a:xfrm>
            <a:off x="6190488" y="1444752"/>
            <a:ext cx="5468112" cy="310896"/>
          </a:xfrm>
          <a:prstGeom prst="rect">
            <a:avLst/>
          </a:prstGeom>
          <a:solidFill>
            <a:srgbClr val="50808E"/>
          </a:solidFill>
          <a:ln/>
        </p:spPr>
      </p:sp>
      <p:sp>
        <p:nvSpPr>
          <p:cNvPr id="16" name="Text 11"/>
          <p:cNvSpPr/>
          <p:nvPr/>
        </p:nvSpPr>
        <p:spPr>
          <a:xfrm>
            <a:off x="6327648" y="1444752"/>
            <a:ext cx="5193792" cy="310896"/>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PAYMENT</a:t>
            </a:r>
            <a:endParaRPr lang="en-US" sz="1250" dirty="0"/>
          </a:p>
        </p:txBody>
      </p:sp>
      <p:graphicFrame>
        <p:nvGraphicFramePr>
          <p:cNvPr id="40" name="Table 2"/>
          <p:cNvGraphicFramePr>
            <a:graphicFrameLocks noGrp="1"/>
          </p:cNvGraphicFramePr>
          <p:nvPr>
            <p:extLst>
              <p:ext uri="{D42A27DB-BD31-4B8C-83A1-F6EECF244321}">
                <p14:modId xmlns:p14="http://schemas.microsoft.com/office/powerpoint/2010/main" val="1579011935"/>
              </p:ext>
            </p:extLst>
          </p:nvPr>
        </p:nvGraphicFramePr>
        <p:xfrm>
          <a:off x="6300216" y="1755648"/>
          <a:ext cx="5248656" cy="1316736"/>
        </p:xfrm>
        <a:graphic>
          <a:graphicData uri="http://schemas.openxmlformats.org/drawingml/2006/table">
            <a:tbl>
              <a:tblPr/>
              <a:tblGrid>
                <a:gridCol w="3464113"/>
                <a:gridCol w="1784543"/>
              </a:tblGrid>
              <a:tr h="219456">
                <a:tc>
                  <a:txBody>
                    <a:bodyPr/>
                    <a:lstStyle/>
                    <a:p>
                      <a:pPr indent="0" marL="0">
                        <a:buNone/>
                      </a:pPr>
                      <a:r>
                        <a:rPr lang="en-US" sz="950" b="1" dirty="0">
                          <a:solidFill>
                            <a:srgbClr val="5B6B6E"/>
                          </a:solidFill>
                          <a:latin typeface="Calibri" pitchFamily="34" charset="0"/>
                          <a:ea typeface="Calibri" pitchFamily="34" charset="-122"/>
                          <a:cs typeface="Calibri" pitchFamily="34" charset="-120"/>
                        </a:rPr>
                        <a:t>Column</a:t>
                      </a:r>
                      <a:endParaRPr lang="en-US" sz="95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50" b="1" dirty="0">
                          <a:solidFill>
                            <a:srgbClr val="5B6B6E"/>
                          </a:solidFill>
                          <a:latin typeface="Calibri" pitchFamily="34" charset="0"/>
                          <a:ea typeface="Calibri" pitchFamily="34" charset="-122"/>
                          <a:cs typeface="Calibri" pitchFamily="34" charset="-120"/>
                        </a:rPr>
                        <a:t>Key</a:t>
                      </a:r>
                      <a:endParaRPr lang="en-US" sz="95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r>
              <a:tr h="219456">
                <a:tc>
                  <a:txBody>
                    <a:bodyPr/>
                    <a:lstStyle/>
                    <a:p>
                      <a:pPr indent="0" marL="0">
                        <a:buNone/>
                      </a:pPr>
                      <a:r>
                        <a:rPr lang="en-US" sz="960" dirty="0">
                          <a:solidFill>
                            <a:srgbClr val="27343A"/>
                          </a:solidFill>
                          <a:latin typeface="Calibri" pitchFamily="34" charset="0"/>
                          <a:ea typeface="Calibri" pitchFamily="34" charset="-122"/>
                          <a:cs typeface="Calibri" pitchFamily="34" charset="-120"/>
                        </a:rPr>
                        <a:t>payment_id</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60" b="1" dirty="0">
                          <a:solidFill>
                            <a:srgbClr val="6D2E46"/>
                          </a:solidFill>
                          <a:latin typeface="Calibri" pitchFamily="34" charset="0"/>
                          <a:ea typeface="Calibri" pitchFamily="34" charset="-122"/>
                          <a:cs typeface="Calibri" pitchFamily="34" charset="-120"/>
                        </a:rPr>
                        <a:t>PK</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r>
              <a:tr h="219456">
                <a:tc>
                  <a:txBody>
                    <a:bodyPr/>
                    <a:lstStyle/>
                    <a:p>
                      <a:pPr indent="0" marL="0">
                        <a:buNone/>
                      </a:pPr>
                      <a:r>
                        <a:rPr lang="en-US" sz="960" dirty="0">
                          <a:solidFill>
                            <a:srgbClr val="27343A"/>
                          </a:solidFill>
                          <a:latin typeface="Calibri" pitchFamily="34" charset="0"/>
                          <a:ea typeface="Calibri" pitchFamily="34" charset="-122"/>
                          <a:cs typeface="Calibri" pitchFamily="34" charset="-120"/>
                        </a:rPr>
                        <a:t>bill_id</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60" b="1" dirty="0">
                          <a:solidFill>
                            <a:srgbClr val="69A297"/>
                          </a:solidFill>
                          <a:latin typeface="Calibri" pitchFamily="34" charset="0"/>
                          <a:ea typeface="Calibri" pitchFamily="34" charset="-122"/>
                          <a:cs typeface="Calibri" pitchFamily="34" charset="-120"/>
                        </a:rPr>
                        <a:t>FK</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r>
              <a:tr h="219456">
                <a:tc>
                  <a:txBody>
                    <a:bodyPr/>
                    <a:lstStyle/>
                    <a:p>
                      <a:pPr indent="0" marL="0">
                        <a:buNone/>
                      </a:pPr>
                      <a:r>
                        <a:rPr lang="en-US" sz="960" dirty="0">
                          <a:solidFill>
                            <a:srgbClr val="27343A"/>
                          </a:solidFill>
                          <a:latin typeface="Calibri" pitchFamily="34" charset="0"/>
                          <a:ea typeface="Calibri" pitchFamily="34" charset="-122"/>
                          <a:cs typeface="Calibri" pitchFamily="34" charset="-120"/>
                        </a:rPr>
                        <a:t>payment_date</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60" b="1" dirty="0">
                          <a:solidFill>
                            <a:srgbClr val="69A297"/>
                          </a:solidFill>
                          <a:latin typeface="Calibri" pitchFamily="34" charset="0"/>
                          <a:ea typeface="Calibri" pitchFamily="34" charset="-122"/>
                          <a:cs typeface="Calibri" pitchFamily="34" charset="-120"/>
                        </a:rPr>
                        <a:t>DEFAULT</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r>
              <a:tr h="219456">
                <a:tc>
                  <a:txBody>
                    <a:bodyPr/>
                    <a:lstStyle/>
                    <a:p>
                      <a:pPr indent="0" marL="0">
                        <a:buNone/>
                      </a:pPr>
                      <a:r>
                        <a:rPr lang="en-US" sz="960" dirty="0">
                          <a:solidFill>
                            <a:srgbClr val="27343A"/>
                          </a:solidFill>
                          <a:latin typeface="Calibri" pitchFamily="34" charset="0"/>
                          <a:ea typeface="Calibri" pitchFamily="34" charset="-122"/>
                          <a:cs typeface="Calibri" pitchFamily="34" charset="-120"/>
                        </a:rPr>
                        <a:t>amount_paid</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60" b="1" dirty="0">
                          <a:solidFill>
                            <a:srgbClr val="69A297"/>
                          </a:solidFill>
                          <a:latin typeface="Calibri" pitchFamily="34" charset="0"/>
                          <a:ea typeface="Calibri" pitchFamily="34" charset="-122"/>
                          <a:cs typeface="Calibri" pitchFamily="34" charset="-120"/>
                        </a:rPr>
                        <a:t>CHECK&gt;0</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r>
              <a:tr h="219456">
                <a:tc>
                  <a:txBody>
                    <a:bodyPr/>
                    <a:lstStyle/>
                    <a:p>
                      <a:pPr indent="0" marL="0">
                        <a:buNone/>
                      </a:pPr>
                      <a:r>
                        <a:rPr lang="en-US" sz="960" dirty="0">
                          <a:solidFill>
                            <a:srgbClr val="27343A"/>
                          </a:solidFill>
                          <a:latin typeface="Calibri" pitchFamily="34" charset="0"/>
                          <a:ea typeface="Calibri" pitchFamily="34" charset="-122"/>
                          <a:cs typeface="Calibri" pitchFamily="34" charset="-120"/>
                        </a:rPr>
                        <a:t>mode, status</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r>
            </a:tbl>
          </a:graphicData>
        </a:graphic>
      </p:graphicFrame>
      <p:sp>
        <p:nvSpPr>
          <p:cNvPr id="18" name="Shape 12"/>
          <p:cNvSpPr/>
          <p:nvPr/>
        </p:nvSpPr>
        <p:spPr>
          <a:xfrm>
            <a:off x="6190488" y="3255264"/>
            <a:ext cx="5468112" cy="1408176"/>
          </a:xfrm>
          <a:prstGeom prst="roundRect">
            <a:avLst>
              <a:gd name="adj" fmla="val 3896"/>
            </a:avLst>
          </a:prstGeom>
          <a:solidFill>
            <a:srgbClr val="FFFFFF"/>
          </a:solidFill>
          <a:ln w="12700">
            <a:solidFill>
              <a:srgbClr val="ECE6DE"/>
            </a:solidFill>
            <a:prstDash val="solid"/>
          </a:ln>
        </p:spPr>
      </p:sp>
      <p:sp>
        <p:nvSpPr>
          <p:cNvPr id="19" name="Shape 13"/>
          <p:cNvSpPr/>
          <p:nvPr/>
        </p:nvSpPr>
        <p:spPr>
          <a:xfrm>
            <a:off x="6190488" y="3255264"/>
            <a:ext cx="5468112" cy="310896"/>
          </a:xfrm>
          <a:prstGeom prst="rect">
            <a:avLst/>
          </a:prstGeom>
          <a:solidFill>
            <a:srgbClr val="50808E"/>
          </a:solidFill>
          <a:ln/>
        </p:spPr>
      </p:sp>
      <p:sp>
        <p:nvSpPr>
          <p:cNvPr id="20" name="Text 14"/>
          <p:cNvSpPr/>
          <p:nvPr/>
        </p:nvSpPr>
        <p:spPr>
          <a:xfrm>
            <a:off x="6327648" y="3255264"/>
            <a:ext cx="5193792" cy="310896"/>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PRODUCT_USAGE</a:t>
            </a:r>
            <a:endParaRPr lang="en-US" sz="1250" dirty="0"/>
          </a:p>
        </p:txBody>
      </p:sp>
      <p:graphicFrame>
        <p:nvGraphicFramePr>
          <p:cNvPr id="53" name="Table 3"/>
          <p:cNvGraphicFramePr>
            <a:graphicFrameLocks noGrp="1"/>
          </p:cNvGraphicFramePr>
          <p:nvPr>
            <p:extLst>
              <p:ext uri="{D42A27DB-BD31-4B8C-83A1-F6EECF244321}">
                <p14:modId xmlns:p14="http://schemas.microsoft.com/office/powerpoint/2010/main" val="1579011935"/>
              </p:ext>
            </p:extLst>
          </p:nvPr>
        </p:nvGraphicFramePr>
        <p:xfrm>
          <a:off x="6300216" y="3566160"/>
          <a:ext cx="5248656" cy="1060704"/>
        </p:xfrm>
        <a:graphic>
          <a:graphicData uri="http://schemas.openxmlformats.org/drawingml/2006/table">
            <a:tbl>
              <a:tblPr/>
              <a:tblGrid>
                <a:gridCol w="3464113"/>
                <a:gridCol w="1784543"/>
              </a:tblGrid>
              <a:tr h="212141">
                <a:tc>
                  <a:txBody>
                    <a:bodyPr/>
                    <a:lstStyle/>
                    <a:p>
                      <a:pPr indent="0" marL="0">
                        <a:buNone/>
                      </a:pPr>
                      <a:r>
                        <a:rPr lang="en-US" sz="950" b="1" dirty="0">
                          <a:solidFill>
                            <a:srgbClr val="5B6B6E"/>
                          </a:solidFill>
                          <a:latin typeface="Calibri" pitchFamily="34" charset="0"/>
                          <a:ea typeface="Calibri" pitchFamily="34" charset="-122"/>
                          <a:cs typeface="Calibri" pitchFamily="34" charset="-120"/>
                        </a:rPr>
                        <a:t>Column</a:t>
                      </a:r>
                      <a:endParaRPr lang="en-US" sz="95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50" b="1" dirty="0">
                          <a:solidFill>
                            <a:srgbClr val="5B6B6E"/>
                          </a:solidFill>
                          <a:latin typeface="Calibri" pitchFamily="34" charset="0"/>
                          <a:ea typeface="Calibri" pitchFamily="34" charset="-122"/>
                          <a:cs typeface="Calibri" pitchFamily="34" charset="-120"/>
                        </a:rPr>
                        <a:t>Key</a:t>
                      </a:r>
                      <a:endParaRPr lang="en-US" sz="95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r>
              <a:tr h="212141">
                <a:tc>
                  <a:txBody>
                    <a:bodyPr/>
                    <a:lstStyle/>
                    <a:p>
                      <a:pPr indent="0" marL="0">
                        <a:buNone/>
                      </a:pPr>
                      <a:r>
                        <a:rPr lang="en-US" sz="960" dirty="0">
                          <a:solidFill>
                            <a:srgbClr val="27343A"/>
                          </a:solidFill>
                          <a:latin typeface="Calibri" pitchFamily="34" charset="0"/>
                          <a:ea typeface="Calibri" pitchFamily="34" charset="-122"/>
                          <a:cs typeface="Calibri" pitchFamily="34" charset="-120"/>
                        </a:rPr>
                        <a:t>usage_id</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60" b="1" dirty="0">
                          <a:solidFill>
                            <a:srgbClr val="6D2E46"/>
                          </a:solidFill>
                          <a:latin typeface="Calibri" pitchFamily="34" charset="0"/>
                          <a:ea typeface="Calibri" pitchFamily="34" charset="-122"/>
                          <a:cs typeface="Calibri" pitchFamily="34" charset="-120"/>
                        </a:rPr>
                        <a:t>PK</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r>
              <a:tr h="212141">
                <a:tc>
                  <a:txBody>
                    <a:bodyPr/>
                    <a:lstStyle/>
                    <a:p>
                      <a:pPr indent="0" marL="0">
                        <a:buNone/>
                      </a:pPr>
                      <a:r>
                        <a:rPr lang="en-US" sz="960" dirty="0">
                          <a:solidFill>
                            <a:srgbClr val="27343A"/>
                          </a:solidFill>
                          <a:latin typeface="Calibri" pitchFamily="34" charset="0"/>
                          <a:ea typeface="Calibri" pitchFamily="34" charset="-122"/>
                          <a:cs typeface="Calibri" pitchFamily="34" charset="-120"/>
                        </a:rPr>
                        <a:t>appointment_id</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60" b="1" dirty="0">
                          <a:solidFill>
                            <a:srgbClr val="69A297"/>
                          </a:solidFill>
                          <a:latin typeface="Calibri" pitchFamily="34" charset="0"/>
                          <a:ea typeface="Calibri" pitchFamily="34" charset="-122"/>
                          <a:cs typeface="Calibri" pitchFamily="34" charset="-120"/>
                        </a:rPr>
                        <a:t>FK</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r>
              <a:tr h="212141">
                <a:tc>
                  <a:txBody>
                    <a:bodyPr/>
                    <a:lstStyle/>
                    <a:p>
                      <a:pPr indent="0" marL="0">
                        <a:buNone/>
                      </a:pPr>
                      <a:r>
                        <a:rPr lang="en-US" sz="960" dirty="0">
                          <a:solidFill>
                            <a:srgbClr val="27343A"/>
                          </a:solidFill>
                          <a:latin typeface="Calibri" pitchFamily="34" charset="0"/>
                          <a:ea typeface="Calibri" pitchFamily="34" charset="-122"/>
                          <a:cs typeface="Calibri" pitchFamily="34" charset="-120"/>
                        </a:rPr>
                        <a:t>product_id</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60" b="1" dirty="0">
                          <a:solidFill>
                            <a:srgbClr val="69A297"/>
                          </a:solidFill>
                          <a:latin typeface="Calibri" pitchFamily="34" charset="0"/>
                          <a:ea typeface="Calibri" pitchFamily="34" charset="-122"/>
                          <a:cs typeface="Calibri" pitchFamily="34" charset="-120"/>
                        </a:rPr>
                        <a:t>FK</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r>
              <a:tr h="212141">
                <a:tc>
                  <a:txBody>
                    <a:bodyPr/>
                    <a:lstStyle/>
                    <a:p>
                      <a:pPr indent="0" marL="0">
                        <a:buNone/>
                      </a:pPr>
                      <a:r>
                        <a:rPr lang="en-US" sz="960" dirty="0">
                          <a:solidFill>
                            <a:srgbClr val="27343A"/>
                          </a:solidFill>
                          <a:latin typeface="Calibri" pitchFamily="34" charset="0"/>
                          <a:ea typeface="Calibri" pitchFamily="34" charset="-122"/>
                          <a:cs typeface="Calibri" pitchFamily="34" charset="-120"/>
                        </a:rPr>
                        <a:t>quantity_used</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60" b="1" dirty="0">
                          <a:solidFill>
                            <a:srgbClr val="69A297"/>
                          </a:solidFill>
                          <a:latin typeface="Calibri" pitchFamily="34" charset="0"/>
                          <a:ea typeface="Calibri" pitchFamily="34" charset="-122"/>
                          <a:cs typeface="Calibri" pitchFamily="34" charset="-120"/>
                        </a:rPr>
                        <a:t>CHECK&gt;0</a:t>
                      </a:r>
                      <a:endParaRPr lang="en-US" sz="960" dirty="0">
                        <a:latin typeface="Calibri" charset="0"/>
                        <a:ea typeface="Calibri" charset="0"/>
                        <a:cs typeface="Calibri" charset="0"/>
                      </a:endParaRPr>
                    </a:p>
                  </a:txBody>
                  <a:tcPr marL="38100" marR="38100" marT="12700" marB="12700" anchor="ctr">
                    <a:lnL w="0" cap="flat" cmpd="sng" algn="ctr">
                      <a:noFill/>
                    </a:lnL>
                    <a:lnR w="0" cap="flat" cmpd="sng" algn="ctr">
                      <a:noFill/>
                    </a:lnR>
                    <a:lnT w="0" cap="flat" cmpd="sng" algn="ctr">
                      <a:noFill/>
                    </a:lnT>
                    <a:lnB w="0" cap="flat" cmpd="sng" algn="ctr">
                      <a:noFill/>
                    </a:lnB>
                  </a:tcPr>
                </a:tc>
              </a:tr>
            </a:tbl>
          </a:graphicData>
        </a:graphic>
      </p:graphicFrame>
      <p:sp>
        <p:nvSpPr>
          <p:cNvPr id="23" name="Text 15"/>
          <p:cNvSpPr/>
          <p:nvPr/>
        </p:nvSpPr>
        <p:spPr>
          <a:xfrm>
            <a:off x="502920" y="6473952"/>
            <a:ext cx="8229600" cy="274320"/>
          </a:xfrm>
          <a:prstGeom prst="rect">
            <a:avLst/>
          </a:prstGeom>
          <a:noFill/>
          <a:ln/>
        </p:spPr>
        <p:txBody>
          <a:bodyPr wrap="square" rtlCol="0" anchor="ctr"/>
          <a:lstStyle/>
          <a:p>
            <a:pPr indent="0" marL="0">
              <a:buNone/>
            </a:pPr>
            <a:r>
              <a:rPr lang="en-US" sz="900" spc="100" kern="0" dirty="0">
                <a:solidFill>
                  <a:srgbClr val="5B6B6E"/>
                </a:solidFill>
                <a:latin typeface="Calibri" pitchFamily="34" charset="0"/>
                <a:ea typeface="Calibri" pitchFamily="34" charset="-122"/>
                <a:cs typeface="Calibri" pitchFamily="34" charset="-120"/>
              </a:rPr>
              <a:t>SALON &amp; SPA APPOINTMENT MANAGEMENT SYSTEM  |  REVIEW 1</a:t>
            </a:r>
            <a:endParaRPr lang="en-US" sz="900" dirty="0"/>
          </a:p>
        </p:txBody>
      </p:sp>
      <p:sp>
        <p:nvSpPr>
          <p:cNvPr id="24" name="Text 16"/>
          <p:cNvSpPr/>
          <p:nvPr/>
        </p:nvSpPr>
        <p:spPr>
          <a:xfrm>
            <a:off x="11228832" y="6473952"/>
            <a:ext cx="457200" cy="274320"/>
          </a:xfrm>
          <a:prstGeom prst="rect">
            <a:avLst/>
          </a:prstGeom>
          <a:noFill/>
          <a:ln/>
        </p:spPr>
        <p:txBody>
          <a:bodyPr wrap="square" rtlCol="0" anchor="ctr"/>
          <a:lstStyle/>
          <a:p>
            <a:pPr algn="r" indent="0" marL="0">
              <a:buNone/>
            </a:pPr>
            <a:r>
              <a:rPr lang="en-US" sz="900" dirty="0">
                <a:solidFill>
                  <a:srgbClr val="5B6B6E"/>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02920" y="384048"/>
            <a:ext cx="8229600" cy="292608"/>
          </a:xfrm>
          <a:prstGeom prst="rect">
            <a:avLst/>
          </a:prstGeom>
          <a:noFill/>
          <a:ln/>
        </p:spPr>
        <p:txBody>
          <a:bodyPr wrap="square" rtlCol="0" anchor="ctr"/>
          <a:lstStyle/>
          <a:p>
            <a:pPr indent="0" marL="0">
              <a:buNone/>
            </a:pPr>
            <a:r>
              <a:rPr lang="en-US" sz="1200" b="1" spc="200" kern="0" dirty="0">
                <a:solidFill>
                  <a:srgbClr val="6D2E46"/>
                </a:solidFill>
                <a:latin typeface="Calibri" pitchFamily="34" charset="0"/>
                <a:ea typeface="Calibri" pitchFamily="34" charset="-122"/>
                <a:cs typeface="Calibri" pitchFamily="34" charset="-120"/>
              </a:rPr>
              <a:t>DATA INTEGRITY</a:t>
            </a:r>
            <a:endParaRPr lang="en-US" sz="1200" dirty="0"/>
          </a:p>
        </p:txBody>
      </p:sp>
      <p:sp>
        <p:nvSpPr>
          <p:cNvPr id="3" name="Text 1"/>
          <p:cNvSpPr txBox="1"/>
          <p:nvPr/>
        </p:nvSpPr>
        <p:spPr>
          <a:xfrm>
            <a:off x="502920" y="658368"/>
            <a:ext cx="9692640" cy="685800"/>
          </a:xfrm>
          <a:prstGeom prst="rect">
            <a:avLst/>
          </a:prstGeom>
          <a:noFill/>
          <a:ln/>
        </p:spPr>
        <p:txBody>
          <a:bodyPr wrap="square" rtlCol="0" anchor="ctr"/>
          <a:lstStyle/>
          <a:p>
            <a:pPr indent="0" marL="0">
              <a:buNone/>
            </a:pPr>
            <a:r>
              <a:rPr lang="en-US" sz="3000" b="1" dirty="0">
                <a:solidFill>
                  <a:srgbClr val="27343A"/>
                </a:solidFill>
                <a:latin typeface="Cambria" pitchFamily="34" charset="0"/>
                <a:ea typeface="Cambria" pitchFamily="34" charset="-122"/>
                <a:cs typeface="Cambria" pitchFamily="34" charset="-120"/>
              </a:rPr>
              <a:t>Key Business Rules to Enforce</a:t>
            </a:r>
            <a:endParaRPr lang="en-US" sz="3000" dirty="0"/>
          </a:p>
        </p:txBody>
      </p:sp>
      <p:sp>
        <p:nvSpPr>
          <p:cNvPr id="4" name="Shape 2"/>
          <p:cNvSpPr/>
          <p:nvPr/>
        </p:nvSpPr>
        <p:spPr>
          <a:xfrm>
            <a:off x="11119104" y="457200"/>
            <a:ext cx="566928" cy="566928"/>
          </a:xfrm>
          <a:prstGeom prst="ellipse">
            <a:avLst/>
          </a:prstGeom>
          <a:solidFill>
            <a:srgbClr val="6D2E46"/>
          </a:solidFill>
          <a:ln/>
        </p:spPr>
      </p:sp>
      <p:pic>
        <p:nvPicPr>
          <p:cNvPr id="5" name="Image 0" descr="/tmp/claude-0/-home-claude/12ac4f2c-a806-5c6e-9789-8d976e37a451/scratchpad/salon_ppt/icons/shield.png">    </p:cNvPr>
          <p:cNvPicPr>
            <a:picLocks noChangeAspect="1"/>
          </p:cNvPicPr>
          <p:nvPr/>
        </p:nvPicPr>
        <p:blipFill>
          <a:blip r:embed="rId1"/>
          <a:stretch>
            <a:fillRect/>
          </a:stretch>
        </p:blipFill>
        <p:spPr>
          <a:xfrm>
            <a:off x="11187135" y="525231"/>
            <a:ext cx="430865" cy="430865"/>
          </a:xfrm>
          <a:prstGeom prst="rect">
            <a:avLst/>
          </a:prstGeom>
        </p:spPr>
      </p:pic>
      <p:sp>
        <p:nvSpPr>
          <p:cNvPr id="6" name="Shape 3"/>
          <p:cNvSpPr/>
          <p:nvPr/>
        </p:nvSpPr>
        <p:spPr>
          <a:xfrm>
            <a:off x="502920" y="1600200"/>
            <a:ext cx="11155680" cy="713232"/>
          </a:xfrm>
          <a:prstGeom prst="roundRect">
            <a:avLst>
              <a:gd name="adj" fmla="val 8974"/>
            </a:avLst>
          </a:prstGeom>
          <a:solidFill>
            <a:srgbClr val="F3EFE7"/>
          </a:solidFill>
          <a:ln/>
        </p:spPr>
      </p:sp>
      <p:sp>
        <p:nvSpPr>
          <p:cNvPr id="7" name="Shape 4"/>
          <p:cNvSpPr/>
          <p:nvPr/>
        </p:nvSpPr>
        <p:spPr>
          <a:xfrm>
            <a:off x="713232" y="1764792"/>
            <a:ext cx="384048" cy="384048"/>
          </a:xfrm>
          <a:prstGeom prst="ellipse">
            <a:avLst/>
          </a:prstGeom>
          <a:solidFill>
            <a:srgbClr val="6D2E46"/>
          </a:solidFill>
          <a:ln/>
        </p:spPr>
      </p:sp>
      <p:sp>
        <p:nvSpPr>
          <p:cNvPr id="8" name="Text 5"/>
          <p:cNvSpPr/>
          <p:nvPr/>
        </p:nvSpPr>
        <p:spPr>
          <a:xfrm>
            <a:off x="713232" y="1764792"/>
            <a:ext cx="384048" cy="384048"/>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9" name="Text 6"/>
          <p:cNvSpPr/>
          <p:nvPr/>
        </p:nvSpPr>
        <p:spPr>
          <a:xfrm>
            <a:off x="1325880" y="1600200"/>
            <a:ext cx="3200400" cy="713232"/>
          </a:xfrm>
          <a:prstGeom prst="rect">
            <a:avLst/>
          </a:prstGeom>
          <a:noFill/>
          <a:ln/>
        </p:spPr>
        <p:txBody>
          <a:bodyPr wrap="square" rtlCol="0" anchor="ctr"/>
          <a:lstStyle/>
          <a:p>
            <a:pPr indent="0" marL="0">
              <a:buNone/>
            </a:pPr>
            <a:r>
              <a:rPr lang="en-US" sz="1300" b="1" dirty="0">
                <a:solidFill>
                  <a:srgbClr val="27343A"/>
                </a:solidFill>
                <a:latin typeface="Calibri" pitchFamily="34" charset="0"/>
                <a:ea typeface="Calibri" pitchFamily="34" charset="-122"/>
                <a:cs typeface="Calibri" pitchFamily="34" charset="-120"/>
              </a:rPr>
              <a:t>No Overlapping Appointments</a:t>
            </a:r>
            <a:endParaRPr lang="en-US" sz="1300" dirty="0"/>
          </a:p>
        </p:txBody>
      </p:sp>
      <p:sp>
        <p:nvSpPr>
          <p:cNvPr id="10" name="Text 7"/>
          <p:cNvSpPr/>
          <p:nvPr/>
        </p:nvSpPr>
        <p:spPr>
          <a:xfrm>
            <a:off x="4663440" y="1600200"/>
            <a:ext cx="6812280" cy="713232"/>
          </a:xfrm>
          <a:prstGeom prst="rect">
            <a:avLst/>
          </a:prstGeom>
          <a:noFill/>
          <a:ln/>
        </p:spPr>
        <p:txBody>
          <a:bodyPr wrap="square" rtlCol="0" anchor="ctr"/>
          <a:lstStyle/>
          <a:p>
            <a:pPr indent="0" marL="0">
              <a:buNone/>
            </a:pPr>
            <a:r>
              <a:rPr lang="en-US" sz="1200" dirty="0">
                <a:solidFill>
                  <a:srgbClr val="5B6B6E"/>
                </a:solidFill>
                <a:latin typeface="Calibri" pitchFamily="34" charset="0"/>
                <a:ea typeface="Calibri" pitchFamily="34" charset="-122"/>
                <a:cs typeface="Calibri" pitchFamily="34" charset="-120"/>
              </a:rPr>
              <a:t>A staff member cannot be booked for two appointments with intersecting time ranges.</a:t>
            </a:r>
            <a:endParaRPr lang="en-US" sz="1200" dirty="0"/>
          </a:p>
        </p:txBody>
      </p:sp>
      <p:sp>
        <p:nvSpPr>
          <p:cNvPr id="11" name="Shape 8"/>
          <p:cNvSpPr/>
          <p:nvPr/>
        </p:nvSpPr>
        <p:spPr>
          <a:xfrm>
            <a:off x="502920" y="2441448"/>
            <a:ext cx="11155680" cy="713232"/>
          </a:xfrm>
          <a:prstGeom prst="roundRect">
            <a:avLst>
              <a:gd name="adj" fmla="val 8974"/>
            </a:avLst>
          </a:prstGeom>
          <a:solidFill>
            <a:srgbClr val="FFFFFF"/>
          </a:solidFill>
          <a:ln/>
        </p:spPr>
      </p:sp>
      <p:sp>
        <p:nvSpPr>
          <p:cNvPr id="12" name="Shape 9"/>
          <p:cNvSpPr/>
          <p:nvPr/>
        </p:nvSpPr>
        <p:spPr>
          <a:xfrm>
            <a:off x="713232" y="2606040"/>
            <a:ext cx="384048" cy="384048"/>
          </a:xfrm>
          <a:prstGeom prst="ellipse">
            <a:avLst/>
          </a:prstGeom>
          <a:solidFill>
            <a:srgbClr val="6D2E46"/>
          </a:solidFill>
          <a:ln/>
        </p:spPr>
      </p:sp>
      <p:sp>
        <p:nvSpPr>
          <p:cNvPr id="13" name="Text 10"/>
          <p:cNvSpPr/>
          <p:nvPr/>
        </p:nvSpPr>
        <p:spPr>
          <a:xfrm>
            <a:off x="713232" y="2606040"/>
            <a:ext cx="384048" cy="384048"/>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4" name="Text 11"/>
          <p:cNvSpPr/>
          <p:nvPr/>
        </p:nvSpPr>
        <p:spPr>
          <a:xfrm>
            <a:off x="1325880" y="2441448"/>
            <a:ext cx="3200400" cy="713232"/>
          </a:xfrm>
          <a:prstGeom prst="rect">
            <a:avLst/>
          </a:prstGeom>
          <a:noFill/>
          <a:ln/>
        </p:spPr>
        <p:txBody>
          <a:bodyPr wrap="square" rtlCol="0" anchor="ctr"/>
          <a:lstStyle/>
          <a:p>
            <a:pPr indent="0" marL="0">
              <a:buNone/>
            </a:pPr>
            <a:r>
              <a:rPr lang="en-US" sz="1300" b="1" dirty="0">
                <a:solidFill>
                  <a:srgbClr val="27343A"/>
                </a:solidFill>
                <a:latin typeface="Calibri" pitchFamily="34" charset="0"/>
                <a:ea typeface="Calibri" pitchFamily="34" charset="-122"/>
                <a:cs typeface="Calibri" pitchFamily="34" charset="-120"/>
              </a:rPr>
              <a:t>Skill Match</a:t>
            </a:r>
            <a:endParaRPr lang="en-US" sz="1300" dirty="0"/>
          </a:p>
        </p:txBody>
      </p:sp>
      <p:sp>
        <p:nvSpPr>
          <p:cNvPr id="15" name="Text 12"/>
          <p:cNvSpPr/>
          <p:nvPr/>
        </p:nvSpPr>
        <p:spPr>
          <a:xfrm>
            <a:off x="4663440" y="2441448"/>
            <a:ext cx="6812280" cy="713232"/>
          </a:xfrm>
          <a:prstGeom prst="rect">
            <a:avLst/>
          </a:prstGeom>
          <a:noFill/>
          <a:ln/>
        </p:spPr>
        <p:txBody>
          <a:bodyPr wrap="square" rtlCol="0" anchor="ctr"/>
          <a:lstStyle/>
          <a:p>
            <a:pPr indent="0" marL="0">
              <a:buNone/>
            </a:pPr>
            <a:r>
              <a:rPr lang="en-US" sz="1200" dirty="0">
                <a:solidFill>
                  <a:srgbClr val="5B6B6E"/>
                </a:solidFill>
                <a:latin typeface="Calibri" pitchFamily="34" charset="0"/>
                <a:ea typeface="Calibri" pitchFamily="34" charset="-122"/>
                <a:cs typeface="Calibri" pitchFamily="34" charset="-120"/>
              </a:rPr>
              <a:t>Staff assigned to an appointment must possess the skill required by the booked service.</a:t>
            </a:r>
            <a:endParaRPr lang="en-US" sz="1200" dirty="0"/>
          </a:p>
        </p:txBody>
      </p:sp>
      <p:sp>
        <p:nvSpPr>
          <p:cNvPr id="16" name="Shape 13"/>
          <p:cNvSpPr/>
          <p:nvPr/>
        </p:nvSpPr>
        <p:spPr>
          <a:xfrm>
            <a:off x="502920" y="3282696"/>
            <a:ext cx="11155680" cy="713232"/>
          </a:xfrm>
          <a:prstGeom prst="roundRect">
            <a:avLst>
              <a:gd name="adj" fmla="val 8974"/>
            </a:avLst>
          </a:prstGeom>
          <a:solidFill>
            <a:srgbClr val="F3EFE7"/>
          </a:solidFill>
          <a:ln/>
        </p:spPr>
      </p:sp>
      <p:sp>
        <p:nvSpPr>
          <p:cNvPr id="17" name="Shape 14"/>
          <p:cNvSpPr/>
          <p:nvPr/>
        </p:nvSpPr>
        <p:spPr>
          <a:xfrm>
            <a:off x="713232" y="3447288"/>
            <a:ext cx="384048" cy="384048"/>
          </a:xfrm>
          <a:prstGeom prst="ellipse">
            <a:avLst/>
          </a:prstGeom>
          <a:solidFill>
            <a:srgbClr val="6D2E46"/>
          </a:solidFill>
          <a:ln/>
        </p:spPr>
      </p:sp>
      <p:sp>
        <p:nvSpPr>
          <p:cNvPr id="18" name="Text 15"/>
          <p:cNvSpPr/>
          <p:nvPr/>
        </p:nvSpPr>
        <p:spPr>
          <a:xfrm>
            <a:off x="713232" y="3447288"/>
            <a:ext cx="384048" cy="384048"/>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9" name="Text 16"/>
          <p:cNvSpPr/>
          <p:nvPr/>
        </p:nvSpPr>
        <p:spPr>
          <a:xfrm>
            <a:off x="1325880" y="3282696"/>
            <a:ext cx="3200400" cy="713232"/>
          </a:xfrm>
          <a:prstGeom prst="rect">
            <a:avLst/>
          </a:prstGeom>
          <a:noFill/>
          <a:ln/>
        </p:spPr>
        <p:txBody>
          <a:bodyPr wrap="square" rtlCol="0" anchor="ctr"/>
          <a:lstStyle/>
          <a:p>
            <a:pPr indent="0" marL="0">
              <a:buNone/>
            </a:pPr>
            <a:r>
              <a:rPr lang="en-US" sz="1300" b="1" dirty="0">
                <a:solidFill>
                  <a:srgbClr val="27343A"/>
                </a:solidFill>
                <a:latin typeface="Calibri" pitchFamily="34" charset="0"/>
                <a:ea typeface="Calibri" pitchFamily="34" charset="-122"/>
                <a:cs typeface="Calibri" pitchFamily="34" charset="-120"/>
              </a:rPr>
              <a:t>Package-Session Limits</a:t>
            </a:r>
            <a:endParaRPr lang="en-US" sz="1300" dirty="0"/>
          </a:p>
        </p:txBody>
      </p:sp>
      <p:sp>
        <p:nvSpPr>
          <p:cNvPr id="20" name="Text 17"/>
          <p:cNvSpPr/>
          <p:nvPr/>
        </p:nvSpPr>
        <p:spPr>
          <a:xfrm>
            <a:off x="4663440" y="3282696"/>
            <a:ext cx="6812280" cy="713232"/>
          </a:xfrm>
          <a:prstGeom prst="rect">
            <a:avLst/>
          </a:prstGeom>
          <a:noFill/>
          <a:ln/>
        </p:spPr>
        <p:txBody>
          <a:bodyPr wrap="square" rtlCol="0" anchor="ctr"/>
          <a:lstStyle/>
          <a:p>
            <a:pPr indent="0" marL="0">
              <a:buNone/>
            </a:pPr>
            <a:r>
              <a:rPr lang="en-US" sz="1200" dirty="0">
                <a:solidFill>
                  <a:srgbClr val="5B6B6E"/>
                </a:solidFill>
                <a:latin typeface="Calibri" pitchFamily="34" charset="0"/>
                <a:ea typeface="Calibri" pitchFamily="34" charset="-122"/>
                <a:cs typeface="Calibri" pitchFamily="34" charset="-120"/>
              </a:rPr>
              <a:t>sessions_used on a membership can never exceed the package's total_sessions.</a:t>
            </a:r>
            <a:endParaRPr lang="en-US" sz="1200" dirty="0"/>
          </a:p>
        </p:txBody>
      </p:sp>
      <p:sp>
        <p:nvSpPr>
          <p:cNvPr id="21" name="Shape 18"/>
          <p:cNvSpPr/>
          <p:nvPr/>
        </p:nvSpPr>
        <p:spPr>
          <a:xfrm>
            <a:off x="502920" y="4123944"/>
            <a:ext cx="11155680" cy="713232"/>
          </a:xfrm>
          <a:prstGeom prst="roundRect">
            <a:avLst>
              <a:gd name="adj" fmla="val 8974"/>
            </a:avLst>
          </a:prstGeom>
          <a:solidFill>
            <a:srgbClr val="FFFFFF"/>
          </a:solidFill>
          <a:ln/>
        </p:spPr>
      </p:sp>
      <p:sp>
        <p:nvSpPr>
          <p:cNvPr id="22" name="Shape 19"/>
          <p:cNvSpPr/>
          <p:nvPr/>
        </p:nvSpPr>
        <p:spPr>
          <a:xfrm>
            <a:off x="713232" y="4288536"/>
            <a:ext cx="384048" cy="384048"/>
          </a:xfrm>
          <a:prstGeom prst="ellipse">
            <a:avLst/>
          </a:prstGeom>
          <a:solidFill>
            <a:srgbClr val="6D2E46"/>
          </a:solidFill>
          <a:ln/>
        </p:spPr>
      </p:sp>
      <p:sp>
        <p:nvSpPr>
          <p:cNvPr id="23" name="Text 20"/>
          <p:cNvSpPr/>
          <p:nvPr/>
        </p:nvSpPr>
        <p:spPr>
          <a:xfrm>
            <a:off x="713232" y="4288536"/>
            <a:ext cx="384048" cy="384048"/>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4" name="Text 21"/>
          <p:cNvSpPr/>
          <p:nvPr/>
        </p:nvSpPr>
        <p:spPr>
          <a:xfrm>
            <a:off x="1325880" y="4123944"/>
            <a:ext cx="3200400" cy="713232"/>
          </a:xfrm>
          <a:prstGeom prst="rect">
            <a:avLst/>
          </a:prstGeom>
          <a:noFill/>
          <a:ln/>
        </p:spPr>
        <p:txBody>
          <a:bodyPr wrap="square" rtlCol="0" anchor="ctr"/>
          <a:lstStyle/>
          <a:p>
            <a:pPr indent="0" marL="0">
              <a:buNone/>
            </a:pPr>
            <a:r>
              <a:rPr lang="en-US" sz="1300" b="1" dirty="0">
                <a:solidFill>
                  <a:srgbClr val="27343A"/>
                </a:solidFill>
                <a:latin typeface="Calibri" pitchFamily="34" charset="0"/>
                <a:ea typeface="Calibri" pitchFamily="34" charset="-122"/>
                <a:cs typeface="Calibri" pitchFamily="34" charset="-120"/>
              </a:rPr>
              <a:t>Valid Appointment Times</a:t>
            </a:r>
            <a:endParaRPr lang="en-US" sz="1300" dirty="0"/>
          </a:p>
        </p:txBody>
      </p:sp>
      <p:sp>
        <p:nvSpPr>
          <p:cNvPr id="25" name="Text 22"/>
          <p:cNvSpPr/>
          <p:nvPr/>
        </p:nvSpPr>
        <p:spPr>
          <a:xfrm>
            <a:off x="4663440" y="4123944"/>
            <a:ext cx="6812280" cy="713232"/>
          </a:xfrm>
          <a:prstGeom prst="rect">
            <a:avLst/>
          </a:prstGeom>
          <a:noFill/>
          <a:ln/>
        </p:spPr>
        <p:txBody>
          <a:bodyPr wrap="square" rtlCol="0" anchor="ctr"/>
          <a:lstStyle/>
          <a:p>
            <a:pPr indent="0" marL="0">
              <a:buNone/>
            </a:pPr>
            <a:r>
              <a:rPr lang="en-US" sz="1200" dirty="0">
                <a:solidFill>
                  <a:srgbClr val="5B6B6E"/>
                </a:solidFill>
                <a:latin typeface="Calibri" pitchFamily="34" charset="0"/>
                <a:ea typeface="Calibri" pitchFamily="34" charset="-122"/>
                <a:cs typeface="Calibri" pitchFamily="34" charset="-120"/>
              </a:rPr>
              <a:t>Appointments must fall within staff schedule hours, with end_time after start_time.</a:t>
            </a:r>
            <a:endParaRPr lang="en-US" sz="1200" dirty="0"/>
          </a:p>
        </p:txBody>
      </p:sp>
      <p:sp>
        <p:nvSpPr>
          <p:cNvPr id="26" name="Shape 23"/>
          <p:cNvSpPr/>
          <p:nvPr/>
        </p:nvSpPr>
        <p:spPr>
          <a:xfrm>
            <a:off x="502920" y="4965192"/>
            <a:ext cx="11155680" cy="713232"/>
          </a:xfrm>
          <a:prstGeom prst="roundRect">
            <a:avLst>
              <a:gd name="adj" fmla="val 8974"/>
            </a:avLst>
          </a:prstGeom>
          <a:solidFill>
            <a:srgbClr val="F3EFE7"/>
          </a:solidFill>
          <a:ln/>
        </p:spPr>
      </p:sp>
      <p:sp>
        <p:nvSpPr>
          <p:cNvPr id="27" name="Shape 24"/>
          <p:cNvSpPr/>
          <p:nvPr/>
        </p:nvSpPr>
        <p:spPr>
          <a:xfrm>
            <a:off x="713232" y="5129784"/>
            <a:ext cx="384048" cy="384048"/>
          </a:xfrm>
          <a:prstGeom prst="ellipse">
            <a:avLst/>
          </a:prstGeom>
          <a:solidFill>
            <a:srgbClr val="6D2E46"/>
          </a:solidFill>
          <a:ln/>
        </p:spPr>
      </p:sp>
      <p:sp>
        <p:nvSpPr>
          <p:cNvPr id="28" name="Text 25"/>
          <p:cNvSpPr/>
          <p:nvPr/>
        </p:nvSpPr>
        <p:spPr>
          <a:xfrm>
            <a:off x="713232" y="5129784"/>
            <a:ext cx="384048" cy="384048"/>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29" name="Text 26"/>
          <p:cNvSpPr/>
          <p:nvPr/>
        </p:nvSpPr>
        <p:spPr>
          <a:xfrm>
            <a:off x="1325880" y="4965192"/>
            <a:ext cx="3200400" cy="713232"/>
          </a:xfrm>
          <a:prstGeom prst="rect">
            <a:avLst/>
          </a:prstGeom>
          <a:noFill/>
          <a:ln/>
        </p:spPr>
        <p:txBody>
          <a:bodyPr wrap="square" rtlCol="0" anchor="ctr"/>
          <a:lstStyle/>
          <a:p>
            <a:pPr indent="0" marL="0">
              <a:buNone/>
            </a:pPr>
            <a:r>
              <a:rPr lang="en-US" sz="1300" b="1" dirty="0">
                <a:solidFill>
                  <a:srgbClr val="27343A"/>
                </a:solidFill>
                <a:latin typeface="Calibri" pitchFamily="34" charset="0"/>
                <a:ea typeface="Calibri" pitchFamily="34" charset="-122"/>
                <a:cs typeface="Calibri" pitchFamily="34" charset="-120"/>
              </a:rPr>
              <a:t>Payment Limits</a:t>
            </a:r>
            <a:endParaRPr lang="en-US" sz="1300" dirty="0"/>
          </a:p>
        </p:txBody>
      </p:sp>
      <p:sp>
        <p:nvSpPr>
          <p:cNvPr id="30" name="Text 27"/>
          <p:cNvSpPr/>
          <p:nvPr/>
        </p:nvSpPr>
        <p:spPr>
          <a:xfrm>
            <a:off x="4663440" y="4965192"/>
            <a:ext cx="6812280" cy="713232"/>
          </a:xfrm>
          <a:prstGeom prst="rect">
            <a:avLst/>
          </a:prstGeom>
          <a:noFill/>
          <a:ln/>
        </p:spPr>
        <p:txBody>
          <a:bodyPr wrap="square" rtlCol="0" anchor="ctr"/>
          <a:lstStyle/>
          <a:p>
            <a:pPr indent="0" marL="0">
              <a:buNone/>
            </a:pPr>
            <a:r>
              <a:rPr lang="en-US" sz="1200" dirty="0">
                <a:solidFill>
                  <a:srgbClr val="5B6B6E"/>
                </a:solidFill>
                <a:latin typeface="Calibri" pitchFamily="34" charset="0"/>
                <a:ea typeface="Calibri" pitchFamily="34" charset="-122"/>
                <a:cs typeface="Calibri" pitchFamily="34" charset="-120"/>
              </a:rPr>
              <a:t>Sum of payments against a bill cannot exceed the bill's total_amount.</a:t>
            </a:r>
            <a:endParaRPr lang="en-US" sz="1200" dirty="0"/>
          </a:p>
        </p:txBody>
      </p:sp>
      <p:sp>
        <p:nvSpPr>
          <p:cNvPr id="32" name="Text 28"/>
          <p:cNvSpPr/>
          <p:nvPr/>
        </p:nvSpPr>
        <p:spPr>
          <a:xfrm>
            <a:off x="502920" y="6473952"/>
            <a:ext cx="8229600" cy="274320"/>
          </a:xfrm>
          <a:prstGeom prst="rect">
            <a:avLst/>
          </a:prstGeom>
          <a:noFill/>
          <a:ln/>
        </p:spPr>
        <p:txBody>
          <a:bodyPr wrap="square" rtlCol="0" anchor="ctr"/>
          <a:lstStyle/>
          <a:p>
            <a:pPr indent="0" marL="0">
              <a:buNone/>
            </a:pPr>
            <a:r>
              <a:rPr lang="en-US" sz="900" spc="100" kern="0" dirty="0">
                <a:solidFill>
                  <a:srgbClr val="5B6B6E"/>
                </a:solidFill>
                <a:latin typeface="Calibri" pitchFamily="34" charset="0"/>
                <a:ea typeface="Calibri" pitchFamily="34" charset="-122"/>
                <a:cs typeface="Calibri" pitchFamily="34" charset="-120"/>
              </a:rPr>
              <a:t>SALON &amp; SPA APPOINTMENT MANAGEMENT SYSTEM  |  REVIEW 1</a:t>
            </a:r>
            <a:endParaRPr lang="en-US" sz="900" dirty="0"/>
          </a:p>
        </p:txBody>
      </p:sp>
      <p:sp>
        <p:nvSpPr>
          <p:cNvPr id="33" name="Text 29"/>
          <p:cNvSpPr/>
          <p:nvPr/>
        </p:nvSpPr>
        <p:spPr>
          <a:xfrm>
            <a:off x="11228832" y="6473952"/>
            <a:ext cx="457200" cy="274320"/>
          </a:xfrm>
          <a:prstGeom prst="rect">
            <a:avLst/>
          </a:prstGeom>
          <a:noFill/>
          <a:ln/>
        </p:spPr>
        <p:txBody>
          <a:bodyPr wrap="square" rtlCol="0" anchor="ctr"/>
          <a:lstStyle/>
          <a:p>
            <a:pPr algn="r" indent="0" marL="0">
              <a:buNone/>
            </a:pPr>
            <a:r>
              <a:rPr lang="en-US" sz="900" dirty="0">
                <a:solidFill>
                  <a:srgbClr val="5B6B6E"/>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02920" y="384048"/>
            <a:ext cx="8229600" cy="292608"/>
          </a:xfrm>
          <a:prstGeom prst="rect">
            <a:avLst/>
          </a:prstGeom>
          <a:noFill/>
          <a:ln/>
        </p:spPr>
        <p:txBody>
          <a:bodyPr wrap="square" rtlCol="0" anchor="ctr"/>
          <a:lstStyle/>
          <a:p>
            <a:pPr indent="0" marL="0">
              <a:buNone/>
            </a:pPr>
            <a:r>
              <a:rPr lang="en-US" sz="1200" b="1" spc="200" kern="0" dirty="0">
                <a:solidFill>
                  <a:srgbClr val="6D2E46"/>
                </a:solidFill>
                <a:latin typeface="Calibri" pitchFamily="34" charset="0"/>
                <a:ea typeface="Calibri" pitchFamily="34" charset="-122"/>
                <a:cs typeface="Calibri" pitchFamily="34" charset="-120"/>
              </a:rPr>
              <a:t>WRAPPING UP</a:t>
            </a:r>
            <a:endParaRPr lang="en-US" sz="1200" dirty="0"/>
          </a:p>
        </p:txBody>
      </p:sp>
      <p:sp>
        <p:nvSpPr>
          <p:cNvPr id="3" name="Text 1"/>
          <p:cNvSpPr txBox="1"/>
          <p:nvPr/>
        </p:nvSpPr>
        <p:spPr>
          <a:xfrm>
            <a:off x="502920" y="658368"/>
            <a:ext cx="9692640" cy="685800"/>
          </a:xfrm>
          <a:prstGeom prst="rect">
            <a:avLst/>
          </a:prstGeom>
          <a:noFill/>
          <a:ln/>
        </p:spPr>
        <p:txBody>
          <a:bodyPr wrap="square" rtlCol="0" anchor="ctr"/>
          <a:lstStyle/>
          <a:p>
            <a:pPr indent="0" marL="0">
              <a:buNone/>
            </a:pPr>
            <a:r>
              <a:rPr lang="en-US" sz="3000" b="1" dirty="0">
                <a:solidFill>
                  <a:srgbClr val="27343A"/>
                </a:solidFill>
                <a:latin typeface="Cambria" pitchFamily="34" charset="0"/>
                <a:ea typeface="Cambria" pitchFamily="34" charset="-122"/>
                <a:cs typeface="Cambria" pitchFamily="34" charset="-120"/>
              </a:rPr>
              <a:t>Review 1 Recap &amp; What's Next</a:t>
            </a:r>
            <a:endParaRPr lang="en-US" sz="3000" dirty="0"/>
          </a:p>
        </p:txBody>
      </p:sp>
      <p:sp>
        <p:nvSpPr>
          <p:cNvPr id="4" name="Shape 2"/>
          <p:cNvSpPr/>
          <p:nvPr/>
        </p:nvSpPr>
        <p:spPr>
          <a:xfrm>
            <a:off x="11119104" y="457200"/>
            <a:ext cx="566928" cy="566928"/>
          </a:xfrm>
          <a:prstGeom prst="ellipse">
            <a:avLst/>
          </a:prstGeom>
          <a:solidFill>
            <a:srgbClr val="6D2E46"/>
          </a:solidFill>
          <a:ln/>
        </p:spPr>
      </p:sp>
      <p:pic>
        <p:nvPicPr>
          <p:cNvPr id="5" name="Image 0" descr="/tmp/claude-0/-home-claude/12ac4f2c-a806-5c6e-9789-8d976e37a451/scratchpad/salon_ppt/icons/clipboard.png">    </p:cNvPr>
          <p:cNvPicPr>
            <a:picLocks noChangeAspect="1"/>
          </p:cNvPicPr>
          <p:nvPr/>
        </p:nvPicPr>
        <p:blipFill>
          <a:blip r:embed="rId1"/>
          <a:stretch>
            <a:fillRect/>
          </a:stretch>
        </p:blipFill>
        <p:spPr>
          <a:xfrm>
            <a:off x="11187135" y="525231"/>
            <a:ext cx="430865" cy="430865"/>
          </a:xfrm>
          <a:prstGeom prst="rect">
            <a:avLst/>
          </a:prstGeom>
        </p:spPr>
      </p:pic>
      <p:sp>
        <p:nvSpPr>
          <p:cNvPr id="6" name="Shape 3"/>
          <p:cNvSpPr/>
          <p:nvPr/>
        </p:nvSpPr>
        <p:spPr>
          <a:xfrm>
            <a:off x="502920" y="1600200"/>
            <a:ext cx="5468112" cy="4480560"/>
          </a:xfrm>
          <a:prstGeom prst="roundRect">
            <a:avLst>
              <a:gd name="adj" fmla="val 2041"/>
            </a:avLst>
          </a:prstGeom>
          <a:solidFill>
            <a:srgbClr val="F3EFE7"/>
          </a:solidFill>
          <a:ln/>
        </p:spPr>
      </p:sp>
      <p:sp>
        <p:nvSpPr>
          <p:cNvPr id="7" name="Text 4"/>
          <p:cNvSpPr/>
          <p:nvPr/>
        </p:nvSpPr>
        <p:spPr>
          <a:xfrm>
            <a:off x="822960" y="1828800"/>
            <a:ext cx="4846320" cy="292608"/>
          </a:xfrm>
          <a:prstGeom prst="rect">
            <a:avLst/>
          </a:prstGeom>
          <a:noFill/>
          <a:ln/>
        </p:spPr>
        <p:txBody>
          <a:bodyPr wrap="square" rtlCol="0" anchor="ctr"/>
          <a:lstStyle/>
          <a:p>
            <a:pPr indent="0" marL="0">
              <a:buNone/>
            </a:pPr>
            <a:r>
              <a:rPr lang="en-US" sz="1250" b="1" spc="150" kern="0" dirty="0">
                <a:solidFill>
                  <a:srgbClr val="69A297"/>
                </a:solidFill>
                <a:latin typeface="Calibri" pitchFamily="34" charset="0"/>
                <a:ea typeface="Calibri" pitchFamily="34" charset="-122"/>
                <a:cs typeface="Calibri" pitchFamily="34" charset="-120"/>
              </a:rPr>
              <a:t>DELIVERED IN REVIEW 1</a:t>
            </a:r>
            <a:endParaRPr lang="en-US" sz="1250" dirty="0"/>
          </a:p>
        </p:txBody>
      </p:sp>
      <p:sp>
        <p:nvSpPr>
          <p:cNvPr id="8" name="Text 5"/>
          <p:cNvSpPr/>
          <p:nvPr/>
        </p:nvSpPr>
        <p:spPr>
          <a:xfrm>
            <a:off x="822960" y="2212848"/>
            <a:ext cx="4892040" cy="3749040"/>
          </a:xfrm>
          <a:prstGeom prst="rect">
            <a:avLst/>
          </a:prstGeom>
          <a:noFill/>
          <a:ln/>
        </p:spPr>
        <p:txBody>
          <a:bodyPr wrap="square" rtlCol="0" anchor="t"/>
          <a:lstStyle/>
          <a:p>
            <a:pPr marL="342900" indent="-342900">
              <a:lnSpc>
                <a:spcPct val="130000"/>
              </a:lnSpc>
              <a:spcAft>
                <a:spcPts val="1000"/>
              </a:spcAft>
              <a:buSzPct val="100000"/>
              <a:buChar char="✓"/>
            </a:pPr>
            <a:r>
              <a:rPr lang="en-US" sz="1250" dirty="0">
                <a:solidFill>
                  <a:srgbClr val="27343A"/>
                </a:solidFill>
                <a:latin typeface="Calibri" pitchFamily="34" charset="0"/>
                <a:ea typeface="Calibri" pitchFamily="34" charset="-122"/>
                <a:cs typeface="Calibri" pitchFamily="34" charset="-120"/>
              </a:rPr>
              <a:t>Problem identification, scope &amp; objectives</a:t>
            </a:r>
            <a:endParaRPr lang="en-US" sz="1250" dirty="0"/>
          </a:p>
          <a:p>
            <a:pPr marL="342900" indent="-342900">
              <a:lnSpc>
                <a:spcPct val="130000"/>
              </a:lnSpc>
              <a:spcAft>
                <a:spcPts val="1000"/>
              </a:spcAft>
              <a:buSzPct val="100000"/>
              <a:buChar char="✓"/>
            </a:pPr>
            <a:r>
              <a:rPr lang="en-US" sz="1250" dirty="0">
                <a:solidFill>
                  <a:srgbClr val="27343A"/>
                </a:solidFill>
                <a:latin typeface="Calibri" pitchFamily="34" charset="0"/>
                <a:ea typeface="Calibri" pitchFamily="34" charset="-122"/>
                <a:cs typeface="Calibri" pitchFamily="34" charset="-120"/>
              </a:rPr>
              <a:t>Identified users and functional requirements</a:t>
            </a:r>
            <a:endParaRPr lang="en-US" sz="1250" dirty="0"/>
          </a:p>
          <a:p>
            <a:pPr marL="342900" indent="-342900">
              <a:lnSpc>
                <a:spcPct val="130000"/>
              </a:lnSpc>
              <a:spcAft>
                <a:spcPts val="1000"/>
              </a:spcAft>
              <a:buSzPct val="100000"/>
              <a:buChar char="✓"/>
            </a:pPr>
            <a:r>
              <a:rPr lang="en-US" sz="1250" dirty="0">
                <a:solidFill>
                  <a:srgbClr val="27343A"/>
                </a:solidFill>
                <a:latin typeface="Calibri" pitchFamily="34" charset="0"/>
                <a:ea typeface="Calibri" pitchFamily="34" charset="-122"/>
                <a:cs typeface="Calibri" pitchFamily="34" charset="-120"/>
              </a:rPr>
              <a:t>Conceptual design with full ER diagram</a:t>
            </a:r>
            <a:endParaRPr lang="en-US" sz="1250" dirty="0"/>
          </a:p>
          <a:p>
            <a:pPr marL="342900" indent="-342900">
              <a:lnSpc>
                <a:spcPct val="130000"/>
              </a:lnSpc>
              <a:spcAft>
                <a:spcPts val="1000"/>
              </a:spcAft>
              <a:buSzPct val="100000"/>
              <a:buChar char="✓"/>
            </a:pPr>
            <a:r>
              <a:rPr lang="en-US" sz="1250" dirty="0">
                <a:solidFill>
                  <a:srgbClr val="27343A"/>
                </a:solidFill>
                <a:latin typeface="Calibri" pitchFamily="34" charset="0"/>
                <a:ea typeface="Calibri" pitchFamily="34" charset="-122"/>
                <a:cs typeface="Calibri" pitchFamily="34" charset="-120"/>
              </a:rPr>
              <a:t>Initial relational schema — 14 proposed tables with primary &amp; foreign keys</a:t>
            </a:r>
            <a:endParaRPr lang="en-US" sz="1250" dirty="0"/>
          </a:p>
        </p:txBody>
      </p:sp>
      <p:sp>
        <p:nvSpPr>
          <p:cNvPr id="9" name="Shape 6"/>
          <p:cNvSpPr/>
          <p:nvPr/>
        </p:nvSpPr>
        <p:spPr>
          <a:xfrm>
            <a:off x="6217920" y="1600200"/>
            <a:ext cx="5468112" cy="4480560"/>
          </a:xfrm>
          <a:prstGeom prst="roundRect">
            <a:avLst>
              <a:gd name="adj" fmla="val 2041"/>
            </a:avLst>
          </a:prstGeom>
          <a:solidFill>
            <a:srgbClr val="50808E"/>
          </a:solidFill>
          <a:ln/>
        </p:spPr>
      </p:sp>
      <p:sp>
        <p:nvSpPr>
          <p:cNvPr id="10" name="Text 7"/>
          <p:cNvSpPr/>
          <p:nvPr/>
        </p:nvSpPr>
        <p:spPr>
          <a:xfrm>
            <a:off x="6537960" y="1828800"/>
            <a:ext cx="4846320" cy="292608"/>
          </a:xfrm>
          <a:prstGeom prst="rect">
            <a:avLst/>
          </a:prstGeom>
          <a:noFill/>
          <a:ln/>
        </p:spPr>
        <p:txBody>
          <a:bodyPr wrap="square" rtlCol="0" anchor="ctr"/>
          <a:lstStyle/>
          <a:p>
            <a:pPr indent="0" marL="0">
              <a:buNone/>
            </a:pPr>
            <a:r>
              <a:rPr lang="en-US" sz="1250" b="1" spc="150" kern="0" dirty="0">
                <a:solidFill>
                  <a:srgbClr val="FFFFFF"/>
                </a:solidFill>
                <a:latin typeface="Calibri" pitchFamily="34" charset="0"/>
                <a:ea typeface="Calibri" pitchFamily="34" charset="-122"/>
                <a:cs typeface="Calibri" pitchFamily="34" charset="-120"/>
              </a:rPr>
              <a:t>COMING IN REVIEW 2  ·  WEEK 11</a:t>
            </a:r>
            <a:endParaRPr lang="en-US" sz="1250" dirty="0"/>
          </a:p>
        </p:txBody>
      </p:sp>
      <p:sp>
        <p:nvSpPr>
          <p:cNvPr id="11" name="Text 8"/>
          <p:cNvSpPr/>
          <p:nvPr/>
        </p:nvSpPr>
        <p:spPr>
          <a:xfrm>
            <a:off x="6537960" y="2212848"/>
            <a:ext cx="4892040" cy="3749040"/>
          </a:xfrm>
          <a:prstGeom prst="rect">
            <a:avLst/>
          </a:prstGeom>
          <a:noFill/>
          <a:ln/>
        </p:spPr>
        <p:txBody>
          <a:bodyPr wrap="square" rtlCol="0" anchor="t"/>
          <a:lstStyle/>
          <a:p>
            <a:pPr marL="342900" indent="-342900">
              <a:lnSpc>
                <a:spcPct val="130000"/>
              </a:lnSpc>
              <a:spcAft>
                <a:spcPts val="1000"/>
              </a:spcAft>
              <a:buSzPct val="100000"/>
              <a:buChar char="→"/>
            </a:pPr>
            <a:r>
              <a:rPr lang="en-US" sz="1250" dirty="0">
                <a:solidFill>
                  <a:srgbClr val="FFFFFF"/>
                </a:solidFill>
                <a:latin typeface="Calibri" pitchFamily="34" charset="0"/>
                <a:ea typeface="Calibri" pitchFamily="34" charset="-122"/>
                <a:cs typeface="Calibri" pitchFamily="34" charset="-120"/>
              </a:rPr>
              <a:t>Normalization to 3NF with functional dependencies &amp; data dictionary</a:t>
            </a:r>
            <a:endParaRPr lang="en-US" sz="1250" dirty="0"/>
          </a:p>
          <a:p>
            <a:pPr marL="342900" indent="-342900">
              <a:lnSpc>
                <a:spcPct val="130000"/>
              </a:lnSpc>
              <a:spcAft>
                <a:spcPts val="1000"/>
              </a:spcAft>
              <a:buSzPct val="100000"/>
              <a:buChar char="→"/>
            </a:pPr>
            <a:r>
              <a:rPr lang="en-US" sz="1250" dirty="0">
                <a:solidFill>
                  <a:srgbClr val="FFFFFF"/>
                </a:solidFill>
                <a:latin typeface="Calibri" pitchFamily="34" charset="0"/>
                <a:ea typeface="Calibri" pitchFamily="34" charset="-122"/>
                <a:cs typeface="Calibri" pitchFamily="34" charset="-120"/>
              </a:rPr>
              <a:t>DDL scripts enforcing all business-rule constraints</a:t>
            </a:r>
            <a:endParaRPr lang="en-US" sz="1250" dirty="0"/>
          </a:p>
          <a:p>
            <a:pPr marL="342900" indent="-342900">
              <a:lnSpc>
                <a:spcPct val="130000"/>
              </a:lnSpc>
              <a:spcAft>
                <a:spcPts val="1000"/>
              </a:spcAft>
              <a:buSzPct val="100000"/>
              <a:buChar char="→"/>
            </a:pPr>
            <a:r>
              <a:rPr lang="en-US" sz="1250" dirty="0">
                <a:solidFill>
                  <a:srgbClr val="FFFFFF"/>
                </a:solidFill>
                <a:latin typeface="Calibri" pitchFamily="34" charset="0"/>
                <a:ea typeface="Calibri" pitchFamily="34" charset="-122"/>
                <a:cs typeface="Calibri" pitchFamily="34" charset="-120"/>
              </a:rPr>
              <a:t>Sample data + queries: joins, subqueries, aggregation, views</a:t>
            </a:r>
            <a:endParaRPr lang="en-US" sz="1250" dirty="0"/>
          </a:p>
          <a:p>
            <a:pPr marL="342900" indent="-342900">
              <a:lnSpc>
                <a:spcPct val="130000"/>
              </a:lnSpc>
              <a:spcAft>
                <a:spcPts val="1000"/>
              </a:spcAft>
              <a:buSzPct val="100000"/>
              <a:buChar char="→"/>
            </a:pPr>
            <a:r>
              <a:rPr lang="en-US" sz="1250" dirty="0">
                <a:solidFill>
                  <a:srgbClr val="FFFFFF"/>
                </a:solidFill>
                <a:latin typeface="Calibri" pitchFamily="34" charset="0"/>
                <a:ea typeface="Calibri" pitchFamily="34" charset="-122"/>
                <a:cs typeface="Calibri" pitchFamily="34" charset="-120"/>
              </a:rPr>
              <a:t>Working database prototype demonstration</a:t>
            </a:r>
            <a:endParaRPr lang="en-US" sz="1250" dirty="0"/>
          </a:p>
        </p:txBody>
      </p:sp>
      <p:sp>
        <p:nvSpPr>
          <p:cNvPr id="13" name="Text 9"/>
          <p:cNvSpPr/>
          <p:nvPr/>
        </p:nvSpPr>
        <p:spPr>
          <a:xfrm>
            <a:off x="502920" y="6473952"/>
            <a:ext cx="8229600" cy="274320"/>
          </a:xfrm>
          <a:prstGeom prst="rect">
            <a:avLst/>
          </a:prstGeom>
          <a:noFill/>
          <a:ln/>
        </p:spPr>
        <p:txBody>
          <a:bodyPr wrap="square" rtlCol="0" anchor="ctr"/>
          <a:lstStyle/>
          <a:p>
            <a:pPr indent="0" marL="0">
              <a:buNone/>
            </a:pPr>
            <a:r>
              <a:rPr lang="en-US" sz="900" spc="100" kern="0" dirty="0">
                <a:solidFill>
                  <a:srgbClr val="5B6B6E"/>
                </a:solidFill>
                <a:latin typeface="Calibri" pitchFamily="34" charset="0"/>
                <a:ea typeface="Calibri" pitchFamily="34" charset="-122"/>
                <a:cs typeface="Calibri" pitchFamily="34" charset="-120"/>
              </a:rPr>
              <a:t>SALON &amp; SPA APPOINTMENT MANAGEMENT SYSTEM  |  REVIEW 1</a:t>
            </a:r>
            <a:endParaRPr lang="en-US" sz="900" dirty="0"/>
          </a:p>
        </p:txBody>
      </p:sp>
      <p:sp>
        <p:nvSpPr>
          <p:cNvPr id="14" name="Text 10"/>
          <p:cNvSpPr/>
          <p:nvPr/>
        </p:nvSpPr>
        <p:spPr>
          <a:xfrm>
            <a:off x="11228832" y="6473952"/>
            <a:ext cx="457200" cy="274320"/>
          </a:xfrm>
          <a:prstGeom prst="rect">
            <a:avLst/>
          </a:prstGeom>
          <a:noFill/>
          <a:ln/>
        </p:spPr>
        <p:txBody>
          <a:bodyPr wrap="square" rtlCol="0" anchor="ctr"/>
          <a:lstStyle/>
          <a:p>
            <a:pPr algn="r" indent="0" marL="0">
              <a:buNone/>
            </a:pPr>
            <a:r>
              <a:rPr lang="en-US" sz="900" dirty="0">
                <a:solidFill>
                  <a:srgbClr val="5B6B6E"/>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F3438"/>
        </a:solidFill>
      </p:bgPr>
    </p:bg>
    <p:spTree>
      <p:nvGrpSpPr>
        <p:cNvPr id="1" name=""/>
        <p:cNvGrpSpPr/>
        <p:nvPr/>
      </p:nvGrpSpPr>
      <p:grpSpPr>
        <a:xfrm>
          <a:off x="0" y="0"/>
          <a:ext cx="0" cy="0"/>
          <a:chOff x="0" y="0"/>
          <a:chExt cx="0" cy="0"/>
        </a:xfrm>
      </p:grpSpPr>
      <p:sp>
        <p:nvSpPr>
          <p:cNvPr id="2" name="Shape 0"/>
          <p:cNvSpPr/>
          <p:nvPr/>
        </p:nvSpPr>
        <p:spPr>
          <a:xfrm>
            <a:off x="-2103120" y="-2377440"/>
            <a:ext cx="5943600" cy="5943600"/>
          </a:xfrm>
          <a:prstGeom prst="ellipse">
            <a:avLst/>
          </a:prstGeom>
          <a:solidFill>
            <a:srgbClr val="17282B"/>
          </a:solidFill>
          <a:ln/>
        </p:spPr>
      </p:sp>
      <p:sp>
        <p:nvSpPr>
          <p:cNvPr id="3" name="Shape 1"/>
          <p:cNvSpPr/>
          <p:nvPr/>
        </p:nvSpPr>
        <p:spPr>
          <a:xfrm>
            <a:off x="8778240" y="3931920"/>
            <a:ext cx="5943600" cy="5943600"/>
          </a:xfrm>
          <a:prstGeom prst="ellipse">
            <a:avLst/>
          </a:prstGeom>
          <a:solidFill>
            <a:srgbClr val="17282B"/>
          </a:solidFill>
          <a:ln/>
        </p:spPr>
      </p:sp>
      <p:sp>
        <p:nvSpPr>
          <p:cNvPr id="4" name="Shape 2"/>
          <p:cNvSpPr/>
          <p:nvPr/>
        </p:nvSpPr>
        <p:spPr>
          <a:xfrm>
            <a:off x="5591556" y="1920240"/>
            <a:ext cx="1005840" cy="1005840"/>
          </a:xfrm>
          <a:prstGeom prst="ellipse">
            <a:avLst/>
          </a:prstGeom>
          <a:solidFill>
            <a:srgbClr val="6D2E46"/>
          </a:solidFill>
          <a:ln/>
        </p:spPr>
      </p:sp>
      <p:pic>
        <p:nvPicPr>
          <p:cNvPr id="5" name="Image 0" descr="/tmp/claude-0/-home-claude/12ac4f2c-a806-5c6e-9789-8d976e37a451/scratchpad/salon_ppt/icons/handshake.png">    </p:cNvPr>
          <p:cNvPicPr>
            <a:picLocks noChangeAspect="1"/>
          </p:cNvPicPr>
          <p:nvPr/>
        </p:nvPicPr>
        <p:blipFill>
          <a:blip r:embed="rId1"/>
          <a:stretch>
            <a:fillRect/>
          </a:stretch>
        </p:blipFill>
        <p:spPr>
          <a:xfrm>
            <a:off x="5801868" y="2130552"/>
            <a:ext cx="585216" cy="585216"/>
          </a:xfrm>
          <a:prstGeom prst="rect">
            <a:avLst/>
          </a:prstGeom>
        </p:spPr>
      </p:pic>
      <p:sp>
        <p:nvSpPr>
          <p:cNvPr id="6" name="Text 3"/>
          <p:cNvSpPr/>
          <p:nvPr/>
        </p:nvSpPr>
        <p:spPr>
          <a:xfrm>
            <a:off x="0" y="3063240"/>
            <a:ext cx="12188952" cy="822960"/>
          </a:xfrm>
          <a:prstGeom prst="rect">
            <a:avLst/>
          </a:prstGeom>
          <a:noFill/>
          <a:ln/>
        </p:spPr>
        <p:txBody>
          <a:bodyPr wrap="square"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7" name="Text 4"/>
          <p:cNvSpPr/>
          <p:nvPr/>
        </p:nvSpPr>
        <p:spPr>
          <a:xfrm>
            <a:off x="0" y="3794760"/>
            <a:ext cx="12188952" cy="457200"/>
          </a:xfrm>
          <a:prstGeom prst="rect">
            <a:avLst/>
          </a:prstGeom>
          <a:noFill/>
          <a:ln/>
        </p:spPr>
        <p:txBody>
          <a:bodyPr wrap="square" rtlCol="0" anchor="ctr"/>
          <a:lstStyle/>
          <a:p>
            <a:pPr algn="ctr" indent="0" marL="0">
              <a:buNone/>
            </a:pPr>
            <a:r>
              <a:rPr lang="en-US" sz="1500" dirty="0">
                <a:solidFill>
                  <a:srgbClr val="84B59F"/>
                </a:solidFill>
                <a:latin typeface="Calibri" pitchFamily="34" charset="0"/>
                <a:ea typeface="Calibri" pitchFamily="34" charset="-122"/>
                <a:cs typeface="Calibri" pitchFamily="34" charset="-120"/>
              </a:rPr>
              <a:t>Questions &amp; Feedback Welcome</a:t>
            </a:r>
            <a:endParaRPr lang="en-US" sz="1500" dirty="0"/>
          </a:p>
        </p:txBody>
      </p:sp>
      <p:sp>
        <p:nvSpPr>
          <p:cNvPr id="8" name="Text 5"/>
          <p:cNvSpPr txBox="1"/>
          <p:nvPr/>
        </p:nvSpPr>
        <p:spPr>
          <a:xfrm>
            <a:off x="0" y="4663440"/>
            <a:ext cx="12188952" cy="36576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Devyani Pawar</a:t>
            </a:r>
            <a:pPr algn="ctr" indent="0" marL="0">
              <a:buNone/>
            </a:pPr>
            <a:r>
              <a:rPr lang="en-US" sz="1250" dirty="0">
                <a:solidFill>
                  <a:srgbClr val="AFC6C2"/>
                </a:solidFill>
                <a:latin typeface="Calibri" pitchFamily="34" charset="0"/>
                <a:ea typeface="Calibri" pitchFamily="34" charset="-122"/>
                <a:cs typeface="Calibri" pitchFamily="34" charset="-120"/>
              </a:rPr>
              <a:t>  ·  25WU0102069  ·  Woxsen University  ·  AIML Rhinos</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